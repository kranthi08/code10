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60" r:id="rId2"/>
    <p:sldId id="263" r:id="rId3"/>
    <p:sldId id="269" r:id="rId4"/>
    <p:sldId id="329" r:id="rId5"/>
    <p:sldId id="330" r:id="rId6"/>
    <p:sldId id="331" r:id="rId7"/>
    <p:sldId id="332" r:id="rId8"/>
    <p:sldId id="333" r:id="rId9"/>
    <p:sldId id="334" r:id="rId10"/>
    <p:sldId id="335" r:id="rId11"/>
    <p:sldId id="337" r:id="rId12"/>
    <p:sldId id="336" r:id="rId13"/>
    <p:sldId id="315" r:id="rId14"/>
    <p:sldId id="338" r:id="rId15"/>
    <p:sldId id="314" r:id="rId16"/>
    <p:sldId id="328" r:id="rId17"/>
    <p:sldId id="322" r:id="rId18"/>
    <p:sldId id="309" r:id="rId19"/>
    <p:sldId id="310" r:id="rId20"/>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626F"/>
    <a:srgbClr val="F0AA00"/>
    <a:srgbClr val="999A8F"/>
    <a:srgbClr val="007A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54" autoAdjust="0"/>
  </p:normalViewPr>
  <p:slideViewPr>
    <p:cSldViewPr>
      <p:cViewPr>
        <p:scale>
          <a:sx n="91" d="100"/>
          <a:sy n="91" d="100"/>
        </p:scale>
        <p:origin x="-564" y="-858"/>
      </p:cViewPr>
      <p:guideLst>
        <p:guide orient="horz" pos="2052"/>
        <p:guide pos="2880"/>
      </p:guideLst>
    </p:cSldViewPr>
  </p:slideViewPr>
  <p:outlineViewPr>
    <p:cViewPr>
      <p:scale>
        <a:sx n="33" d="100"/>
        <a:sy n="33" d="100"/>
      </p:scale>
      <p:origin x="0" y="1639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1" d="100"/>
          <a:sy n="91" d="100"/>
        </p:scale>
        <p:origin x="-3198" y="-11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621"/>
          </a:xfrm>
          <a:prstGeom prst="rect">
            <a:avLst/>
          </a:prstGeom>
        </p:spPr>
        <p:txBody>
          <a:bodyPr vert="horz" lIns="91840" tIns="45920" rIns="91840" bIns="45920" rtlCol="0"/>
          <a:lstStyle>
            <a:lvl1pPr algn="l">
              <a:defRPr sz="1300"/>
            </a:lvl1pPr>
          </a:lstStyle>
          <a:p>
            <a:endParaRPr lang="en-US"/>
          </a:p>
        </p:txBody>
      </p:sp>
      <p:sp>
        <p:nvSpPr>
          <p:cNvPr id="3" name="Date Placeholder 2"/>
          <p:cNvSpPr>
            <a:spLocks noGrp="1"/>
          </p:cNvSpPr>
          <p:nvPr>
            <p:ph type="dt" sz="quarter" idx="1"/>
          </p:nvPr>
        </p:nvSpPr>
        <p:spPr>
          <a:xfrm>
            <a:off x="3970339" y="0"/>
            <a:ext cx="3038475" cy="465621"/>
          </a:xfrm>
          <a:prstGeom prst="rect">
            <a:avLst/>
          </a:prstGeom>
        </p:spPr>
        <p:txBody>
          <a:bodyPr vert="horz" lIns="91840" tIns="45920" rIns="91840" bIns="45920" rtlCol="0"/>
          <a:lstStyle>
            <a:lvl1pPr algn="r">
              <a:defRPr sz="1300"/>
            </a:lvl1pPr>
          </a:lstStyle>
          <a:p>
            <a:fld id="{B35AF202-1CB5-41A4-8414-5B2214E2A29D}" type="datetimeFigureOut">
              <a:rPr lang="en-US" smtClean="0"/>
              <a:pPr/>
              <a:t>5/18/2016</a:t>
            </a:fld>
            <a:endParaRPr lang="en-US"/>
          </a:p>
        </p:txBody>
      </p:sp>
      <p:sp>
        <p:nvSpPr>
          <p:cNvPr id="4" name="Footer Placeholder 3"/>
          <p:cNvSpPr>
            <a:spLocks noGrp="1"/>
          </p:cNvSpPr>
          <p:nvPr>
            <p:ph type="ftr" sz="quarter" idx="2"/>
          </p:nvPr>
        </p:nvSpPr>
        <p:spPr>
          <a:xfrm>
            <a:off x="1" y="8829181"/>
            <a:ext cx="3038475" cy="465621"/>
          </a:xfrm>
          <a:prstGeom prst="rect">
            <a:avLst/>
          </a:prstGeom>
        </p:spPr>
        <p:txBody>
          <a:bodyPr vert="horz" lIns="91840" tIns="45920" rIns="91840" bIns="45920" rtlCol="0" anchor="b"/>
          <a:lstStyle>
            <a:lvl1pPr algn="l">
              <a:defRPr sz="1300"/>
            </a:lvl1pPr>
          </a:lstStyle>
          <a:p>
            <a:endParaRPr lang="en-US"/>
          </a:p>
        </p:txBody>
      </p:sp>
      <p:sp>
        <p:nvSpPr>
          <p:cNvPr id="5" name="Slide Number Placeholder 4"/>
          <p:cNvSpPr>
            <a:spLocks noGrp="1"/>
          </p:cNvSpPr>
          <p:nvPr>
            <p:ph type="sldNum" sz="quarter" idx="3"/>
          </p:nvPr>
        </p:nvSpPr>
        <p:spPr>
          <a:xfrm>
            <a:off x="3970339" y="8829181"/>
            <a:ext cx="3038475" cy="465621"/>
          </a:xfrm>
          <a:prstGeom prst="rect">
            <a:avLst/>
          </a:prstGeom>
        </p:spPr>
        <p:txBody>
          <a:bodyPr vert="horz" lIns="91840" tIns="45920" rIns="91840" bIns="45920" rtlCol="0" anchor="b"/>
          <a:lstStyle>
            <a:lvl1pPr algn="r">
              <a:defRPr sz="1300"/>
            </a:lvl1pPr>
          </a:lstStyle>
          <a:p>
            <a:fld id="{FD58FE29-56F0-4FFA-BC4E-83FE70CBFF8F}" type="slidenum">
              <a:rPr lang="en-US" smtClean="0"/>
              <a:pPr/>
              <a:t>‹#›</a:t>
            </a:fld>
            <a:endParaRPr lang="en-US"/>
          </a:p>
        </p:txBody>
      </p:sp>
    </p:spTree>
    <p:extLst>
      <p:ext uri="{BB962C8B-B14F-4D97-AF65-F5344CB8AC3E}">
        <p14:creationId xmlns:p14="http://schemas.microsoft.com/office/powerpoint/2010/main" val="5881079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621"/>
          </a:xfrm>
          <a:prstGeom prst="rect">
            <a:avLst/>
          </a:prstGeom>
        </p:spPr>
        <p:txBody>
          <a:bodyPr vert="horz" lIns="91840" tIns="45920" rIns="91840" bIns="45920" rtlCol="0"/>
          <a:lstStyle>
            <a:lvl1pPr algn="l">
              <a:defRPr sz="1300"/>
            </a:lvl1pPr>
          </a:lstStyle>
          <a:p>
            <a:endParaRPr lang="en-US"/>
          </a:p>
        </p:txBody>
      </p:sp>
      <p:sp>
        <p:nvSpPr>
          <p:cNvPr id="3" name="Date Placeholder 2"/>
          <p:cNvSpPr>
            <a:spLocks noGrp="1"/>
          </p:cNvSpPr>
          <p:nvPr>
            <p:ph type="dt" idx="1"/>
          </p:nvPr>
        </p:nvSpPr>
        <p:spPr>
          <a:xfrm>
            <a:off x="3970339" y="0"/>
            <a:ext cx="3038475" cy="465621"/>
          </a:xfrm>
          <a:prstGeom prst="rect">
            <a:avLst/>
          </a:prstGeom>
        </p:spPr>
        <p:txBody>
          <a:bodyPr vert="horz" lIns="91840" tIns="45920" rIns="91840" bIns="45920" rtlCol="0"/>
          <a:lstStyle>
            <a:lvl1pPr algn="r">
              <a:defRPr sz="1300"/>
            </a:lvl1pPr>
          </a:lstStyle>
          <a:p>
            <a:fld id="{BA66018B-6631-4835-BC79-A17087EC51E7}" type="datetimeFigureOut">
              <a:rPr lang="en-US" smtClean="0"/>
              <a:pPr/>
              <a:t>5/18/2016</a:t>
            </a:fld>
            <a:endParaRPr lang="en-US"/>
          </a:p>
        </p:txBody>
      </p:sp>
      <p:sp>
        <p:nvSpPr>
          <p:cNvPr id="4" name="Slide Image Placeholder 3"/>
          <p:cNvSpPr>
            <a:spLocks noGrp="1" noRot="1" noChangeAspect="1"/>
          </p:cNvSpPr>
          <p:nvPr>
            <p:ph type="sldImg" idx="2"/>
          </p:nvPr>
        </p:nvSpPr>
        <p:spPr>
          <a:xfrm>
            <a:off x="406400" y="698500"/>
            <a:ext cx="6197600" cy="3486150"/>
          </a:xfrm>
          <a:prstGeom prst="rect">
            <a:avLst/>
          </a:prstGeom>
          <a:noFill/>
          <a:ln w="12700">
            <a:solidFill>
              <a:prstClr val="black"/>
            </a:solidFill>
          </a:ln>
        </p:spPr>
        <p:txBody>
          <a:bodyPr vert="horz" lIns="91840" tIns="45920" rIns="91840" bIns="45920" rtlCol="0" anchor="ctr"/>
          <a:lstStyle/>
          <a:p>
            <a:endParaRPr lang="en-US"/>
          </a:p>
        </p:txBody>
      </p:sp>
      <p:sp>
        <p:nvSpPr>
          <p:cNvPr id="5" name="Notes Placeholder 4"/>
          <p:cNvSpPr>
            <a:spLocks noGrp="1"/>
          </p:cNvSpPr>
          <p:nvPr>
            <p:ph type="body" sz="quarter" idx="3"/>
          </p:nvPr>
        </p:nvSpPr>
        <p:spPr>
          <a:xfrm>
            <a:off x="701676" y="4416191"/>
            <a:ext cx="5607050" cy="4182580"/>
          </a:xfrm>
          <a:prstGeom prst="rect">
            <a:avLst/>
          </a:prstGeom>
        </p:spPr>
        <p:txBody>
          <a:bodyPr vert="horz" lIns="91840" tIns="45920" rIns="91840" bIns="459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8829181"/>
            <a:ext cx="3038475" cy="465621"/>
          </a:xfrm>
          <a:prstGeom prst="rect">
            <a:avLst/>
          </a:prstGeom>
        </p:spPr>
        <p:txBody>
          <a:bodyPr vert="horz" lIns="91840" tIns="45920" rIns="91840" bIns="45920" rtlCol="0" anchor="b"/>
          <a:lstStyle>
            <a:lvl1pPr algn="l">
              <a:defRPr sz="1300"/>
            </a:lvl1pPr>
          </a:lstStyle>
          <a:p>
            <a:endParaRPr lang="en-US"/>
          </a:p>
        </p:txBody>
      </p:sp>
      <p:sp>
        <p:nvSpPr>
          <p:cNvPr id="7" name="Slide Number Placeholder 6"/>
          <p:cNvSpPr>
            <a:spLocks noGrp="1"/>
          </p:cNvSpPr>
          <p:nvPr>
            <p:ph type="sldNum" sz="quarter" idx="5"/>
          </p:nvPr>
        </p:nvSpPr>
        <p:spPr>
          <a:xfrm>
            <a:off x="3970339" y="8829181"/>
            <a:ext cx="3038475" cy="465621"/>
          </a:xfrm>
          <a:prstGeom prst="rect">
            <a:avLst/>
          </a:prstGeom>
        </p:spPr>
        <p:txBody>
          <a:bodyPr vert="horz" lIns="91840" tIns="45920" rIns="91840" bIns="45920" rtlCol="0" anchor="b"/>
          <a:lstStyle>
            <a:lvl1pPr algn="r">
              <a:defRPr sz="1300"/>
            </a:lvl1pPr>
          </a:lstStyle>
          <a:p>
            <a:fld id="{0E3C63EA-298F-47B1-AF12-230EB929B397}" type="slidenum">
              <a:rPr lang="en-US" smtClean="0"/>
              <a:pPr/>
              <a:t>‹#›</a:t>
            </a:fld>
            <a:endParaRPr lang="en-US"/>
          </a:p>
        </p:txBody>
      </p:sp>
    </p:spTree>
    <p:extLst>
      <p:ext uri="{BB962C8B-B14F-4D97-AF65-F5344CB8AC3E}">
        <p14:creationId xmlns:p14="http://schemas.microsoft.com/office/powerpoint/2010/main" val="1161404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3C63EA-298F-47B1-AF12-230EB929B397}" type="slidenum">
              <a:rPr lang="en-US" smtClean="0"/>
              <a:pPr/>
              <a:t>1</a:t>
            </a:fld>
            <a:endParaRPr lang="en-US"/>
          </a:p>
        </p:txBody>
      </p:sp>
    </p:spTree>
    <p:extLst>
      <p:ext uri="{BB962C8B-B14F-4D97-AF65-F5344CB8AC3E}">
        <p14:creationId xmlns:p14="http://schemas.microsoft.com/office/powerpoint/2010/main" val="23832937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1 lin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5015" cy="5148644"/>
          </a:xfrm>
          <a:prstGeom prst="rect">
            <a:avLst/>
          </a:prstGeom>
        </p:spPr>
      </p:pic>
      <p:sp>
        <p:nvSpPr>
          <p:cNvPr id="2" name="Title 1"/>
          <p:cNvSpPr>
            <a:spLocks noGrp="1"/>
          </p:cNvSpPr>
          <p:nvPr>
            <p:ph type="ctrTitle" hasCustomPrompt="1"/>
          </p:nvPr>
        </p:nvSpPr>
        <p:spPr>
          <a:xfrm>
            <a:off x="990601" y="3257550"/>
            <a:ext cx="6443588" cy="762000"/>
          </a:xfrm>
        </p:spPr>
        <p:txBody>
          <a:bodyPr anchor="ctr">
            <a:noAutofit/>
          </a:bodyPr>
          <a:lstStyle>
            <a:lvl1pPr algn="l">
              <a:defRPr sz="6600" b="1">
                <a:solidFill>
                  <a:srgbClr val="F0AA00"/>
                </a:solidFill>
              </a:defRPr>
            </a:lvl1pPr>
          </a:lstStyle>
          <a:p>
            <a:r>
              <a:rPr lang="en-US" dirty="0" smtClean="0"/>
              <a:t>CLICK TO EDIT</a:t>
            </a:r>
            <a:endParaRPr lang="en-US" dirty="0"/>
          </a:p>
        </p:txBody>
      </p:sp>
      <p:sp>
        <p:nvSpPr>
          <p:cNvPr id="3" name="Subtitle 2"/>
          <p:cNvSpPr>
            <a:spLocks noGrp="1"/>
          </p:cNvSpPr>
          <p:nvPr>
            <p:ph type="subTitle" idx="1" hasCustomPrompt="1"/>
          </p:nvPr>
        </p:nvSpPr>
        <p:spPr>
          <a:xfrm>
            <a:off x="1447799" y="4076700"/>
            <a:ext cx="5986389" cy="171450"/>
          </a:xfrm>
          <a:solidFill>
            <a:srgbClr val="999A8F"/>
          </a:solidFill>
        </p:spPr>
        <p:txBody>
          <a:bodyPr lIns="91440" anchor="ctr" anchorCtr="0">
            <a:noAutofit/>
          </a:bodyPr>
          <a:lstStyle>
            <a:lvl1pPr marL="0" indent="0" algn="l">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a:t>
            </a:r>
            <a:endParaRPr lang="en-US" dirty="0"/>
          </a:p>
        </p:txBody>
      </p:sp>
      <p:sp>
        <p:nvSpPr>
          <p:cNvPr id="6" name="TextBox 5"/>
          <p:cNvSpPr txBox="1"/>
          <p:nvPr userDrawn="1"/>
        </p:nvSpPr>
        <p:spPr>
          <a:xfrm>
            <a:off x="1524000" y="4857750"/>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spTree>
    <p:extLst>
      <p:ext uri="{BB962C8B-B14F-4D97-AF65-F5344CB8AC3E}">
        <p14:creationId xmlns:p14="http://schemas.microsoft.com/office/powerpoint/2010/main" val="385616111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2 lin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5015" cy="5148643"/>
          </a:xfrm>
          <a:prstGeom prst="rect">
            <a:avLst/>
          </a:prstGeom>
        </p:spPr>
      </p:pic>
      <p:sp>
        <p:nvSpPr>
          <p:cNvPr id="3" name="Subtitle 2"/>
          <p:cNvSpPr>
            <a:spLocks noGrp="1"/>
          </p:cNvSpPr>
          <p:nvPr>
            <p:ph type="subTitle" idx="1" hasCustomPrompt="1"/>
          </p:nvPr>
        </p:nvSpPr>
        <p:spPr>
          <a:xfrm>
            <a:off x="1447799" y="4076700"/>
            <a:ext cx="5986389" cy="171450"/>
          </a:xfrm>
          <a:solidFill>
            <a:srgbClr val="999A8F"/>
          </a:solidFill>
        </p:spPr>
        <p:txBody>
          <a:bodyPr lIns="91440" anchor="ctr" anchorCtr="0">
            <a:noAutofit/>
          </a:bodyPr>
          <a:lstStyle>
            <a:lvl1pPr marL="0" indent="0" algn="l">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a:t>
            </a:r>
            <a:endParaRPr lang="en-US" dirty="0"/>
          </a:p>
        </p:txBody>
      </p:sp>
      <p:sp>
        <p:nvSpPr>
          <p:cNvPr id="5" name="Title 1"/>
          <p:cNvSpPr>
            <a:spLocks noGrp="1"/>
          </p:cNvSpPr>
          <p:nvPr>
            <p:ph type="ctrTitle" hasCustomPrompt="1"/>
          </p:nvPr>
        </p:nvSpPr>
        <p:spPr>
          <a:xfrm>
            <a:off x="1066800" y="3028950"/>
            <a:ext cx="6400800" cy="1066800"/>
          </a:xfrm>
        </p:spPr>
        <p:txBody>
          <a:bodyPr vert="horz" wrap="square" lIns="0" tIns="0" rIns="0" bIns="0" spcCol="0" anchor="ctr" anchorCtr="0">
            <a:noAutofit/>
          </a:bodyPr>
          <a:lstStyle>
            <a:lvl1pPr marL="0" marR="0" indent="0" algn="l" defTabSz="914400" rtl="0" eaLnBrk="1" fontAlgn="auto" latinLnBrk="0" hangingPunct="1">
              <a:lnSpc>
                <a:spcPts val="4000"/>
              </a:lnSpc>
              <a:spcBef>
                <a:spcPct val="0"/>
              </a:spcBef>
              <a:spcAft>
                <a:spcPts val="0"/>
              </a:spcAft>
              <a:buClrTx/>
              <a:buSzTx/>
              <a:buFontTx/>
              <a:buNone/>
              <a:tabLst/>
              <a:defRPr sz="4800" baseline="0">
                <a:solidFill>
                  <a:srgbClr val="F0AA00"/>
                </a:solidFill>
                <a:latin typeface="+mj-lt"/>
              </a:defRPr>
            </a:lvl1pPr>
          </a:lstStyle>
          <a:p>
            <a:r>
              <a:rPr lang="en-US" sz="5400" dirty="0" smtClean="0"/>
              <a:t>LONGER TWO LINE TITLE</a:t>
            </a:r>
            <a:endParaRPr lang="en-US" sz="5400" dirty="0"/>
          </a:p>
        </p:txBody>
      </p:sp>
      <p:sp>
        <p:nvSpPr>
          <p:cNvPr id="6" name="TextBox 5"/>
          <p:cNvSpPr txBox="1"/>
          <p:nvPr userDrawn="1"/>
        </p:nvSpPr>
        <p:spPr>
          <a:xfrm>
            <a:off x="1524000" y="4857750"/>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spTree>
    <p:extLst>
      <p:ext uri="{BB962C8B-B14F-4D97-AF65-F5344CB8AC3E}">
        <p14:creationId xmlns:p14="http://schemas.microsoft.com/office/powerpoint/2010/main" val="108881828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claimer: always slide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a:t>
            </a:fld>
            <a:endParaRPr lang="en-US"/>
          </a:p>
        </p:txBody>
      </p:sp>
      <p:sp>
        <p:nvSpPr>
          <p:cNvPr id="5" name="Text Placeholder 2"/>
          <p:cNvSpPr txBox="1">
            <a:spLocks/>
          </p:cNvSpPr>
          <p:nvPr userDrawn="1"/>
        </p:nvSpPr>
        <p:spPr>
          <a:xfrm>
            <a:off x="609600" y="1123950"/>
            <a:ext cx="7239000" cy="3009900"/>
          </a:xfrm>
          <a:prstGeom prst="rect">
            <a:avLst/>
          </a:prstGeom>
        </p:spPr>
        <p:txBody>
          <a:bodyPr vert="horz" lIns="0" tIns="0" rIns="0" bIns="0" rtlCol="0" anchor="t">
            <a:noAutofit/>
          </a:bodyPr>
          <a:lstStyle>
            <a:lvl1pPr marL="0" indent="0" algn="just" defTabSz="914400" rtl="0" eaLnBrk="1" latinLnBrk="0" hangingPunct="1">
              <a:spcBef>
                <a:spcPct val="20000"/>
              </a:spcBef>
              <a:buClr>
                <a:srgbClr val="007A87"/>
              </a:buClr>
              <a:buSzPct val="75000"/>
              <a:buFont typeface="Webdings" pitchFamily="18" charset="2"/>
              <a:buNone/>
              <a:defRPr sz="1200" kern="1200">
                <a:solidFill>
                  <a:srgbClr val="999A8F"/>
                </a:solidFill>
                <a:latin typeface="+mn-lt"/>
                <a:ea typeface="+mn-ea"/>
                <a:cs typeface="+mn-cs"/>
              </a:defRPr>
            </a:lvl1pPr>
            <a:lvl2pPr marL="457200" indent="0" algn="l" defTabSz="914400" rtl="0" eaLnBrk="1" latinLnBrk="0" hangingPunct="1">
              <a:spcBef>
                <a:spcPct val="20000"/>
              </a:spcBef>
              <a:buClr>
                <a:srgbClr val="51626F"/>
              </a:buClr>
              <a:buFont typeface="Arial"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rgbClr val="490E6F"/>
              </a:buClr>
              <a:buFont typeface="Arial"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rgbClr val="002C77"/>
              </a:buClr>
              <a:buFont typeface="Arial"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rgbClr val="69BE28"/>
              </a:buClr>
              <a:buFont typeface="Arial"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r>
              <a:rPr lang="en-US" sz="1100" dirty="0">
                <a:solidFill>
                  <a:schemeClr val="tx1"/>
                </a:solidFill>
              </a:rPr>
              <a:t>The enclosed materials are highly sensitive, proprietary and confidential. Please use every effort to safeguard the confidentiality of these materials.  Please do not copy, distribute, use, share or otherwise provide access to these materials to any person inside or outside DST Systems, Inc. without prior written approval</a:t>
            </a:r>
            <a:r>
              <a:rPr lang="en-US" sz="1100" dirty="0" smtClean="0">
                <a:solidFill>
                  <a:schemeClr val="tx1"/>
                </a:solidFill>
              </a:rPr>
              <a:t>.</a:t>
            </a:r>
          </a:p>
          <a:p>
            <a:r>
              <a:rPr lang="en-US" sz="1100" dirty="0">
                <a:solidFill>
                  <a:schemeClr val="tx1"/>
                </a:solidFill>
              </a:rPr>
              <a:t/>
            </a:r>
            <a:br>
              <a:rPr lang="en-US" sz="1100" dirty="0">
                <a:solidFill>
                  <a:schemeClr val="tx1"/>
                </a:solidFill>
              </a:rPr>
            </a:br>
            <a:r>
              <a:rPr lang="en-US" sz="1100" dirty="0">
                <a:solidFill>
                  <a:schemeClr val="tx1"/>
                </a:solidFill>
              </a:rPr>
              <a:t>This proprietary, confidential presentation is for general informational purposes only and does not constitute an agreement. By making this presentation available to you, we are not granting any express or implied rights or licenses under any intellectual property right</a:t>
            </a:r>
            <a:r>
              <a:rPr lang="en-US" sz="1100" dirty="0" smtClean="0">
                <a:solidFill>
                  <a:schemeClr val="tx1"/>
                </a:solidFill>
              </a:rPr>
              <a:t>.</a:t>
            </a:r>
          </a:p>
          <a:p>
            <a:endParaRPr lang="en-US" sz="1100" dirty="0">
              <a:solidFill>
                <a:schemeClr val="tx1"/>
              </a:solidFill>
            </a:endParaRPr>
          </a:p>
          <a:p>
            <a:r>
              <a:rPr lang="en-US" sz="1100" dirty="0">
                <a:solidFill>
                  <a:schemeClr val="tx1"/>
                </a:solidFill>
              </a:rPr>
              <a:t>If we permit your printing, copying or transmitting of content in this presentation, it is under a non-exclusive, non-transferable, limited license, and you must include or refer to the copyright notice contained in this document. You may not create derivative works of this presentation or its content without our prior written permission. Any reference in this presentation to another entity or its products or services is provided for convenience only and does not constitute an offer to sell, or the solicitation of an offer to buy, any products or services offered by such entity, nor does such reference constitute our endorsement, referral, or recommendation</a:t>
            </a:r>
            <a:r>
              <a:rPr lang="en-US" sz="1100" dirty="0" smtClean="0">
                <a:solidFill>
                  <a:schemeClr val="tx1"/>
                </a:solidFill>
              </a:rPr>
              <a:t>.</a:t>
            </a:r>
          </a:p>
          <a:p>
            <a:endParaRPr lang="en-US" sz="1100" dirty="0">
              <a:solidFill>
                <a:schemeClr val="tx1"/>
              </a:solidFill>
            </a:endParaRPr>
          </a:p>
          <a:p>
            <a:r>
              <a:rPr lang="en-US" sz="1100" dirty="0" smtClean="0">
                <a:solidFill>
                  <a:schemeClr val="tx1"/>
                </a:solidFill>
              </a:rPr>
              <a:t>Our </a:t>
            </a:r>
            <a:r>
              <a:rPr lang="en-US" sz="1100" dirty="0">
                <a:solidFill>
                  <a:schemeClr val="tx1"/>
                </a:solidFill>
              </a:rPr>
              <a:t>trademarks and service marks and those of third parties used in this presentation are the property of their respective owners. </a:t>
            </a:r>
          </a:p>
        </p:txBody>
      </p:sp>
      <p:sp>
        <p:nvSpPr>
          <p:cNvPr id="7" name="Title 1"/>
          <p:cNvSpPr>
            <a:spLocks noGrp="1"/>
          </p:cNvSpPr>
          <p:nvPr>
            <p:ph type="title" hasCustomPrompt="1"/>
          </p:nvPr>
        </p:nvSpPr>
        <p:spPr>
          <a:xfrm>
            <a:off x="609600" y="171450"/>
            <a:ext cx="8382000" cy="647700"/>
          </a:xfrm>
        </p:spPr>
        <p:txBody>
          <a:bodyPr lIns="0" tIns="0" rIns="0" bIns="0" anchor="t">
            <a:noAutofit/>
          </a:bodyPr>
          <a:lstStyle>
            <a:lvl1pPr>
              <a:defRPr sz="4000">
                <a:solidFill>
                  <a:srgbClr val="007A87"/>
                </a:solidFill>
              </a:defRPr>
            </a:lvl1pPr>
          </a:lstStyle>
          <a:p>
            <a:r>
              <a:rPr lang="en-US" dirty="0" smtClean="0"/>
              <a:t>DISCLAIMER</a:t>
            </a:r>
            <a:endParaRPr lang="en-US" dirty="0"/>
          </a:p>
        </p:txBody>
      </p:sp>
    </p:spTree>
    <p:extLst>
      <p:ext uri="{BB962C8B-B14F-4D97-AF65-F5344CB8AC3E}">
        <p14:creationId xmlns:p14="http://schemas.microsoft.com/office/powerpoint/2010/main" val="133271626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introduction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697448-FA31-4949-9864-F7BD87D6893B}" type="slidenum">
              <a:rPr lang="en-US" smtClean="0"/>
              <a:pPr/>
              <a:t>‹#›</a:t>
            </a:fld>
            <a:endParaRPr lang="en-US" dirty="0"/>
          </a:p>
        </p:txBody>
      </p:sp>
      <p:sp>
        <p:nvSpPr>
          <p:cNvPr id="7" name="Title 1"/>
          <p:cNvSpPr>
            <a:spLocks noGrp="1"/>
          </p:cNvSpPr>
          <p:nvPr>
            <p:ph type="title" hasCustomPrompt="1"/>
          </p:nvPr>
        </p:nvSpPr>
        <p:spPr>
          <a:xfrm>
            <a:off x="609600" y="742950"/>
            <a:ext cx="8001000" cy="2743200"/>
          </a:xfrm>
        </p:spPr>
        <p:txBody>
          <a:bodyPr lIns="0" tIns="0" rIns="0" bIns="0" anchor="ctr" anchorCtr="0">
            <a:noAutofit/>
          </a:bodyPr>
          <a:lstStyle>
            <a:lvl1pPr algn="ctr">
              <a:lnSpc>
                <a:spcPts val="4000"/>
              </a:lnSpc>
              <a:defRPr sz="4800" baseline="0">
                <a:solidFill>
                  <a:srgbClr val="007A87"/>
                </a:solidFill>
              </a:defRPr>
            </a:lvl1pPr>
          </a:lstStyle>
          <a:p>
            <a:r>
              <a:rPr lang="en-US" dirty="0" smtClean="0"/>
              <a:t>PRESENTATION</a:t>
            </a:r>
            <a:br>
              <a:rPr lang="en-US" dirty="0" smtClean="0"/>
            </a:br>
            <a:r>
              <a:rPr lang="en-US" dirty="0" smtClean="0"/>
              <a:t>TITLE</a:t>
            </a:r>
            <a:endParaRPr lang="en-US" dirty="0"/>
          </a:p>
        </p:txBody>
      </p:sp>
      <p:sp>
        <p:nvSpPr>
          <p:cNvPr id="9" name="Content Placeholder 2"/>
          <p:cNvSpPr>
            <a:spLocks noGrp="1"/>
          </p:cNvSpPr>
          <p:nvPr>
            <p:ph idx="1" hasCustomPrompt="1"/>
          </p:nvPr>
        </p:nvSpPr>
        <p:spPr>
          <a:xfrm>
            <a:off x="609600" y="3486150"/>
            <a:ext cx="8001000" cy="457200"/>
          </a:xfrm>
        </p:spPr>
        <p:txBody>
          <a:bodyPr lIns="0" tIns="0" rIns="0" bIns="0">
            <a:noAutofit/>
          </a:bodyPr>
          <a:lstStyle>
            <a:lvl1pPr marL="0" indent="0" algn="ctr">
              <a:buClr>
                <a:srgbClr val="007A87"/>
              </a:buClr>
              <a:buSzPct val="75000"/>
              <a:buFontTx/>
              <a:buNone/>
              <a:defRPr sz="2400" b="1">
                <a:solidFill>
                  <a:srgbClr val="999A8F"/>
                </a:solidFill>
              </a:defRPr>
            </a:lvl1pPr>
            <a:lvl2pPr marL="457200" indent="0">
              <a:buClr>
                <a:srgbClr val="51626F"/>
              </a:buClr>
              <a:buFontTx/>
              <a:buNone/>
              <a:defRPr sz="2400">
                <a:solidFill>
                  <a:schemeClr val="tx1"/>
                </a:solidFill>
              </a:defRPr>
            </a:lvl2pPr>
            <a:lvl3pPr marL="914400" indent="0">
              <a:buClr>
                <a:srgbClr val="C60C30"/>
              </a:buClr>
              <a:buFontTx/>
              <a:buNone/>
              <a:defRPr sz="2000">
                <a:solidFill>
                  <a:schemeClr val="tx1"/>
                </a:solidFill>
              </a:defRPr>
            </a:lvl3pPr>
            <a:lvl4pPr marL="1371600" indent="0">
              <a:buClr>
                <a:srgbClr val="51626F"/>
              </a:buClr>
              <a:buFontTx/>
              <a:buNone/>
              <a:defRPr sz="1800">
                <a:solidFill>
                  <a:schemeClr val="tx1"/>
                </a:solidFill>
              </a:defRPr>
            </a:lvl4pPr>
            <a:lvl5pPr marL="1828800" indent="0">
              <a:buClr>
                <a:srgbClr val="69BE28"/>
              </a:buClr>
              <a:buFontTx/>
              <a:buNone/>
              <a:defRPr sz="1600">
                <a:solidFill>
                  <a:schemeClr val="tx1"/>
                </a:solidFill>
              </a:defRPr>
            </a:lvl5pPr>
          </a:lstStyle>
          <a:p>
            <a:pPr lvl="0"/>
            <a:r>
              <a:rPr lang="en-US" dirty="0" err="1" smtClean="0"/>
              <a:t>Fname</a:t>
            </a:r>
            <a:r>
              <a:rPr lang="en-US" dirty="0" smtClean="0"/>
              <a:t> </a:t>
            </a:r>
            <a:r>
              <a:rPr lang="en-US" dirty="0" err="1" smtClean="0"/>
              <a:t>Lname</a:t>
            </a:r>
            <a:endParaRPr lang="en-US" dirty="0" smtClean="0"/>
          </a:p>
        </p:txBody>
      </p:sp>
      <p:sp>
        <p:nvSpPr>
          <p:cNvPr id="10" name="Content Placeholder 2"/>
          <p:cNvSpPr>
            <a:spLocks noGrp="1"/>
          </p:cNvSpPr>
          <p:nvPr>
            <p:ph idx="13" hasCustomPrompt="1"/>
          </p:nvPr>
        </p:nvSpPr>
        <p:spPr>
          <a:xfrm>
            <a:off x="609600" y="3829050"/>
            <a:ext cx="8001000" cy="457200"/>
          </a:xfrm>
        </p:spPr>
        <p:txBody>
          <a:bodyPr lIns="0" tIns="0" rIns="0" bIns="0">
            <a:noAutofit/>
          </a:bodyPr>
          <a:lstStyle>
            <a:lvl1pPr marL="0" indent="0" algn="ctr">
              <a:buClr>
                <a:srgbClr val="007A87"/>
              </a:buClr>
              <a:buSzPct val="75000"/>
              <a:buFontTx/>
              <a:buNone/>
              <a:defRPr sz="2000" b="0">
                <a:solidFill>
                  <a:srgbClr val="999A8F"/>
                </a:solidFill>
              </a:defRPr>
            </a:lvl1pPr>
            <a:lvl2pPr marL="457200" indent="0">
              <a:buClr>
                <a:srgbClr val="51626F"/>
              </a:buClr>
              <a:buFontTx/>
              <a:buNone/>
              <a:defRPr sz="2400">
                <a:solidFill>
                  <a:schemeClr val="tx1"/>
                </a:solidFill>
              </a:defRPr>
            </a:lvl2pPr>
            <a:lvl3pPr marL="914400" indent="0">
              <a:buClr>
                <a:srgbClr val="C60C30"/>
              </a:buClr>
              <a:buFontTx/>
              <a:buNone/>
              <a:defRPr sz="2000">
                <a:solidFill>
                  <a:schemeClr val="tx1"/>
                </a:solidFill>
              </a:defRPr>
            </a:lvl3pPr>
            <a:lvl4pPr marL="1371600" indent="0">
              <a:buClr>
                <a:srgbClr val="51626F"/>
              </a:buClr>
              <a:buFontTx/>
              <a:buNone/>
              <a:defRPr sz="1800">
                <a:solidFill>
                  <a:schemeClr val="tx1"/>
                </a:solidFill>
              </a:defRPr>
            </a:lvl4pPr>
            <a:lvl5pPr marL="1828800" indent="0">
              <a:buClr>
                <a:srgbClr val="69BE28"/>
              </a:buClr>
              <a:buFontTx/>
              <a:buNone/>
              <a:defRPr sz="1600">
                <a:solidFill>
                  <a:schemeClr val="tx1"/>
                </a:solidFill>
              </a:defRPr>
            </a:lvl5pPr>
          </a:lstStyle>
          <a:p>
            <a:pPr lvl="0"/>
            <a:r>
              <a:rPr lang="en-US" dirty="0" smtClean="0"/>
              <a:t>Date</a:t>
            </a:r>
          </a:p>
        </p:txBody>
      </p:sp>
    </p:spTree>
    <p:extLst>
      <p:ext uri="{BB962C8B-B14F-4D97-AF65-F5344CB8AC3E}">
        <p14:creationId xmlns:p14="http://schemas.microsoft.com/office/powerpoint/2010/main" val="168999667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697448-FA31-4949-9864-F7BD87D6893B}" type="slidenum">
              <a:rPr lang="en-US" smtClean="0"/>
              <a:pPr/>
              <a:t>‹#›</a:t>
            </a:fld>
            <a:endParaRPr lang="en-US" dirty="0"/>
          </a:p>
        </p:txBody>
      </p:sp>
      <p:sp>
        <p:nvSpPr>
          <p:cNvPr id="4" name="Title 1"/>
          <p:cNvSpPr>
            <a:spLocks noGrp="1"/>
          </p:cNvSpPr>
          <p:nvPr>
            <p:ph type="title" hasCustomPrompt="1"/>
          </p:nvPr>
        </p:nvSpPr>
        <p:spPr>
          <a:xfrm>
            <a:off x="609600" y="819150"/>
            <a:ext cx="8001000" cy="3276600"/>
          </a:xfrm>
        </p:spPr>
        <p:txBody>
          <a:bodyPr lIns="0" tIns="0" rIns="0" bIns="0" anchor="ctr" anchorCtr="0">
            <a:noAutofit/>
          </a:bodyPr>
          <a:lstStyle>
            <a:lvl1pPr algn="ctr">
              <a:lnSpc>
                <a:spcPts val="4000"/>
              </a:lnSpc>
              <a:defRPr sz="4800" baseline="0">
                <a:solidFill>
                  <a:srgbClr val="007A87"/>
                </a:solidFill>
              </a:defRPr>
            </a:lvl1pPr>
          </a:lstStyle>
          <a:p>
            <a:r>
              <a:rPr lang="en-US" dirty="0" smtClean="0"/>
              <a:t>PRESENTATION</a:t>
            </a:r>
            <a:br>
              <a:rPr lang="en-US" dirty="0" smtClean="0"/>
            </a:br>
            <a:r>
              <a:rPr lang="en-US" dirty="0" smtClean="0"/>
              <a:t>TITLE</a:t>
            </a:r>
            <a:endParaRPr lang="en-US" dirty="0"/>
          </a:p>
        </p:txBody>
      </p:sp>
    </p:spTree>
    <p:extLst>
      <p:ext uri="{BB962C8B-B14F-4D97-AF65-F5344CB8AC3E}">
        <p14:creationId xmlns:p14="http://schemas.microsoft.com/office/powerpoint/2010/main" val="145470809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content slide: 1 colu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971550"/>
            <a:ext cx="7162800" cy="3771900"/>
          </a:xfrm>
        </p:spPr>
        <p:txBody>
          <a:bodyPr lIns="0" tIns="0" rIns="0" bIns="0">
            <a:noAutofit/>
          </a:bodyPr>
          <a:lstStyle>
            <a:lvl1pPr marL="342900" indent="-342900">
              <a:buClr>
                <a:srgbClr val="007A87"/>
              </a:buClr>
              <a:buSzPct val="75000"/>
              <a:buFont typeface="Webdings" pitchFamily="18" charset="2"/>
              <a:buChar char=""/>
              <a:defRPr sz="2000" b="1">
                <a:solidFill>
                  <a:srgbClr val="51626F"/>
                </a:solidFill>
              </a:defRPr>
            </a:lvl1pPr>
            <a:lvl2pPr marL="800100" indent="-342900">
              <a:buClr>
                <a:srgbClr val="51626F"/>
              </a:buClr>
              <a:buFont typeface="Wingdings" pitchFamily="2" charset="2"/>
              <a:buChar char="§"/>
              <a:defRPr sz="1800">
                <a:solidFill>
                  <a:schemeClr val="tx1"/>
                </a:solidFill>
              </a:defRPr>
            </a:lvl2pPr>
            <a:lvl3pPr marL="1143000" indent="-228600">
              <a:buClr>
                <a:schemeClr val="accent1"/>
              </a:buClr>
              <a:buFont typeface="Arial" pitchFamily="34" charset="0"/>
              <a:buChar char="•"/>
              <a:defRPr sz="1600">
                <a:solidFill>
                  <a:schemeClr val="tx1"/>
                </a:solidFill>
              </a:defRPr>
            </a:lvl3pPr>
            <a:lvl4pPr marL="1600200" indent="-228600">
              <a:buClr>
                <a:srgbClr val="999A8F"/>
              </a:buClr>
              <a:buFont typeface="Calibri" pitchFamily="34" charset="0"/>
              <a:buChar char="–"/>
              <a:defRPr sz="1400">
                <a:solidFill>
                  <a:schemeClr val="tx1"/>
                </a:solidFill>
              </a:defRPr>
            </a:lvl4pPr>
            <a:lvl5pPr marL="2057400" indent="-228600">
              <a:buClr>
                <a:srgbClr val="69BE28"/>
              </a:buClr>
              <a:buFont typeface="Calibri" pitchFamily="34" charset="0"/>
              <a:buChar char="»"/>
              <a:defRPr sz="1200">
                <a:solidFill>
                  <a:schemeClr val="tx1"/>
                </a:solidFill>
              </a:defRPr>
            </a:lvl5pPr>
          </a:lstStyle>
          <a:p>
            <a:pPr lvl="0"/>
            <a:r>
              <a:rPr lang="en-US" dirty="0" smtClean="0"/>
              <a:t> 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p:txBody>
          <a:bodyPr/>
          <a:lstStyle>
            <a:lvl1pPr>
              <a:defRPr sz="1200"/>
            </a:lvl1pPr>
          </a:lstStyle>
          <a:p>
            <a:fld id="{FA697448-FA31-4949-9864-F7BD87D6893B}" type="slidenum">
              <a:rPr lang="en-US" smtClean="0"/>
              <a:pPr/>
              <a:t>‹#›</a:t>
            </a:fld>
            <a:endParaRPr lang="en-US" dirty="0"/>
          </a:p>
        </p:txBody>
      </p:sp>
      <p:sp>
        <p:nvSpPr>
          <p:cNvPr id="8"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Tree>
    <p:extLst>
      <p:ext uri="{BB962C8B-B14F-4D97-AF65-F5344CB8AC3E}">
        <p14:creationId xmlns:p14="http://schemas.microsoft.com/office/powerpoint/2010/main" val="312188306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with brandin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A697448-FA31-4949-9864-F7BD87D6893B}" type="slidenum">
              <a:rPr lang="en-US" smtClean="0"/>
              <a:pPr/>
              <a:t>‹#›</a:t>
            </a:fld>
            <a:endParaRPr lang="en-US" dirty="0"/>
          </a:p>
        </p:txBody>
      </p:sp>
      <p:sp>
        <p:nvSpPr>
          <p:cNvPr id="5"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Tree>
    <p:extLst>
      <p:ext uri="{BB962C8B-B14F-4D97-AF65-F5344CB8AC3E}">
        <p14:creationId xmlns:p14="http://schemas.microsoft.com/office/powerpoint/2010/main" val="26704375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with optional title">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rgbClr val="007A87"/>
                </a:solidFill>
              </a:defRPr>
            </a:lvl1pPr>
          </a:lstStyle>
          <a:p>
            <a:fld id="{FA697448-FA31-4949-9864-F7BD87D6893B}" type="slidenum">
              <a:rPr lang="en-US" smtClean="0"/>
              <a:pPr/>
              <a:t>‹#›</a:t>
            </a:fld>
            <a:endParaRPr lang="en-US" dirty="0"/>
          </a:p>
        </p:txBody>
      </p:sp>
      <p:sp>
        <p:nvSpPr>
          <p:cNvPr id="7" name="Picture Placeholder 2"/>
          <p:cNvSpPr>
            <a:spLocks noGrp="1"/>
          </p:cNvSpPr>
          <p:nvPr>
            <p:ph type="pic" idx="1"/>
          </p:nvPr>
        </p:nvSpPr>
        <p:spPr>
          <a:xfrm>
            <a:off x="609600" y="971550"/>
            <a:ext cx="8077200" cy="37147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
        <p:nvSpPr>
          <p:cNvPr id="9" name="TextBox 8"/>
          <p:cNvSpPr txBox="1"/>
          <p:nvPr userDrawn="1"/>
        </p:nvSpPr>
        <p:spPr>
          <a:xfrm>
            <a:off x="609600" y="4856262"/>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spTree>
    <p:extLst>
      <p:ext uri="{BB962C8B-B14F-4D97-AF65-F5344CB8AC3E}">
        <p14:creationId xmlns:p14="http://schemas.microsoft.com/office/powerpoint/2010/main" val="141483168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rgbClr val="007A87"/>
                </a:solidFill>
              </a:defRPr>
            </a:lvl1pPr>
          </a:lstStyle>
          <a:p>
            <a:fld id="{FA697448-FA31-4949-9864-F7BD87D6893B}" type="slidenum">
              <a:rPr lang="en-US" smtClean="0"/>
              <a:pPr/>
              <a:t>‹#›</a:t>
            </a:fld>
            <a:endParaRPr lang="en-US" dirty="0"/>
          </a:p>
        </p:txBody>
      </p:sp>
      <p:sp>
        <p:nvSpPr>
          <p:cNvPr id="10" name="Title 1"/>
          <p:cNvSpPr>
            <a:spLocks noGrp="1"/>
          </p:cNvSpPr>
          <p:nvPr>
            <p:ph type="title" hasCustomPrompt="1"/>
          </p:nvPr>
        </p:nvSpPr>
        <p:spPr>
          <a:xfrm>
            <a:off x="228600" y="171450"/>
            <a:ext cx="8458200" cy="800100"/>
          </a:xfrm>
        </p:spPr>
        <p:txBody>
          <a:bodyPr lIns="0" tIns="0" rIns="0" bIns="0" anchor="t">
            <a:noAutofit/>
          </a:bodyPr>
          <a:lstStyle>
            <a:lvl1pPr>
              <a:defRPr sz="3200">
                <a:solidFill>
                  <a:srgbClr val="51626F"/>
                </a:solidFill>
              </a:defRPr>
            </a:lvl1pPr>
          </a:lstStyle>
          <a:p>
            <a:r>
              <a:rPr lang="en-US" dirty="0" smtClean="0"/>
              <a:t>CLICK TO EDIT</a:t>
            </a:r>
            <a:endParaRPr lang="en-US" dirty="0"/>
          </a:p>
        </p:txBody>
      </p:sp>
      <p:sp>
        <p:nvSpPr>
          <p:cNvPr id="9" name="TextBox 8"/>
          <p:cNvSpPr txBox="1"/>
          <p:nvPr userDrawn="1"/>
        </p:nvSpPr>
        <p:spPr>
          <a:xfrm>
            <a:off x="609600" y="4856262"/>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graphicFrame>
        <p:nvGraphicFramePr>
          <p:cNvPr id="3" name="Table 2"/>
          <p:cNvGraphicFramePr>
            <a:graphicFrameLocks noGrp="1"/>
          </p:cNvGraphicFramePr>
          <p:nvPr userDrawn="1">
            <p:extLst>
              <p:ext uri="{D42A27DB-BD31-4B8C-83A1-F6EECF244321}">
                <p14:modId xmlns:p14="http://schemas.microsoft.com/office/powerpoint/2010/main" val="3951358157"/>
              </p:ext>
            </p:extLst>
          </p:nvPr>
        </p:nvGraphicFramePr>
        <p:xfrm>
          <a:off x="228600" y="971550"/>
          <a:ext cx="8458200" cy="1478280"/>
        </p:xfrm>
        <a:graphic>
          <a:graphicData uri="http://schemas.openxmlformats.org/drawingml/2006/table">
            <a:tbl>
              <a:tblPr firstRow="1" bandRow="1">
                <a:tableStyleId>{00A15C55-8517-42AA-B614-E9B94910E393}</a:tableStyleId>
              </a:tblPr>
              <a:tblGrid>
                <a:gridCol w="1691640"/>
                <a:gridCol w="1691640"/>
                <a:gridCol w="1691640"/>
                <a:gridCol w="1691640"/>
                <a:gridCol w="1691640"/>
              </a:tblGrid>
              <a:tr h="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Chart Title</a:t>
                      </a:r>
                      <a:endParaRPr lang="en-US" sz="1800" dirty="0"/>
                    </a:p>
                  </a:txBody>
                  <a:tcPr anchor="ctr"/>
                </a:tc>
                <a:tc>
                  <a:txBody>
                    <a:bodyPr/>
                    <a:lstStyle/>
                    <a:p>
                      <a:pPr algn="ctr"/>
                      <a:r>
                        <a:rPr lang="en-US" sz="1400" dirty="0" smtClean="0"/>
                        <a:t>Column Title</a:t>
                      </a:r>
                      <a:endParaRPr lang="en-US" sz="1400" dirty="0"/>
                    </a:p>
                  </a:txBody>
                  <a:tcPr anchor="ctr"/>
                </a:tc>
                <a:tc>
                  <a:txBody>
                    <a:bodyPr/>
                    <a:lstStyle/>
                    <a:p>
                      <a:pPr algn="ctr"/>
                      <a:r>
                        <a:rPr lang="en-US" sz="1400" dirty="0" smtClean="0"/>
                        <a:t>Column Title</a:t>
                      </a:r>
                      <a:endParaRPr lang="en-US" sz="1400" dirty="0"/>
                    </a:p>
                  </a:txBody>
                  <a:tcPr anchor="ctr"/>
                </a:tc>
                <a:tc>
                  <a:txBody>
                    <a:bodyPr/>
                    <a:lstStyle/>
                    <a:p>
                      <a:pPr algn="ctr"/>
                      <a:r>
                        <a:rPr lang="en-US" sz="1400" dirty="0" smtClean="0"/>
                        <a:t>Column Title</a:t>
                      </a:r>
                      <a:endParaRPr lang="en-US" sz="1400" dirty="0"/>
                    </a:p>
                  </a:txBody>
                  <a:tcPr anchor="ctr"/>
                </a:tc>
                <a:tc>
                  <a:txBody>
                    <a:bodyPr/>
                    <a:lstStyle/>
                    <a:p>
                      <a:pPr algn="ctr"/>
                      <a:r>
                        <a:rPr lang="en-US" sz="1400" dirty="0" smtClean="0"/>
                        <a:t>Column Title</a:t>
                      </a:r>
                      <a:endParaRPr lang="en-US" sz="1400" dirty="0"/>
                    </a:p>
                  </a:txBody>
                  <a:tcPr anchor="ct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r>
            </a:tbl>
          </a:graphicData>
        </a:graphic>
      </p:graphicFrame>
    </p:spTree>
    <p:extLst>
      <p:ext uri="{BB962C8B-B14F-4D97-AF65-F5344CB8AC3E}">
        <p14:creationId xmlns:p14="http://schemas.microsoft.com/office/powerpoint/2010/main" val="43724294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content slide: 2 colum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200151"/>
            <a:ext cx="3446254" cy="3394472"/>
          </a:xfrm>
        </p:spPr>
        <p:txBody>
          <a:bodyPr lIns="0" tIns="0" rIns="0" bIns="0">
            <a:noAutofit/>
          </a:bodyPr>
          <a:lstStyle>
            <a:lvl1pPr marL="342900" indent="-342900">
              <a:buClr>
                <a:schemeClr val="accent6"/>
              </a:buClr>
              <a:buSzPct val="75000"/>
              <a:buFont typeface="Webdings" pitchFamily="18" charset="2"/>
              <a:buChar char="\"/>
              <a:defRPr sz="2000" b="1">
                <a:solidFill>
                  <a:srgbClr val="51626F"/>
                </a:solidFill>
              </a:defRPr>
            </a:lvl1pPr>
            <a:lvl2pPr marL="742950" indent="-285750">
              <a:buClr>
                <a:schemeClr val="accent4"/>
              </a:buClr>
              <a:buFont typeface="Wingdings" pitchFamily="2" charset="2"/>
              <a:buChar char="§"/>
              <a:defRPr sz="1800"/>
            </a:lvl2pPr>
            <a:lvl3pPr>
              <a:buClr>
                <a:schemeClr val="accent1"/>
              </a:buClr>
              <a:defRPr sz="1600"/>
            </a:lvl3pPr>
            <a:lvl4pPr>
              <a:buClr>
                <a:srgbClr val="999A8F"/>
              </a:buClr>
              <a:defRPr sz="1400"/>
            </a:lvl4pPr>
            <a:lvl5pPr>
              <a:buClr>
                <a:schemeClr val="accent3"/>
              </a:buClr>
              <a:defRPr sz="1200"/>
            </a:lvl5pPr>
            <a:lvl6pPr>
              <a:defRPr sz="1800"/>
            </a:lvl6pPr>
            <a:lvl7pPr>
              <a:defRPr sz="1800"/>
            </a:lvl7pPr>
            <a:lvl8pPr>
              <a:defRPr sz="1800"/>
            </a:lvl8pPr>
            <a:lvl9pPr>
              <a:defRPr sz="1800"/>
            </a:lvl9pPr>
          </a:lstStyle>
          <a:p>
            <a:pPr lvl="0"/>
            <a:r>
              <a:rPr lang="en-US" dirty="0" smtClean="0"/>
              <a:t>Click to edit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191000" y="1200151"/>
            <a:ext cx="3581400" cy="3394472"/>
          </a:xfrm>
        </p:spPr>
        <p:txBody>
          <a:bodyPr lIns="0" tIns="0" rIns="0" bIns="0">
            <a:noAutofit/>
          </a:bodyPr>
          <a:lstStyle>
            <a:lvl1pPr marL="342900" indent="-342900">
              <a:buClr>
                <a:schemeClr val="accent6"/>
              </a:buClr>
              <a:buSzPct val="75000"/>
              <a:buFont typeface="Webdings" pitchFamily="18" charset="2"/>
              <a:buChar char="\"/>
              <a:defRPr sz="2000" b="1">
                <a:solidFill>
                  <a:srgbClr val="51626F"/>
                </a:solidFill>
              </a:defRPr>
            </a:lvl1pPr>
            <a:lvl2pPr marL="742950" indent="-285750">
              <a:buClr>
                <a:schemeClr val="accent4"/>
              </a:buClr>
              <a:buFont typeface="Wingdings" pitchFamily="2" charset="2"/>
              <a:buChar char="§"/>
              <a:defRPr sz="1800"/>
            </a:lvl2pPr>
            <a:lvl3pPr>
              <a:buClr>
                <a:schemeClr val="accent1"/>
              </a:buClr>
              <a:defRPr sz="1600"/>
            </a:lvl3pPr>
            <a:lvl4pPr>
              <a:buClr>
                <a:srgbClr val="999A8F"/>
              </a:buClr>
              <a:defRPr sz="1400"/>
            </a:lvl4pPr>
            <a:lvl5pPr>
              <a:buClr>
                <a:schemeClr val="accent3"/>
              </a:buClr>
              <a:defRPr sz="1200"/>
            </a:lvl5pPr>
            <a:lvl6pPr>
              <a:defRPr sz="1800"/>
            </a:lvl6pPr>
            <a:lvl7pPr>
              <a:defRPr sz="1800"/>
            </a:lvl7pPr>
            <a:lvl8pPr>
              <a:defRPr sz="1800"/>
            </a:lvl8pPr>
            <a:lvl9pPr>
              <a:defRPr sz="1800"/>
            </a:lvl9pPr>
          </a:lstStyle>
          <a:p>
            <a:pPr lvl="0"/>
            <a:r>
              <a:rPr lang="en-US" dirty="0" smtClean="0"/>
              <a:t>Click to edit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2"/>
          </p:nvPr>
        </p:nvSpPr>
        <p:spPr/>
        <p:txBody>
          <a:bodyPr/>
          <a:lstStyle/>
          <a:p>
            <a:fld id="{FA697448-FA31-4949-9864-F7BD87D6893B}" type="slidenum">
              <a:rPr lang="en-US" smtClean="0"/>
              <a:pPr/>
              <a:t>‹#›</a:t>
            </a:fld>
            <a:endParaRPr lang="en-US"/>
          </a:p>
        </p:txBody>
      </p:sp>
      <p:sp>
        <p:nvSpPr>
          <p:cNvPr id="6"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Tree>
    <p:extLst>
      <p:ext uri="{BB962C8B-B14F-4D97-AF65-F5344CB8AC3E}">
        <p14:creationId xmlns:p14="http://schemas.microsoft.com/office/powerpoint/2010/main" val="141707464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rd content slide: 2 colums with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151335"/>
            <a:ext cx="3430768" cy="479822"/>
          </a:xfrm>
        </p:spPr>
        <p:txBody>
          <a:bodyPr lIns="0" tIns="0" rIns="0" bIns="0"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a:t>
            </a:r>
          </a:p>
        </p:txBody>
      </p:sp>
      <p:sp>
        <p:nvSpPr>
          <p:cNvPr id="4" name="Content Placeholder 3"/>
          <p:cNvSpPr>
            <a:spLocks noGrp="1"/>
          </p:cNvSpPr>
          <p:nvPr>
            <p:ph sz="half" idx="2" hasCustomPrompt="1"/>
          </p:nvPr>
        </p:nvSpPr>
        <p:spPr>
          <a:xfrm>
            <a:off x="609600" y="1631156"/>
            <a:ext cx="3430768" cy="2963466"/>
          </a:xfrm>
        </p:spPr>
        <p:txBody>
          <a:bodyPr lIns="0" tIns="0" rIns="0" bIns="0">
            <a:noAutofit/>
          </a:bodyPr>
          <a:lstStyle>
            <a:lvl1pPr marL="342900" indent="-342900">
              <a:buClr>
                <a:srgbClr val="007A87"/>
              </a:buClr>
              <a:buSzPct val="75000"/>
              <a:buFont typeface="Webdings" pitchFamily="18" charset="2"/>
              <a:buChar char="\"/>
              <a:defRPr sz="2000" b="1" baseline="0"/>
            </a:lvl1pPr>
            <a:lvl2pPr marL="742950" indent="-285750">
              <a:buClr>
                <a:schemeClr val="accent4"/>
              </a:buClr>
              <a:buFont typeface="Wingdings" pitchFamily="2" charset="2"/>
              <a:buChar char="§"/>
              <a:defRPr sz="1800"/>
            </a:lvl2pPr>
            <a:lvl3pPr>
              <a:buClr>
                <a:schemeClr val="accent1"/>
              </a:buClr>
              <a:defRPr sz="1600"/>
            </a:lvl3pPr>
            <a:lvl4pPr>
              <a:buClr>
                <a:schemeClr val="tx2"/>
              </a:buClr>
              <a:defRPr sz="1400"/>
            </a:lvl4pPr>
            <a:lvl5pPr>
              <a:buClr>
                <a:schemeClr val="accent3"/>
              </a:buClr>
              <a:defRPr sz="1200"/>
            </a:lvl5pPr>
            <a:lvl6pPr>
              <a:defRPr sz="1600"/>
            </a:lvl6pPr>
            <a:lvl7pPr>
              <a:defRPr sz="1600"/>
            </a:lvl7pPr>
            <a:lvl8pPr>
              <a:defRPr sz="1600"/>
            </a:lvl8pPr>
            <a:lvl9pPr>
              <a:defRPr sz="1600"/>
            </a:lvl9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343401" y="1151335"/>
            <a:ext cx="3432115" cy="479822"/>
          </a:xfrm>
        </p:spPr>
        <p:txBody>
          <a:bodyPr lIns="0" tIns="0" rIns="0" bIns="0"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a:t>
            </a:r>
          </a:p>
        </p:txBody>
      </p:sp>
      <p:sp>
        <p:nvSpPr>
          <p:cNvPr id="6" name="Content Placeholder 5"/>
          <p:cNvSpPr>
            <a:spLocks noGrp="1"/>
          </p:cNvSpPr>
          <p:nvPr>
            <p:ph sz="quarter" idx="4" hasCustomPrompt="1"/>
          </p:nvPr>
        </p:nvSpPr>
        <p:spPr>
          <a:xfrm>
            <a:off x="4343401" y="1631156"/>
            <a:ext cx="3432115" cy="2963466"/>
          </a:xfrm>
        </p:spPr>
        <p:txBody>
          <a:bodyPr lIns="0" tIns="0" rIns="0" bIns="0">
            <a:noAutofit/>
          </a:bodyPr>
          <a:lstStyle>
            <a:lvl1pPr marL="342900" indent="-342900">
              <a:buClr>
                <a:srgbClr val="007A87"/>
              </a:buClr>
              <a:buSzPct val="75000"/>
              <a:buFont typeface="Webdings" pitchFamily="18" charset="2"/>
              <a:buChar char="\"/>
              <a:defRPr sz="2000" b="1"/>
            </a:lvl1pPr>
            <a:lvl2pPr marL="742950" indent="-285750">
              <a:buClr>
                <a:schemeClr val="accent4"/>
              </a:buClr>
              <a:buFont typeface="Wingdings" pitchFamily="2" charset="2"/>
              <a:buChar char="§"/>
              <a:defRPr sz="1800"/>
            </a:lvl2pPr>
            <a:lvl3pPr>
              <a:buClr>
                <a:schemeClr val="accent1"/>
              </a:buClr>
              <a:defRPr sz="1600"/>
            </a:lvl3pPr>
            <a:lvl4pPr>
              <a:buClr>
                <a:schemeClr val="tx2"/>
              </a:buClr>
              <a:defRPr sz="1400"/>
            </a:lvl4pPr>
            <a:lvl5pPr>
              <a:buClr>
                <a:schemeClr val="accent3"/>
              </a:buClr>
              <a:defRPr sz="1200"/>
            </a:lvl5pPr>
            <a:lvl6pPr>
              <a:defRPr sz="1600"/>
            </a:lvl6pPr>
            <a:lvl7pPr>
              <a:defRPr sz="1600"/>
            </a:lvl7pPr>
            <a:lvl8pPr>
              <a:defRPr sz="1600"/>
            </a:lvl8pPr>
            <a:lvl9pPr>
              <a:defRPr sz="1600"/>
            </a:lvl9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Slide Number Placeholder 8"/>
          <p:cNvSpPr>
            <a:spLocks noGrp="1"/>
          </p:cNvSpPr>
          <p:nvPr>
            <p:ph type="sldNum" sz="quarter" idx="12"/>
          </p:nvPr>
        </p:nvSpPr>
        <p:spPr/>
        <p:txBody>
          <a:bodyPr/>
          <a:lstStyle/>
          <a:p>
            <a:fld id="{FA697448-FA31-4949-9864-F7BD87D6893B}" type="slidenum">
              <a:rPr lang="en-US" smtClean="0"/>
              <a:pPr/>
              <a:t>‹#›</a:t>
            </a:fld>
            <a:endParaRPr lang="en-US" dirty="0"/>
          </a:p>
        </p:txBody>
      </p:sp>
      <p:sp>
        <p:nvSpPr>
          <p:cNvPr id="8"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Tree>
    <p:extLst>
      <p:ext uri="{BB962C8B-B14F-4D97-AF65-F5344CB8AC3E}">
        <p14:creationId xmlns:p14="http://schemas.microsoft.com/office/powerpoint/2010/main" val="25461342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content slide: 2 colums with we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CLICK TO EDIT</a:t>
            </a:r>
            <a:endParaRPr lang="en-US" dirty="0"/>
          </a:p>
        </p:txBody>
      </p:sp>
      <p:sp>
        <p:nvSpPr>
          <p:cNvPr id="3" name="Slide Number Placeholder 2"/>
          <p:cNvSpPr>
            <a:spLocks noGrp="1"/>
          </p:cNvSpPr>
          <p:nvPr>
            <p:ph type="sldNum" sz="quarter" idx="10"/>
          </p:nvPr>
        </p:nvSpPr>
        <p:spPr/>
        <p:txBody>
          <a:bodyPr/>
          <a:lstStyle/>
          <a:p>
            <a:fld id="{FA697448-FA31-4949-9864-F7BD87D6893B}" type="slidenum">
              <a:rPr lang="en-US" smtClean="0"/>
              <a:pPr/>
              <a:t>‹#›</a:t>
            </a:fld>
            <a:endParaRPr lang="en-US" dirty="0"/>
          </a:p>
        </p:txBody>
      </p:sp>
      <p:sp>
        <p:nvSpPr>
          <p:cNvPr id="5" name="Content Placeholder 2"/>
          <p:cNvSpPr>
            <a:spLocks noGrp="1"/>
          </p:cNvSpPr>
          <p:nvPr>
            <p:ph idx="1"/>
          </p:nvPr>
        </p:nvSpPr>
        <p:spPr>
          <a:xfrm>
            <a:off x="3575050" y="952500"/>
            <a:ext cx="4197350" cy="3752850"/>
          </a:xfrm>
        </p:spPr>
        <p:txBody>
          <a:bodyPr lIns="0" tIns="0" rIns="0" bIns="0">
            <a:noAutofit/>
          </a:bodyPr>
          <a:lstStyle>
            <a:lvl1pPr marL="342900" indent="-342900">
              <a:buClr>
                <a:srgbClr val="007A87"/>
              </a:buClr>
              <a:buFont typeface="Webdings" pitchFamily="18" charset="2"/>
              <a:buChar char="\"/>
              <a:defRPr sz="2000"/>
            </a:lvl1pPr>
            <a:lvl2pPr marL="742950" indent="-285750">
              <a:buClr>
                <a:schemeClr val="accent4"/>
              </a:buClr>
              <a:buFont typeface="Wingdings" pitchFamily="2" charset="2"/>
              <a:buChar char="§"/>
              <a:defRPr sz="1800"/>
            </a:lvl2pPr>
            <a:lvl3pPr>
              <a:buClr>
                <a:schemeClr val="accent1"/>
              </a:buClr>
              <a:defRPr sz="1600" b="0"/>
            </a:lvl3pPr>
            <a:lvl4pPr>
              <a:buClr>
                <a:schemeClr val="tx2"/>
              </a:buClr>
              <a:defRPr sz="1400"/>
            </a:lvl4pPr>
            <a:lvl5pPr>
              <a:buClr>
                <a:schemeClr val="accent3"/>
              </a:buClr>
              <a:defRPr sz="1200"/>
            </a:lvl5pPr>
            <a:lvl6pPr>
              <a:defRPr sz="2000"/>
            </a:lvl6pPr>
            <a:lvl7pPr>
              <a:defRPr sz="2000"/>
            </a:lvl7pPr>
            <a:lvl8pPr>
              <a:defRPr sz="2000"/>
            </a:lvl8pPr>
            <a:lvl9pPr>
              <a:defRPr sz="2000"/>
            </a:lvl9pPr>
          </a:lstStyle>
          <a:p>
            <a:pPr lvl="0"/>
            <a:r>
              <a:rPr lang="en-US" dirty="0" smtClean="0"/>
              <a:t>Click to edit </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ext Placeholder 3"/>
          <p:cNvSpPr>
            <a:spLocks noGrp="1"/>
          </p:cNvSpPr>
          <p:nvPr>
            <p:ph type="body" sz="half" idx="2"/>
          </p:nvPr>
        </p:nvSpPr>
        <p:spPr>
          <a:xfrm>
            <a:off x="609601" y="1728788"/>
            <a:ext cx="2855913" cy="2957513"/>
          </a:xfrm>
        </p:spPr>
        <p:txBody>
          <a:bodyPr lIns="0" tIns="0" rIns="0" bIns="0">
            <a:noAutofit/>
          </a:bodyPr>
          <a:lstStyle>
            <a:lvl1pPr marL="0" indent="0">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7" name="Text Placeholder 3"/>
          <p:cNvSpPr>
            <a:spLocks noGrp="1"/>
          </p:cNvSpPr>
          <p:nvPr>
            <p:ph type="body" sz="half" idx="11"/>
          </p:nvPr>
        </p:nvSpPr>
        <p:spPr>
          <a:xfrm>
            <a:off x="609600" y="971551"/>
            <a:ext cx="2855913" cy="685800"/>
          </a:xfrm>
        </p:spPr>
        <p:txBody>
          <a:bodyPr lIns="0" tIns="0" rIns="0" bIns="0">
            <a:noAutofit/>
          </a:bodyPr>
          <a:lstStyle>
            <a:lvl1pPr marL="0" indent="0">
              <a:lnSpc>
                <a:spcPts val="2100"/>
              </a:lnSpc>
              <a:buNone/>
              <a:defRPr sz="20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3457411407"/>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 slid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3600450"/>
            <a:ext cx="7162800" cy="425054"/>
          </a:xfrm>
        </p:spPr>
        <p:txBody>
          <a:bodyPr lIns="0" tIns="0" rIns="0" bIns="0" anchor="b">
            <a:noAutofit/>
          </a:bodyPr>
          <a:lstStyle>
            <a:lvl1pPr algn="l">
              <a:defRPr sz="2400" b="1">
                <a:solidFill>
                  <a:schemeClr val="accent4"/>
                </a:solidFill>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609600" y="171451"/>
            <a:ext cx="7162800" cy="33742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09600" y="4025503"/>
            <a:ext cx="7162800" cy="660797"/>
          </a:xfrm>
        </p:spPr>
        <p:txBody>
          <a:bodyPr lIns="0" tIns="0" rIns="0" bIns="0">
            <a:noAutofit/>
          </a:bodyPr>
          <a:lstStyle>
            <a:lvl1pPr marL="0" indent="0">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7" name="Slide Number Placeholder 6"/>
          <p:cNvSpPr>
            <a:spLocks noGrp="1"/>
          </p:cNvSpPr>
          <p:nvPr>
            <p:ph type="sldNum" sz="quarter" idx="12"/>
          </p:nvPr>
        </p:nvSpPr>
        <p:spPr/>
        <p:txBody>
          <a:bodyPr/>
          <a:lstStyle/>
          <a:p>
            <a:fld id="{FA697448-FA31-4949-9864-F7BD87D6893B}" type="slidenum">
              <a:rPr lang="en-US" smtClean="0"/>
              <a:pPr/>
              <a:t>‹#›</a:t>
            </a:fld>
            <a:endParaRPr lang="en-US" dirty="0"/>
          </a:p>
        </p:txBody>
      </p:sp>
    </p:spTree>
    <p:extLst>
      <p:ext uri="{BB962C8B-B14F-4D97-AF65-F5344CB8AC3E}">
        <p14:creationId xmlns:p14="http://schemas.microsoft.com/office/powerpoint/2010/main" val="284657069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0"/>
            <a:ext cx="9135879" cy="5143500"/>
          </a:xfrm>
          <a:prstGeom prst="rect">
            <a:avLst/>
          </a:prstGeom>
        </p:spPr>
      </p:pic>
      <p:sp>
        <p:nvSpPr>
          <p:cNvPr id="2" name="Title Placeholder 1"/>
          <p:cNvSpPr>
            <a:spLocks noGrp="1"/>
          </p:cNvSpPr>
          <p:nvPr>
            <p:ph type="title"/>
          </p:nvPr>
        </p:nvSpPr>
        <p:spPr>
          <a:xfrm>
            <a:off x="609600" y="171450"/>
            <a:ext cx="8305800" cy="800100"/>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200151"/>
            <a:ext cx="7162800" cy="3394472"/>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76200" y="4767263"/>
            <a:ext cx="381000" cy="273844"/>
          </a:xfrm>
          <a:prstGeom prst="rect">
            <a:avLst/>
          </a:prstGeom>
        </p:spPr>
        <p:txBody>
          <a:bodyPr vert="horz" lIns="91440" tIns="45720" rIns="91440" bIns="45720" rtlCol="0" anchor="ctr"/>
          <a:lstStyle>
            <a:lvl1pPr algn="r">
              <a:defRPr sz="1200">
                <a:solidFill>
                  <a:schemeClr val="bg1"/>
                </a:solidFill>
              </a:defRPr>
            </a:lvl1pPr>
          </a:lstStyle>
          <a:p>
            <a:fld id="{FA697448-FA31-4949-9864-F7BD87D6893B}" type="slidenum">
              <a:rPr lang="en-US" smtClean="0"/>
              <a:pPr/>
              <a:t>‹#›</a:t>
            </a:fld>
            <a:endParaRPr lang="en-US" dirty="0"/>
          </a:p>
        </p:txBody>
      </p:sp>
      <p:sp>
        <p:nvSpPr>
          <p:cNvPr id="8" name="TextBox 7"/>
          <p:cNvSpPr txBox="1"/>
          <p:nvPr userDrawn="1"/>
        </p:nvSpPr>
        <p:spPr>
          <a:xfrm>
            <a:off x="609600" y="4856262"/>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spTree>
    <p:extLst>
      <p:ext uri="{BB962C8B-B14F-4D97-AF65-F5344CB8AC3E}">
        <p14:creationId xmlns:p14="http://schemas.microsoft.com/office/powerpoint/2010/main" val="824450029"/>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9" r:id="rId3"/>
    <p:sldLayoutId id="2147483654" r:id="rId4"/>
    <p:sldLayoutId id="2147483661" r:id="rId5"/>
    <p:sldLayoutId id="2147483650" r:id="rId6"/>
    <p:sldLayoutId id="2147483655" r:id="rId7"/>
    <p:sldLayoutId id="2147483660" r:id="rId8"/>
    <p:sldLayoutId id="2147483665" r:id="rId9"/>
    <p:sldLayoutId id="2147483652" r:id="rId10"/>
    <p:sldLayoutId id="2147483653" r:id="rId11"/>
    <p:sldLayoutId id="2147483664" r:id="rId12"/>
    <p:sldLayoutId id="2147483657" r:id="rId13"/>
  </p:sldLayoutIdLst>
  <p:timing>
    <p:tnLst>
      <p:par>
        <p:cTn id="1" dur="indefinite" restart="never" nodeType="tmRoot"/>
      </p:par>
    </p:tnLst>
  </p:timing>
  <p:hf hdr="0" ftr="0" dt="0"/>
  <p:txStyles>
    <p:titleStyle>
      <a:lvl1pPr algn="l" defTabSz="914400" rtl="0" eaLnBrk="1" latinLnBrk="0" hangingPunct="1">
        <a:spcBef>
          <a:spcPct val="0"/>
        </a:spcBef>
        <a:buNone/>
        <a:defRPr sz="4000" b="1" kern="1200">
          <a:solidFill>
            <a:schemeClr val="accent6"/>
          </a:solidFill>
          <a:latin typeface="+mj-lt"/>
          <a:ea typeface="+mj-ea"/>
          <a:cs typeface="+mj-cs"/>
        </a:defRPr>
      </a:lvl1pPr>
    </p:titleStyle>
    <p:bodyStyle>
      <a:lvl1pPr marL="342900" indent="-342900" algn="l" defTabSz="914400" rtl="0" eaLnBrk="1" latinLnBrk="0" hangingPunct="1">
        <a:spcBef>
          <a:spcPct val="20000"/>
        </a:spcBef>
        <a:buClr>
          <a:schemeClr val="accent6"/>
        </a:buClr>
        <a:buSzPct val="75000"/>
        <a:buFont typeface="Webdings" pitchFamily="18" charset="2"/>
        <a:buChar char="\"/>
        <a:defRPr sz="2000" b="1" kern="1200">
          <a:solidFill>
            <a:srgbClr val="51626F"/>
          </a:solidFill>
          <a:latin typeface="+mn-lt"/>
          <a:ea typeface="+mn-ea"/>
          <a:cs typeface="+mn-cs"/>
        </a:defRPr>
      </a:lvl1pPr>
      <a:lvl2pPr marL="742950" indent="-28575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Clr>
          <a:schemeClr val="accent3"/>
        </a:buClr>
        <a:buFont typeface="Arial"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hyperlink" Target="http://www.cahealthadvocates.org/glossary/index.html" TargetMode="Externa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Accumulator</a:t>
            </a:r>
            <a:endParaRPr lang="en-US" sz="4800" dirty="0"/>
          </a:p>
        </p:txBody>
      </p:sp>
      <p:sp>
        <p:nvSpPr>
          <p:cNvPr id="12" name="Subtitle 11"/>
          <p:cNvSpPr>
            <a:spLocks noGrp="1"/>
          </p:cNvSpPr>
          <p:nvPr>
            <p:ph type="subTitle" idx="1"/>
          </p:nvPr>
        </p:nvSpPr>
        <p:spPr/>
        <p:txBody>
          <a:bodyPr/>
          <a:lstStyle/>
          <a:p>
            <a:r>
              <a:rPr lang="en-US" dirty="0" smtClean="0"/>
              <a:t>				         </a:t>
            </a:r>
            <a:r>
              <a:rPr lang="en-US" dirty="0" smtClean="0">
                <a:solidFill>
                  <a:schemeClr val="tx1"/>
                </a:solidFill>
              </a:rPr>
              <a:t>By: K Ravi Shankar Varma</a:t>
            </a:r>
            <a:endParaRPr lang="en-US" dirty="0">
              <a:solidFill>
                <a:schemeClr val="tx1"/>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69620" y="364392"/>
            <a:ext cx="6062587" cy="2888307"/>
          </a:xfrm>
          <a:prstGeom prst="rect">
            <a:avLst/>
          </a:prstGeom>
        </p:spPr>
      </p:pic>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t="43589" r="26451" b="-2565"/>
          <a:stretch/>
        </p:blipFill>
        <p:spPr>
          <a:xfrm>
            <a:off x="7010400" y="0"/>
            <a:ext cx="2133601" cy="2647950"/>
          </a:xfrm>
          <a:prstGeom prst="rect">
            <a:avLst/>
          </a:prstGeom>
        </p:spPr>
      </p:pic>
    </p:spTree>
    <p:extLst>
      <p:ext uri="{BB962C8B-B14F-4D97-AF65-F5344CB8AC3E}">
        <p14:creationId xmlns:p14="http://schemas.microsoft.com/office/powerpoint/2010/main" val="17673449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A697448-FA31-4949-9864-F7BD87D6893B}" type="slidenum">
              <a:rPr lang="en-US" smtClean="0"/>
              <a:pPr/>
              <a:t>2</a:t>
            </a:fld>
            <a:endParaRPr lang="en-US" dirty="0"/>
          </a:p>
        </p:txBody>
      </p:sp>
      <p:sp>
        <p:nvSpPr>
          <p:cNvPr id="9" name="Title 8"/>
          <p:cNvSpPr>
            <a:spLocks noGrp="1"/>
          </p:cNvSpPr>
          <p:nvPr>
            <p:ph type="title"/>
          </p:nvPr>
        </p:nvSpPr>
        <p:spPr/>
        <p:txBody>
          <a:bodyPr/>
          <a:lstStyle/>
          <a:p>
            <a:r>
              <a:rPr lang="en-US" dirty="0" smtClean="0"/>
              <a:t>DISCLAIMER</a:t>
            </a:r>
            <a:endParaRPr lang="en-US" dirty="0"/>
          </a:p>
        </p:txBody>
      </p:sp>
    </p:spTree>
    <p:extLst>
      <p:ext uri="{BB962C8B-B14F-4D97-AF65-F5344CB8AC3E}">
        <p14:creationId xmlns:p14="http://schemas.microsoft.com/office/powerpoint/2010/main" val="28088510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19100"/>
            <a:ext cx="7162800" cy="4724400"/>
          </a:xfrm>
        </p:spPr>
        <p:txBody>
          <a:bodyPr/>
          <a:lstStyle/>
          <a:p>
            <a:pPr lvl="1">
              <a:buFont typeface="Wingdings" pitchFamily="2" charset="2"/>
              <a:buChar char="q"/>
            </a:pPr>
            <a:r>
              <a:rPr lang="en-US" altLang="en-US" sz="2000" b="1" dirty="0">
                <a:solidFill>
                  <a:srgbClr val="51626F"/>
                </a:solidFill>
              </a:rPr>
              <a:t>What is Accumulator</a:t>
            </a:r>
          </a:p>
          <a:p>
            <a:pPr lvl="1">
              <a:buFont typeface="Wingdings" pitchFamily="2" charset="2"/>
              <a:buChar char="q"/>
            </a:pPr>
            <a:endParaRPr lang="en-US" altLang="en-US" sz="2000" b="1" dirty="0">
              <a:solidFill>
                <a:srgbClr val="51626F"/>
              </a:solidFill>
            </a:endParaRPr>
          </a:p>
          <a:p>
            <a:pPr lvl="1">
              <a:buFont typeface="Wingdings" pitchFamily="2" charset="2"/>
              <a:buChar char="q"/>
            </a:pPr>
            <a:r>
              <a:rPr lang="en-US" altLang="en-US" sz="2000" b="1" dirty="0">
                <a:solidFill>
                  <a:srgbClr val="51626F"/>
                </a:solidFill>
              </a:rPr>
              <a:t>Accumulator Parameters</a:t>
            </a:r>
          </a:p>
          <a:p>
            <a:pPr lvl="1">
              <a:buFont typeface="Wingdings" pitchFamily="2" charset="2"/>
              <a:buChar char="q"/>
            </a:pPr>
            <a:endParaRPr lang="en-US" altLang="en-US" sz="2000" b="1" dirty="0">
              <a:solidFill>
                <a:srgbClr val="51626F"/>
              </a:solidFill>
            </a:endParaRPr>
          </a:p>
          <a:p>
            <a:pPr lvl="1">
              <a:buFont typeface="Wingdings" pitchFamily="2" charset="2"/>
              <a:buChar char="q"/>
            </a:pPr>
            <a:r>
              <a:rPr lang="en-US" altLang="en-US" sz="2000" b="1" dirty="0">
                <a:solidFill>
                  <a:srgbClr val="51626F"/>
                </a:solidFill>
              </a:rPr>
              <a:t>Accumulator Buckets</a:t>
            </a:r>
          </a:p>
          <a:p>
            <a:pPr lvl="1">
              <a:buFont typeface="Wingdings" pitchFamily="2" charset="2"/>
              <a:buChar char="q"/>
            </a:pPr>
            <a:endParaRPr lang="en-US" altLang="en-US" sz="2000" b="1" dirty="0">
              <a:solidFill>
                <a:srgbClr val="51626F"/>
              </a:solidFill>
            </a:endParaRPr>
          </a:p>
          <a:p>
            <a:pPr lvl="1">
              <a:buFont typeface="Wingdings" pitchFamily="2" charset="2"/>
              <a:buChar char="q"/>
            </a:pPr>
            <a:r>
              <a:rPr lang="en-US" altLang="en-US" sz="2000" b="1" dirty="0">
                <a:solidFill>
                  <a:srgbClr val="51626F"/>
                </a:solidFill>
              </a:rPr>
              <a:t>Creation of Accumulator in Rx-nova</a:t>
            </a:r>
          </a:p>
          <a:p>
            <a:pPr lvl="1">
              <a:buFont typeface="Wingdings" pitchFamily="2" charset="2"/>
              <a:buChar char="q"/>
            </a:pPr>
            <a:endParaRPr lang="en-US" altLang="en-US" sz="2000" b="1" dirty="0">
              <a:solidFill>
                <a:srgbClr val="51626F"/>
              </a:solidFill>
            </a:endParaRPr>
          </a:p>
          <a:p>
            <a:pPr lvl="1">
              <a:buFont typeface="Wingdings" pitchFamily="2" charset="2"/>
              <a:buChar char="q"/>
            </a:pPr>
            <a:r>
              <a:rPr lang="en-US" altLang="en-US" sz="2000" b="1" dirty="0">
                <a:solidFill>
                  <a:srgbClr val="51626F"/>
                </a:solidFill>
              </a:rPr>
              <a:t>Processing Options setup</a:t>
            </a:r>
          </a:p>
          <a:p>
            <a:pPr lvl="1">
              <a:buFont typeface="Wingdings" pitchFamily="2" charset="2"/>
              <a:buChar char="q"/>
            </a:pPr>
            <a:endParaRPr lang="en-US" altLang="en-US" sz="2000" b="1" dirty="0">
              <a:solidFill>
                <a:srgbClr val="51626F"/>
              </a:solidFill>
            </a:endParaRPr>
          </a:p>
          <a:p>
            <a:pPr lvl="1">
              <a:buFont typeface="Wingdings" pitchFamily="2" charset="2"/>
              <a:buChar char="q"/>
            </a:pPr>
            <a:r>
              <a:rPr lang="en-US" altLang="en-US" sz="2000" b="1" dirty="0">
                <a:solidFill>
                  <a:srgbClr val="51626F"/>
                </a:solidFill>
              </a:rPr>
              <a:t>Copay Assignments and Copay Values</a:t>
            </a:r>
          </a:p>
          <a:p>
            <a:pPr marL="0" indent="0">
              <a:buNone/>
            </a:pPr>
            <a:endParaRPr lang="en-US" dirty="0" smtClean="0"/>
          </a:p>
        </p:txBody>
      </p:sp>
      <p:sp>
        <p:nvSpPr>
          <p:cNvPr id="4" name="Slide Number Placeholder 3"/>
          <p:cNvSpPr>
            <a:spLocks noGrp="1"/>
          </p:cNvSpPr>
          <p:nvPr>
            <p:ph type="sldNum" sz="quarter" idx="12"/>
          </p:nvPr>
        </p:nvSpPr>
        <p:spPr/>
        <p:txBody>
          <a:bodyPr/>
          <a:lstStyle/>
          <a:p>
            <a:fld id="{FA697448-FA31-4949-9864-F7BD87D6893B}" type="slidenum">
              <a:rPr lang="en-US" smtClean="0"/>
              <a:pPr/>
              <a:t>3</a:t>
            </a:fld>
            <a:endParaRPr lang="en-US" dirty="0"/>
          </a:p>
        </p:txBody>
      </p:sp>
      <p:sp>
        <p:nvSpPr>
          <p:cNvPr id="7" name="Title 6"/>
          <p:cNvSpPr>
            <a:spLocks noGrp="1"/>
          </p:cNvSpPr>
          <p:nvPr>
            <p:ph type="title"/>
          </p:nvPr>
        </p:nvSpPr>
        <p:spPr>
          <a:xfrm>
            <a:off x="609600" y="0"/>
            <a:ext cx="8077200" cy="800100"/>
          </a:xfrm>
        </p:spPr>
        <p:txBody>
          <a:bodyPr/>
          <a:lstStyle/>
          <a:p>
            <a:pPr algn="ctr"/>
            <a:r>
              <a:rPr lang="en-US" altLang="en-US" sz="3600" dirty="0">
                <a:latin typeface="Verdana" pitchFamily="34" charset="0"/>
              </a:rPr>
              <a:t>Contents</a:t>
            </a:r>
            <a:endParaRPr lang="en-US" sz="3600" dirty="0"/>
          </a:p>
        </p:txBody>
      </p:sp>
    </p:spTree>
    <p:extLst>
      <p:ext uri="{BB962C8B-B14F-4D97-AF65-F5344CB8AC3E}">
        <p14:creationId xmlns:p14="http://schemas.microsoft.com/office/powerpoint/2010/main" val="2463443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42950"/>
            <a:ext cx="7391400" cy="4343400"/>
          </a:xfrm>
        </p:spPr>
        <p:txBody>
          <a:bodyPr/>
          <a:lstStyle/>
          <a:p>
            <a:pPr>
              <a:buFont typeface="Wingdings" pitchFamily="2" charset="2"/>
              <a:buChar char="q"/>
              <a:defRPr/>
            </a:pPr>
            <a:r>
              <a:rPr lang="en-US" b="0" dirty="0">
                <a:latin typeface="Verdana" pitchFamily="34" charset="0"/>
              </a:rPr>
              <a:t>What is Claim </a:t>
            </a:r>
            <a:r>
              <a:rPr lang="en-US" b="0" dirty="0" smtClean="0">
                <a:latin typeface="Verdana" pitchFamily="34" charset="0"/>
              </a:rPr>
              <a:t>?</a:t>
            </a:r>
          </a:p>
          <a:p>
            <a:pPr>
              <a:buFont typeface="Wingdings" pitchFamily="2" charset="2"/>
              <a:buChar char="q"/>
              <a:defRPr/>
            </a:pPr>
            <a:endParaRPr lang="en-US" b="0" dirty="0">
              <a:latin typeface="Verdana" pitchFamily="34" charset="0"/>
            </a:endParaRPr>
          </a:p>
          <a:p>
            <a:pPr marL="0" lvl="1" indent="0" algn="just">
              <a:buNone/>
              <a:defRPr/>
            </a:pPr>
            <a:r>
              <a:rPr lang="en-US" sz="1600" dirty="0" smtClean="0">
                <a:latin typeface="+mj-lt"/>
              </a:rPr>
              <a:t>            A statement from a patient(Member) of a health care provider Presented to an Insurance company or HMO for payment</a:t>
            </a:r>
            <a:endParaRPr lang="en-US" sz="1600" dirty="0">
              <a:latin typeface="+mj-lt"/>
            </a:endParaRPr>
          </a:p>
          <a:p>
            <a:pPr>
              <a:buFont typeface="Wingdings" pitchFamily="2" charset="2"/>
              <a:buChar char="q"/>
              <a:defRPr/>
            </a:pPr>
            <a:endParaRPr lang="en-US" b="0" dirty="0">
              <a:latin typeface="Verdana" pitchFamily="34" charset="0"/>
            </a:endParaRPr>
          </a:p>
          <a:p>
            <a:pPr>
              <a:buFont typeface="Wingdings" pitchFamily="2" charset="2"/>
              <a:buChar char="q"/>
              <a:defRPr/>
            </a:pPr>
            <a:r>
              <a:rPr lang="en-US" b="0" dirty="0">
                <a:latin typeface="Verdana" pitchFamily="34" charset="0"/>
              </a:rPr>
              <a:t> What is Accumulator </a:t>
            </a:r>
            <a:r>
              <a:rPr lang="en-US" b="0" dirty="0" smtClean="0">
                <a:latin typeface="Verdana" pitchFamily="34" charset="0"/>
              </a:rPr>
              <a:t>?</a:t>
            </a:r>
          </a:p>
          <a:p>
            <a:pPr>
              <a:buFont typeface="Wingdings" pitchFamily="2" charset="2"/>
              <a:buChar char="q"/>
              <a:defRPr/>
            </a:pPr>
            <a:endParaRPr lang="en-US" b="0" dirty="0" smtClean="0">
              <a:latin typeface="Verdana" pitchFamily="34" charset="0"/>
            </a:endParaRPr>
          </a:p>
          <a:p>
            <a:pPr marL="0" indent="0">
              <a:buNone/>
              <a:defRPr/>
            </a:pPr>
            <a:r>
              <a:rPr lang="en-US" sz="1600" b="0" dirty="0" smtClean="0">
                <a:solidFill>
                  <a:schemeClr val="tx1"/>
                </a:solidFill>
                <a:latin typeface="+mj-lt"/>
              </a:rPr>
              <a:t>            Accumulators</a:t>
            </a:r>
            <a:r>
              <a:rPr lang="en-US" sz="1600" b="0" dirty="0">
                <a:solidFill>
                  <a:schemeClr val="tx1"/>
                </a:solidFill>
                <a:latin typeface="+mj-lt"/>
              </a:rPr>
              <a:t> are the method of precisely collecting and calculating total claim dollar values against plan deductibles and benefit limits</a:t>
            </a:r>
          </a:p>
          <a:p>
            <a:pPr>
              <a:defRPr/>
            </a:pPr>
            <a:endParaRPr lang="en-US" sz="1600" b="0" dirty="0">
              <a:solidFill>
                <a:schemeClr val="tx1"/>
              </a:solidFill>
              <a:latin typeface="+mj-lt"/>
            </a:endParaRPr>
          </a:p>
          <a:p>
            <a:pPr marL="0" indent="0" algn="just">
              <a:buNone/>
              <a:defRPr/>
            </a:pPr>
            <a:endParaRPr lang="en-US" sz="1600" b="0" dirty="0">
              <a:solidFill>
                <a:schemeClr val="tx1"/>
              </a:solidFill>
              <a:latin typeface="+mj-lt"/>
            </a:endParaRPr>
          </a:p>
        </p:txBody>
      </p:sp>
      <p:sp>
        <p:nvSpPr>
          <p:cNvPr id="4" name="Slide Number Placeholder 3"/>
          <p:cNvSpPr>
            <a:spLocks noGrp="1"/>
          </p:cNvSpPr>
          <p:nvPr>
            <p:ph type="sldNum" sz="quarter" idx="12"/>
          </p:nvPr>
        </p:nvSpPr>
        <p:spPr/>
        <p:txBody>
          <a:bodyPr/>
          <a:lstStyle/>
          <a:p>
            <a:fld id="{FA697448-FA31-4949-9864-F7BD87D6893B}" type="slidenum">
              <a:rPr lang="en-US" smtClean="0"/>
              <a:pPr/>
              <a:t>4</a:t>
            </a:fld>
            <a:endParaRPr lang="en-US" dirty="0"/>
          </a:p>
        </p:txBody>
      </p:sp>
      <p:sp>
        <p:nvSpPr>
          <p:cNvPr id="7" name="Title 6"/>
          <p:cNvSpPr>
            <a:spLocks noGrp="1"/>
          </p:cNvSpPr>
          <p:nvPr>
            <p:ph type="title"/>
          </p:nvPr>
        </p:nvSpPr>
        <p:spPr>
          <a:xfrm>
            <a:off x="609600" y="0"/>
            <a:ext cx="8077200" cy="800100"/>
          </a:xfrm>
        </p:spPr>
        <p:txBody>
          <a:bodyPr/>
          <a:lstStyle/>
          <a:p>
            <a:pPr algn="ctr">
              <a:defRPr/>
            </a:pPr>
            <a:r>
              <a:rPr lang="en-US" sz="3600" b="0" dirty="0">
                <a:latin typeface="Verdana" pitchFamily="34" charset="0"/>
              </a:rPr>
              <a:t>Accumulators</a:t>
            </a:r>
            <a:endParaRPr lang="en-IN" sz="3600" kern="0" dirty="0">
              <a:latin typeface="Verdana" pitchFamily="34" charset="0"/>
            </a:endParaRPr>
          </a:p>
        </p:txBody>
      </p:sp>
    </p:spTree>
    <p:extLst>
      <p:ext uri="{BB962C8B-B14F-4D97-AF65-F5344CB8AC3E}">
        <p14:creationId xmlns:p14="http://schemas.microsoft.com/office/powerpoint/2010/main" val="14474956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66750"/>
            <a:ext cx="7391400" cy="4400550"/>
          </a:xfrm>
        </p:spPr>
        <p:txBody>
          <a:bodyPr/>
          <a:lstStyle/>
          <a:p>
            <a:pPr marL="0" indent="0">
              <a:buNone/>
              <a:defRPr/>
            </a:pPr>
            <a:r>
              <a:rPr lang="en-US" b="0" dirty="0">
                <a:latin typeface="Verdana" pitchFamily="34" charset="0"/>
              </a:rPr>
              <a:t> </a:t>
            </a:r>
            <a:endParaRPr lang="en-US" b="0" dirty="0" smtClean="0">
              <a:latin typeface="Verdana" pitchFamily="34" charset="0"/>
            </a:endParaRPr>
          </a:p>
          <a:p>
            <a:pPr>
              <a:buFont typeface="Wingdings" pitchFamily="2" charset="2"/>
              <a:buChar char="q"/>
              <a:defRPr/>
            </a:pPr>
            <a:r>
              <a:rPr lang="en-US" b="0" dirty="0" smtClean="0">
                <a:latin typeface="Verdana" pitchFamily="34" charset="0"/>
              </a:rPr>
              <a:t>What </a:t>
            </a:r>
            <a:r>
              <a:rPr lang="en-US" b="0" dirty="0">
                <a:latin typeface="Verdana" pitchFamily="34" charset="0"/>
              </a:rPr>
              <a:t>is </a:t>
            </a:r>
            <a:r>
              <a:rPr lang="en-US" b="0" dirty="0" smtClean="0">
                <a:latin typeface="Verdana" pitchFamily="34" charset="0"/>
              </a:rPr>
              <a:t>Co-pay ?</a:t>
            </a:r>
            <a:endParaRPr lang="en-US" b="0" dirty="0">
              <a:latin typeface="Verdana" pitchFamily="34" charset="0"/>
            </a:endParaRPr>
          </a:p>
          <a:p>
            <a:pPr algn="just">
              <a:defRPr/>
            </a:pPr>
            <a:endParaRPr lang="en-US" b="0" dirty="0"/>
          </a:p>
          <a:p>
            <a:pPr marL="0" indent="0" algn="just">
              <a:buNone/>
              <a:defRPr/>
            </a:pPr>
            <a:r>
              <a:rPr lang="en-US" sz="1600" b="0" dirty="0" smtClean="0">
                <a:solidFill>
                  <a:schemeClr val="tx1"/>
                </a:solidFill>
                <a:latin typeface="+mj-lt"/>
              </a:rPr>
              <a:t>           The </a:t>
            </a:r>
            <a:r>
              <a:rPr lang="en-US" sz="1600" b="0" dirty="0">
                <a:solidFill>
                  <a:schemeClr val="tx1"/>
                </a:solidFill>
                <a:latin typeface="+mj-lt"/>
              </a:rPr>
              <a:t>amount of the prescription cost for which the member is responsible. The member pays this amount to the pharmacy</a:t>
            </a:r>
          </a:p>
          <a:p>
            <a:pPr>
              <a:buFont typeface="Wingdings" pitchFamily="2" charset="2"/>
              <a:buChar char="q"/>
              <a:defRPr/>
            </a:pPr>
            <a:endParaRPr lang="en-US" sz="1600" b="0" dirty="0">
              <a:solidFill>
                <a:schemeClr val="tx1"/>
              </a:solidFill>
              <a:latin typeface="+mj-lt"/>
            </a:endParaRPr>
          </a:p>
          <a:p>
            <a:pPr>
              <a:buFont typeface="Wingdings" pitchFamily="2" charset="2"/>
              <a:buChar char="q"/>
              <a:defRPr/>
            </a:pPr>
            <a:endParaRPr lang="en-US" b="0" dirty="0">
              <a:latin typeface="Verdana" pitchFamily="34" charset="0"/>
            </a:endParaRPr>
          </a:p>
          <a:p>
            <a:pPr>
              <a:buFont typeface="Wingdings" pitchFamily="2" charset="2"/>
              <a:buChar char="q"/>
              <a:defRPr/>
            </a:pPr>
            <a:r>
              <a:rPr lang="en-US" b="0" dirty="0">
                <a:latin typeface="Verdana" pitchFamily="34" charset="0"/>
              </a:rPr>
              <a:t> What is </a:t>
            </a:r>
            <a:r>
              <a:rPr lang="en-US" b="0" dirty="0" smtClean="0">
                <a:latin typeface="Verdana" pitchFamily="34" charset="0"/>
              </a:rPr>
              <a:t>Co-insurance </a:t>
            </a:r>
            <a:r>
              <a:rPr lang="en-US" b="0" dirty="0">
                <a:latin typeface="Verdana" pitchFamily="34" charset="0"/>
              </a:rPr>
              <a:t>? </a:t>
            </a:r>
          </a:p>
          <a:p>
            <a:pPr marL="0" indent="0" algn="just">
              <a:buNone/>
              <a:defRPr/>
            </a:pPr>
            <a:endParaRPr lang="en-US" b="0" dirty="0" smtClean="0">
              <a:latin typeface="Verdana" pitchFamily="34" charset="0"/>
            </a:endParaRPr>
          </a:p>
          <a:p>
            <a:pPr marL="0" indent="0" algn="just">
              <a:buNone/>
              <a:defRPr/>
            </a:pPr>
            <a:r>
              <a:rPr lang="en-US" sz="1600" b="0" dirty="0" smtClean="0">
                <a:solidFill>
                  <a:schemeClr val="tx1"/>
                </a:solidFill>
                <a:latin typeface="+mj-lt"/>
              </a:rPr>
              <a:t>           The </a:t>
            </a:r>
            <a:r>
              <a:rPr lang="en-US" sz="1600" b="0" dirty="0">
                <a:solidFill>
                  <a:schemeClr val="tx1"/>
                </a:solidFill>
                <a:latin typeface="+mj-lt"/>
              </a:rPr>
              <a:t>percentage of the prescription cost the member must pay with each prescription</a:t>
            </a:r>
          </a:p>
          <a:p>
            <a:pPr>
              <a:defRPr/>
            </a:pPr>
            <a:endParaRPr lang="en-US" sz="1600" b="0" dirty="0">
              <a:solidFill>
                <a:schemeClr val="tx1"/>
              </a:solidFill>
              <a:latin typeface="+mj-lt"/>
            </a:endParaRPr>
          </a:p>
        </p:txBody>
      </p:sp>
      <p:sp>
        <p:nvSpPr>
          <p:cNvPr id="4" name="Slide Number Placeholder 3"/>
          <p:cNvSpPr>
            <a:spLocks noGrp="1"/>
          </p:cNvSpPr>
          <p:nvPr>
            <p:ph type="sldNum" sz="quarter" idx="12"/>
          </p:nvPr>
        </p:nvSpPr>
        <p:spPr/>
        <p:txBody>
          <a:bodyPr/>
          <a:lstStyle/>
          <a:p>
            <a:fld id="{FA697448-FA31-4949-9864-F7BD87D6893B}" type="slidenum">
              <a:rPr lang="en-US" smtClean="0"/>
              <a:pPr/>
              <a:t>5</a:t>
            </a:fld>
            <a:endParaRPr lang="en-US" dirty="0"/>
          </a:p>
        </p:txBody>
      </p:sp>
    </p:spTree>
    <p:extLst>
      <p:ext uri="{BB962C8B-B14F-4D97-AF65-F5344CB8AC3E}">
        <p14:creationId xmlns:p14="http://schemas.microsoft.com/office/powerpoint/2010/main" val="21489181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42950"/>
            <a:ext cx="7391400" cy="4400550"/>
          </a:xfrm>
        </p:spPr>
        <p:txBody>
          <a:bodyPr/>
          <a:lstStyle/>
          <a:p>
            <a:pPr algn="just">
              <a:buFont typeface="Wingdings" panose="05000000000000000000" pitchFamily="2" charset="2"/>
              <a:buChar char="q"/>
            </a:pPr>
            <a:r>
              <a:rPr lang="en-US" dirty="0">
                <a:latin typeface="Calibri" panose="020F0502020204030204" pitchFamily="34" charset="0"/>
              </a:rPr>
              <a:t>Type:</a:t>
            </a:r>
            <a:r>
              <a:rPr lang="en-US" b="0" dirty="0">
                <a:latin typeface="Calibri" panose="020F0502020204030204" pitchFamily="34" charset="0"/>
              </a:rPr>
              <a:t> </a:t>
            </a:r>
            <a:r>
              <a:rPr lang="en-US" sz="1600" b="0" dirty="0">
                <a:solidFill>
                  <a:schemeClr val="tx1"/>
                </a:solidFill>
                <a:latin typeface="+mj-lt"/>
              </a:rPr>
              <a:t>Type of </a:t>
            </a:r>
            <a:r>
              <a:rPr lang="en-US" sz="1600" b="0" dirty="0" smtClean="0">
                <a:solidFill>
                  <a:schemeClr val="tx1"/>
                </a:solidFill>
                <a:latin typeface="+mj-lt"/>
              </a:rPr>
              <a:t>Bucket (Ex : DED, MOP, MPP, IC1 )</a:t>
            </a:r>
            <a:endParaRPr lang="en-US" sz="1600" b="0" dirty="0">
              <a:solidFill>
                <a:schemeClr val="tx1"/>
              </a:solidFill>
              <a:latin typeface="+mj-lt"/>
            </a:endParaRPr>
          </a:p>
          <a:p>
            <a:pPr marL="285750" indent="-285750" algn="just">
              <a:buFont typeface="Arial" panose="020B0604020202020204" pitchFamily="34" charset="0"/>
              <a:buChar char="•"/>
            </a:pPr>
            <a:endParaRPr lang="en-US" sz="1600" b="0" dirty="0">
              <a:solidFill>
                <a:schemeClr val="tx1"/>
              </a:solidFill>
              <a:latin typeface="+mj-lt"/>
            </a:endParaRPr>
          </a:p>
          <a:p>
            <a:pPr algn="just">
              <a:buFont typeface="Wingdings" panose="05000000000000000000" pitchFamily="2" charset="2"/>
              <a:buChar char="q"/>
            </a:pPr>
            <a:r>
              <a:rPr lang="en-US" dirty="0">
                <a:latin typeface="Calibri" panose="020F0502020204030204" pitchFamily="34" charset="0"/>
              </a:rPr>
              <a:t>Name:</a:t>
            </a:r>
            <a:r>
              <a:rPr lang="en-US" b="0" dirty="0">
                <a:latin typeface="Calibri" panose="020F0502020204030204" pitchFamily="34" charset="0"/>
              </a:rPr>
              <a:t> </a:t>
            </a:r>
            <a:r>
              <a:rPr lang="en-US" sz="1600" b="0" dirty="0">
                <a:solidFill>
                  <a:schemeClr val="tx1"/>
                </a:solidFill>
                <a:latin typeface="+mj-lt"/>
              </a:rPr>
              <a:t>Name for the bucket </a:t>
            </a:r>
            <a:r>
              <a:rPr lang="en-US" sz="1600" b="0" dirty="0" smtClean="0">
                <a:solidFill>
                  <a:schemeClr val="tx1"/>
                </a:solidFill>
                <a:latin typeface="+mj-lt"/>
              </a:rPr>
              <a:t>(Ex</a:t>
            </a:r>
            <a:r>
              <a:rPr lang="en-US" sz="1600" b="0" dirty="0">
                <a:solidFill>
                  <a:schemeClr val="tx1"/>
                </a:solidFill>
                <a:latin typeface="+mj-lt"/>
              </a:rPr>
              <a:t>: DED A </a:t>
            </a:r>
            <a:r>
              <a:rPr lang="en-US" sz="1600" b="0" dirty="0" err="1">
                <a:solidFill>
                  <a:schemeClr val="tx1"/>
                </a:solidFill>
                <a:latin typeface="+mj-lt"/>
              </a:rPr>
              <a:t>A</a:t>
            </a:r>
            <a:r>
              <a:rPr lang="en-US" sz="1600" b="0" dirty="0">
                <a:solidFill>
                  <a:schemeClr val="tx1"/>
                </a:solidFill>
                <a:latin typeface="+mj-lt"/>
              </a:rPr>
              <a:t> </a:t>
            </a:r>
            <a:r>
              <a:rPr lang="en-US" sz="1600" b="0" dirty="0" err="1">
                <a:solidFill>
                  <a:schemeClr val="tx1"/>
                </a:solidFill>
                <a:latin typeface="+mj-lt"/>
              </a:rPr>
              <a:t>A</a:t>
            </a:r>
            <a:r>
              <a:rPr lang="en-US" sz="1600" b="0" dirty="0">
                <a:solidFill>
                  <a:schemeClr val="tx1"/>
                </a:solidFill>
                <a:latin typeface="+mj-lt"/>
              </a:rPr>
              <a:t> </a:t>
            </a:r>
            <a:r>
              <a:rPr lang="en-US" sz="1600" b="0" dirty="0" err="1">
                <a:solidFill>
                  <a:schemeClr val="tx1"/>
                </a:solidFill>
                <a:latin typeface="+mj-lt"/>
              </a:rPr>
              <a:t>A</a:t>
            </a:r>
            <a:r>
              <a:rPr lang="en-US" sz="1600" b="0" dirty="0">
                <a:solidFill>
                  <a:schemeClr val="tx1"/>
                </a:solidFill>
                <a:latin typeface="+mj-lt"/>
              </a:rPr>
              <a:t> ST)</a:t>
            </a:r>
          </a:p>
          <a:p>
            <a:pPr marL="285750" indent="-285750" algn="just">
              <a:buFont typeface="Arial" panose="020B0604020202020204" pitchFamily="34" charset="0"/>
              <a:buChar char="•"/>
            </a:pPr>
            <a:endParaRPr lang="en-US" b="0" dirty="0"/>
          </a:p>
          <a:p>
            <a:pPr algn="just">
              <a:buFont typeface="Wingdings" panose="05000000000000000000" pitchFamily="2" charset="2"/>
              <a:buChar char="q"/>
            </a:pPr>
            <a:r>
              <a:rPr lang="en-US" dirty="0"/>
              <a:t>Individual limit</a:t>
            </a:r>
            <a:r>
              <a:rPr lang="en-US" dirty="0" smtClean="0"/>
              <a:t>:</a:t>
            </a:r>
            <a:endParaRPr lang="en-US" b="0" dirty="0"/>
          </a:p>
          <a:p>
            <a:pPr marL="0" indent="0" algn="just">
              <a:buNone/>
            </a:pPr>
            <a:r>
              <a:rPr lang="en-US" sz="1600" b="0" dirty="0" smtClean="0">
                <a:solidFill>
                  <a:schemeClr val="tx1"/>
                </a:solidFill>
                <a:latin typeface="+mj-lt"/>
              </a:rPr>
              <a:t>           The </a:t>
            </a:r>
            <a:r>
              <a:rPr lang="en-US" sz="1600" b="0" dirty="0">
                <a:solidFill>
                  <a:schemeClr val="tx1"/>
                </a:solidFill>
                <a:latin typeface="+mj-lt"/>
              </a:rPr>
              <a:t>Deductible Amount, the Maximum Out of Pocket Amount, the Maximum Paid </a:t>
            </a:r>
            <a:r>
              <a:rPr lang="en-US" sz="1600" b="0" dirty="0" smtClean="0">
                <a:solidFill>
                  <a:schemeClr val="tx1"/>
                </a:solidFill>
                <a:latin typeface="+mj-lt"/>
              </a:rPr>
              <a:t> by </a:t>
            </a:r>
            <a:r>
              <a:rPr lang="en-US" sz="1600" b="0" dirty="0">
                <a:solidFill>
                  <a:schemeClr val="tx1"/>
                </a:solidFill>
                <a:latin typeface="+mj-lt"/>
              </a:rPr>
              <a:t>Plan </a:t>
            </a:r>
            <a:r>
              <a:rPr lang="en-US" sz="1600" b="0" dirty="0" smtClean="0">
                <a:solidFill>
                  <a:schemeClr val="tx1"/>
                </a:solidFill>
                <a:latin typeface="+mj-lt"/>
              </a:rPr>
              <a:t>Amount</a:t>
            </a:r>
          </a:p>
          <a:p>
            <a:pPr marL="0" indent="0" algn="just">
              <a:buNone/>
            </a:pPr>
            <a:endParaRPr lang="en-US" sz="1600" b="0" dirty="0">
              <a:solidFill>
                <a:schemeClr val="tx1"/>
              </a:solidFill>
              <a:latin typeface="+mj-lt"/>
            </a:endParaRPr>
          </a:p>
          <a:p>
            <a:pPr algn="just">
              <a:buFont typeface="Wingdings" panose="05000000000000000000" pitchFamily="2" charset="2"/>
              <a:buChar char="q"/>
            </a:pPr>
            <a:r>
              <a:rPr lang="en-US" dirty="0"/>
              <a:t>Family limit: </a:t>
            </a:r>
            <a:endParaRPr lang="en-US" dirty="0" smtClean="0"/>
          </a:p>
          <a:p>
            <a:pPr marL="0" indent="0" algn="just">
              <a:buNone/>
            </a:pPr>
            <a:r>
              <a:rPr lang="en-US" sz="1600" b="0" dirty="0" smtClean="0">
                <a:solidFill>
                  <a:schemeClr val="tx1"/>
                </a:solidFill>
                <a:latin typeface="+mj-lt"/>
              </a:rPr>
              <a:t>            The </a:t>
            </a:r>
            <a:r>
              <a:rPr lang="en-US" sz="1600" b="0" dirty="0">
                <a:solidFill>
                  <a:schemeClr val="tx1"/>
                </a:solidFill>
                <a:latin typeface="+mj-lt"/>
              </a:rPr>
              <a:t>total accumulated amounts up to the current date for Family/Member Paid, Plan Paid, and Family/Member Excluded Amounts; the date the Deductible, Plan Maximum, and Maximum Out of Pocket was met; and the Number of Scripts</a:t>
            </a:r>
          </a:p>
        </p:txBody>
      </p:sp>
      <p:sp>
        <p:nvSpPr>
          <p:cNvPr id="4" name="Slide Number Placeholder 3"/>
          <p:cNvSpPr>
            <a:spLocks noGrp="1"/>
          </p:cNvSpPr>
          <p:nvPr>
            <p:ph type="sldNum" sz="quarter" idx="12"/>
          </p:nvPr>
        </p:nvSpPr>
        <p:spPr/>
        <p:txBody>
          <a:bodyPr/>
          <a:lstStyle/>
          <a:p>
            <a:fld id="{FA697448-FA31-4949-9864-F7BD87D6893B}" type="slidenum">
              <a:rPr lang="en-US" smtClean="0"/>
              <a:pPr/>
              <a:t>6</a:t>
            </a:fld>
            <a:endParaRPr lang="en-US" dirty="0"/>
          </a:p>
        </p:txBody>
      </p:sp>
      <p:sp>
        <p:nvSpPr>
          <p:cNvPr id="7" name="Title 6"/>
          <p:cNvSpPr>
            <a:spLocks noGrp="1"/>
          </p:cNvSpPr>
          <p:nvPr>
            <p:ph type="title"/>
          </p:nvPr>
        </p:nvSpPr>
        <p:spPr>
          <a:xfrm>
            <a:off x="609600" y="0"/>
            <a:ext cx="8077200" cy="800100"/>
          </a:xfrm>
        </p:spPr>
        <p:txBody>
          <a:bodyPr/>
          <a:lstStyle/>
          <a:p>
            <a:pPr algn="ctr">
              <a:defRPr/>
            </a:pPr>
            <a:r>
              <a:rPr lang="en-US" sz="3600" b="0" dirty="0" smtClean="0">
                <a:latin typeface="Verdana" pitchFamily="34" charset="0"/>
              </a:rPr>
              <a:t>Accumulator Parameters</a:t>
            </a:r>
            <a:endParaRPr lang="en-IN" sz="3600" kern="0" dirty="0">
              <a:latin typeface="Verdana" pitchFamily="34" charset="0"/>
            </a:endParaRPr>
          </a:p>
        </p:txBody>
      </p:sp>
    </p:spTree>
    <p:extLst>
      <p:ext uri="{BB962C8B-B14F-4D97-AF65-F5344CB8AC3E}">
        <p14:creationId xmlns:p14="http://schemas.microsoft.com/office/powerpoint/2010/main" val="34069567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42950"/>
            <a:ext cx="7391400" cy="4400550"/>
          </a:xfrm>
        </p:spPr>
        <p:txBody>
          <a:bodyPr/>
          <a:lstStyle/>
          <a:p>
            <a:pPr>
              <a:buFont typeface="Wingdings" panose="05000000000000000000" pitchFamily="2" charset="2"/>
              <a:buChar char="q"/>
            </a:pPr>
            <a:r>
              <a:rPr lang="en-US" sz="1600" dirty="0" smtClean="0"/>
              <a:t>Family </a:t>
            </a:r>
            <a:r>
              <a:rPr lang="en-US" sz="1600" dirty="0"/>
              <a:t>aggregate:</a:t>
            </a:r>
          </a:p>
          <a:p>
            <a:pPr marL="0" indent="0" algn="just">
              <a:buNone/>
            </a:pPr>
            <a:r>
              <a:rPr lang="en-US" sz="1600" b="0" dirty="0">
                <a:solidFill>
                  <a:schemeClr val="tx1"/>
                </a:solidFill>
                <a:latin typeface="+mj-lt"/>
              </a:rPr>
              <a:t>Determines the method by which claims are applied to the family limit for the specified accumulation bucket</a:t>
            </a:r>
            <a:r>
              <a:rPr lang="en-US" sz="1600" b="0" dirty="0" smtClean="0">
                <a:solidFill>
                  <a:schemeClr val="tx1"/>
                </a:solidFill>
                <a:latin typeface="+mj-lt"/>
              </a:rPr>
              <a:t>.</a:t>
            </a:r>
          </a:p>
          <a:p>
            <a:pPr marL="0" indent="0" algn="just">
              <a:buNone/>
            </a:pPr>
            <a:endParaRPr lang="en-US" sz="1600" b="0" dirty="0">
              <a:solidFill>
                <a:schemeClr val="tx1"/>
              </a:solidFill>
              <a:latin typeface="+mj-lt"/>
            </a:endParaRPr>
          </a:p>
          <a:p>
            <a:pPr marL="0" indent="0" algn="just">
              <a:buNone/>
            </a:pPr>
            <a:r>
              <a:rPr lang="en-US" sz="1600" b="0" dirty="0">
                <a:solidFill>
                  <a:schemeClr val="tx1"/>
                </a:solidFill>
                <a:latin typeface="+mj-lt"/>
              </a:rPr>
              <a:t>Blank	No family maximum exists for the specified accumulation bucket</a:t>
            </a:r>
            <a:r>
              <a:rPr lang="en-US" sz="1600" b="0" dirty="0" smtClean="0">
                <a:solidFill>
                  <a:schemeClr val="tx1"/>
                </a:solidFill>
                <a:latin typeface="+mj-lt"/>
              </a:rPr>
              <a:t>.</a:t>
            </a:r>
          </a:p>
          <a:p>
            <a:pPr marL="0" indent="0" algn="just">
              <a:buNone/>
            </a:pPr>
            <a:endParaRPr lang="en-US" sz="1600" b="0" dirty="0">
              <a:solidFill>
                <a:schemeClr val="tx1"/>
              </a:solidFill>
              <a:latin typeface="+mj-lt"/>
            </a:endParaRPr>
          </a:p>
          <a:p>
            <a:pPr algn="just">
              <a:buFont typeface="Wingdings" panose="05000000000000000000" pitchFamily="2" charset="2"/>
              <a:buChar char="Ø"/>
            </a:pPr>
            <a:r>
              <a:rPr lang="en-US" sz="1600" dirty="0" smtClean="0"/>
              <a:t>1    One </a:t>
            </a:r>
            <a:r>
              <a:rPr lang="en-US" sz="1600" dirty="0"/>
              <a:t>plus </a:t>
            </a:r>
            <a:r>
              <a:rPr lang="en-US" sz="1600" dirty="0" smtClean="0"/>
              <a:t>Aggregate</a:t>
            </a:r>
            <a:r>
              <a:rPr lang="en-US" sz="1600" dirty="0" smtClean="0">
                <a:solidFill>
                  <a:schemeClr val="tx1"/>
                </a:solidFill>
                <a:latin typeface="+mj-lt"/>
              </a:rPr>
              <a:t>.   </a:t>
            </a:r>
            <a:r>
              <a:rPr lang="en-US" sz="1600" b="0" dirty="0" smtClean="0">
                <a:solidFill>
                  <a:schemeClr val="tx1"/>
                </a:solidFill>
                <a:latin typeface="+mj-lt"/>
              </a:rPr>
              <a:t>One </a:t>
            </a:r>
            <a:r>
              <a:rPr lang="en-US" sz="1600" b="0" dirty="0">
                <a:solidFill>
                  <a:schemeClr val="tx1"/>
                </a:solidFill>
                <a:latin typeface="+mj-lt"/>
              </a:rPr>
              <a:t>family member must meet the individual maximum for the specified accumulation bucket. Remaining family members must combine amounts to meet the family maximum for that accumulation bucket.</a:t>
            </a:r>
          </a:p>
          <a:p>
            <a:pPr algn="just">
              <a:buAutoNum type="arabicPlain"/>
            </a:pPr>
            <a:endParaRPr lang="en-US" sz="1600" b="0" dirty="0">
              <a:solidFill>
                <a:schemeClr val="tx1"/>
              </a:solidFill>
              <a:latin typeface="+mj-lt"/>
            </a:endParaRPr>
          </a:p>
          <a:p>
            <a:pPr algn="just">
              <a:buFont typeface="Wingdings" panose="05000000000000000000" pitchFamily="2" charset="2"/>
              <a:buChar char="Ø"/>
            </a:pPr>
            <a:r>
              <a:rPr lang="en-US" sz="1600" dirty="0" smtClean="0"/>
              <a:t>2  Two </a:t>
            </a:r>
            <a:r>
              <a:rPr lang="en-US" sz="1600" dirty="0"/>
              <a:t>per </a:t>
            </a:r>
            <a:r>
              <a:rPr lang="en-US" sz="1600" dirty="0" smtClean="0"/>
              <a:t>Family</a:t>
            </a:r>
            <a:r>
              <a:rPr lang="en-US" sz="1600" b="0" dirty="0" smtClean="0">
                <a:solidFill>
                  <a:schemeClr val="tx1"/>
                </a:solidFill>
                <a:latin typeface="+mj-lt"/>
              </a:rPr>
              <a:t>.  Two </a:t>
            </a:r>
            <a:r>
              <a:rPr lang="en-US" sz="1600" b="0" dirty="0">
                <a:solidFill>
                  <a:schemeClr val="tx1"/>
                </a:solidFill>
                <a:latin typeface="+mj-lt"/>
              </a:rPr>
              <a:t>family members must each meet the individual maximum for the specified accumulation bucket. Remaining family members must combine amounts to meet the family maximum for that accumulation bucket</a:t>
            </a:r>
            <a:r>
              <a:rPr lang="en-US" sz="1600" b="0" dirty="0"/>
              <a:t>.</a:t>
            </a:r>
          </a:p>
          <a:p>
            <a:pPr marL="285750" indent="-285750">
              <a:buFont typeface="Arial" panose="020B0604020202020204" pitchFamily="34" charset="0"/>
              <a:buChar char="•"/>
            </a:pPr>
            <a:endParaRPr lang="en-US" sz="1600" b="0" dirty="0"/>
          </a:p>
          <a:p>
            <a:pPr marL="285750" indent="-285750">
              <a:buFont typeface="Arial" panose="020B0604020202020204" pitchFamily="34" charset="0"/>
              <a:buChar char="•"/>
            </a:pPr>
            <a:endParaRPr lang="en-US" sz="1600" b="0" dirty="0">
              <a:solidFill>
                <a:schemeClr val="tx1"/>
              </a:solidFill>
              <a:latin typeface="+mj-lt"/>
            </a:endParaRPr>
          </a:p>
        </p:txBody>
      </p:sp>
      <p:sp>
        <p:nvSpPr>
          <p:cNvPr id="4" name="Slide Number Placeholder 3"/>
          <p:cNvSpPr>
            <a:spLocks noGrp="1"/>
          </p:cNvSpPr>
          <p:nvPr>
            <p:ph type="sldNum" sz="quarter" idx="12"/>
          </p:nvPr>
        </p:nvSpPr>
        <p:spPr/>
        <p:txBody>
          <a:bodyPr/>
          <a:lstStyle/>
          <a:p>
            <a:fld id="{FA697448-FA31-4949-9864-F7BD87D6893B}" type="slidenum">
              <a:rPr lang="en-US" smtClean="0"/>
              <a:pPr/>
              <a:t>7</a:t>
            </a:fld>
            <a:endParaRPr lang="en-US" dirty="0"/>
          </a:p>
        </p:txBody>
      </p:sp>
      <p:sp>
        <p:nvSpPr>
          <p:cNvPr id="7" name="Title 6"/>
          <p:cNvSpPr>
            <a:spLocks noGrp="1"/>
          </p:cNvSpPr>
          <p:nvPr>
            <p:ph type="title"/>
          </p:nvPr>
        </p:nvSpPr>
        <p:spPr>
          <a:xfrm>
            <a:off x="609600" y="0"/>
            <a:ext cx="8077200" cy="800100"/>
          </a:xfrm>
        </p:spPr>
        <p:txBody>
          <a:bodyPr/>
          <a:lstStyle/>
          <a:p>
            <a:pPr algn="ctr">
              <a:defRPr/>
            </a:pPr>
            <a:r>
              <a:rPr lang="en-US" sz="3600" b="0" dirty="0" smtClean="0">
                <a:latin typeface="Verdana" pitchFamily="34" charset="0"/>
              </a:rPr>
              <a:t>Accumulator Parameters</a:t>
            </a:r>
            <a:endParaRPr lang="en-IN" sz="3600" kern="0" dirty="0">
              <a:latin typeface="Verdana" pitchFamily="34" charset="0"/>
            </a:endParaRPr>
          </a:p>
        </p:txBody>
      </p:sp>
    </p:spTree>
    <p:extLst>
      <p:ext uri="{BB962C8B-B14F-4D97-AF65-F5344CB8AC3E}">
        <p14:creationId xmlns:p14="http://schemas.microsoft.com/office/powerpoint/2010/main" val="14585142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42950"/>
            <a:ext cx="7391400" cy="4400550"/>
          </a:xfrm>
        </p:spPr>
        <p:txBody>
          <a:bodyPr/>
          <a:lstStyle/>
          <a:p>
            <a:pPr>
              <a:buFont typeface="Wingdings" panose="05000000000000000000" pitchFamily="2" charset="2"/>
              <a:buChar char="q"/>
            </a:pPr>
            <a:r>
              <a:rPr lang="en-US" sz="1600" dirty="0" smtClean="0"/>
              <a:t>Family </a:t>
            </a:r>
            <a:r>
              <a:rPr lang="en-US" sz="1600" dirty="0"/>
              <a:t>aggregate</a:t>
            </a:r>
            <a:r>
              <a:rPr lang="en-US" sz="1600" dirty="0" smtClean="0"/>
              <a:t>:</a:t>
            </a:r>
          </a:p>
          <a:p>
            <a:pPr marL="285750" indent="-285750">
              <a:buFont typeface="Arial" panose="020B0604020202020204" pitchFamily="34" charset="0"/>
              <a:buChar char="•"/>
            </a:pPr>
            <a:endParaRPr lang="en-US" sz="1600" dirty="0"/>
          </a:p>
          <a:p>
            <a:pPr>
              <a:buFont typeface="Wingdings" panose="05000000000000000000" pitchFamily="2" charset="2"/>
              <a:buChar char="Ø"/>
            </a:pPr>
            <a:r>
              <a:rPr lang="en-US" sz="1600" dirty="0" smtClean="0"/>
              <a:t>3  Family</a:t>
            </a:r>
            <a:r>
              <a:rPr lang="en-US" sz="1600" b="0" dirty="0">
                <a:solidFill>
                  <a:schemeClr val="tx1"/>
                </a:solidFill>
                <a:latin typeface="+mj-lt"/>
              </a:rPr>
              <a:t>. </a:t>
            </a:r>
            <a:r>
              <a:rPr lang="en-US" sz="1600" b="0" dirty="0" smtClean="0">
                <a:solidFill>
                  <a:schemeClr val="tx1"/>
                </a:solidFill>
                <a:latin typeface="+mj-lt"/>
              </a:rPr>
              <a:t>All </a:t>
            </a:r>
            <a:r>
              <a:rPr lang="en-US" sz="1600" b="0" dirty="0">
                <a:solidFill>
                  <a:schemeClr val="tx1"/>
                </a:solidFill>
                <a:latin typeface="+mj-lt"/>
              </a:rPr>
              <a:t>family members must combine amounts to meet the family maximum for the specified accumulation bucket. No one family member contributes more than the individual maximum for that accumulation bucket toward the family </a:t>
            </a:r>
            <a:r>
              <a:rPr lang="en-US" sz="1600" b="0" dirty="0" smtClean="0">
                <a:solidFill>
                  <a:schemeClr val="tx1"/>
                </a:solidFill>
                <a:latin typeface="+mj-lt"/>
              </a:rPr>
              <a:t>maximum</a:t>
            </a:r>
          </a:p>
          <a:p>
            <a:endParaRPr lang="en-US" sz="1600" b="0" dirty="0">
              <a:solidFill>
                <a:schemeClr val="tx1"/>
              </a:solidFill>
              <a:latin typeface="+mj-lt"/>
            </a:endParaRPr>
          </a:p>
          <a:p>
            <a:pPr>
              <a:buFont typeface="Wingdings" panose="05000000000000000000" pitchFamily="2" charset="2"/>
              <a:buChar char="Ø"/>
            </a:pPr>
            <a:r>
              <a:rPr lang="en-US" sz="1600" dirty="0"/>
              <a:t>4  Three per Family</a:t>
            </a:r>
            <a:r>
              <a:rPr lang="en-US" sz="1600" b="0" dirty="0">
                <a:solidFill>
                  <a:schemeClr val="tx1"/>
                </a:solidFill>
                <a:latin typeface="+mj-lt"/>
              </a:rPr>
              <a:t>. Three family members must each meet the individual maximum for the specified accumulation bucket. Remaining family members must combine amounts to meet the family maximum for that accumulation bucket</a:t>
            </a:r>
            <a:r>
              <a:rPr lang="en-US" sz="1600" b="0" dirty="0" smtClean="0">
                <a:solidFill>
                  <a:schemeClr val="tx1"/>
                </a:solidFill>
                <a:latin typeface="+mj-lt"/>
              </a:rPr>
              <a:t>.</a:t>
            </a:r>
          </a:p>
          <a:p>
            <a:endParaRPr lang="en-US" sz="1600" b="0" dirty="0">
              <a:solidFill>
                <a:schemeClr val="tx1"/>
              </a:solidFill>
              <a:latin typeface="+mj-lt"/>
            </a:endParaRPr>
          </a:p>
          <a:p>
            <a:pPr>
              <a:buFont typeface="Wingdings" panose="05000000000000000000" pitchFamily="2" charset="2"/>
              <a:buChar char="Ø"/>
            </a:pPr>
            <a:r>
              <a:rPr lang="en-US" sz="1600" dirty="0"/>
              <a:t>5  Family (No Limit). </a:t>
            </a:r>
            <a:r>
              <a:rPr lang="en-US" sz="1600" b="0" dirty="0">
                <a:solidFill>
                  <a:schemeClr val="tx1"/>
                </a:solidFill>
                <a:latin typeface="+mj-lt"/>
              </a:rPr>
              <a:t>All family members must combine amounts to meet the family maximum for the specified accumulation bucket. Out-of-pocket expense for each individual is applied toward the family maximum. Therefore, an individual may contribute more than the individual maximum for the specified accumulation bucket toward the family maximum accumulation amount for that accumulation bucket.</a:t>
            </a:r>
          </a:p>
          <a:p>
            <a:pPr marL="285750" indent="-285750">
              <a:buFont typeface="Arial" panose="020B0604020202020204" pitchFamily="34" charset="0"/>
              <a:buChar char="•"/>
            </a:pPr>
            <a:endParaRPr lang="en-US" sz="1600" b="0" dirty="0"/>
          </a:p>
          <a:p>
            <a:pPr marL="285750" indent="-285750">
              <a:buFont typeface="Arial" panose="020B0604020202020204" pitchFamily="34" charset="0"/>
              <a:buChar char="•"/>
            </a:pPr>
            <a:endParaRPr lang="en-US" sz="1600" b="0" dirty="0">
              <a:solidFill>
                <a:schemeClr val="tx1"/>
              </a:solidFill>
              <a:latin typeface="+mj-lt"/>
            </a:endParaRPr>
          </a:p>
        </p:txBody>
      </p:sp>
      <p:sp>
        <p:nvSpPr>
          <p:cNvPr id="4" name="Slide Number Placeholder 3"/>
          <p:cNvSpPr>
            <a:spLocks noGrp="1"/>
          </p:cNvSpPr>
          <p:nvPr>
            <p:ph type="sldNum" sz="quarter" idx="12"/>
          </p:nvPr>
        </p:nvSpPr>
        <p:spPr/>
        <p:txBody>
          <a:bodyPr/>
          <a:lstStyle/>
          <a:p>
            <a:fld id="{FA697448-FA31-4949-9864-F7BD87D6893B}" type="slidenum">
              <a:rPr lang="en-US" smtClean="0"/>
              <a:pPr/>
              <a:t>8</a:t>
            </a:fld>
            <a:endParaRPr lang="en-US" dirty="0"/>
          </a:p>
        </p:txBody>
      </p:sp>
      <p:sp>
        <p:nvSpPr>
          <p:cNvPr id="7" name="Title 6"/>
          <p:cNvSpPr>
            <a:spLocks noGrp="1"/>
          </p:cNvSpPr>
          <p:nvPr>
            <p:ph type="title"/>
          </p:nvPr>
        </p:nvSpPr>
        <p:spPr>
          <a:xfrm>
            <a:off x="609600" y="0"/>
            <a:ext cx="8077200" cy="800100"/>
          </a:xfrm>
        </p:spPr>
        <p:txBody>
          <a:bodyPr/>
          <a:lstStyle/>
          <a:p>
            <a:pPr algn="ctr">
              <a:defRPr/>
            </a:pPr>
            <a:r>
              <a:rPr lang="en-US" sz="3600" b="0" dirty="0" smtClean="0">
                <a:latin typeface="Verdana" pitchFamily="34" charset="0"/>
              </a:rPr>
              <a:t>Accumulator Parameters</a:t>
            </a:r>
            <a:endParaRPr lang="en-IN" sz="3600" kern="0" dirty="0">
              <a:latin typeface="Verdana" pitchFamily="34" charset="0"/>
            </a:endParaRPr>
          </a:p>
        </p:txBody>
      </p:sp>
    </p:spTree>
    <p:extLst>
      <p:ext uri="{BB962C8B-B14F-4D97-AF65-F5344CB8AC3E}">
        <p14:creationId xmlns:p14="http://schemas.microsoft.com/office/powerpoint/2010/main" val="26039121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42950"/>
            <a:ext cx="7391400" cy="4400550"/>
          </a:xfrm>
        </p:spPr>
        <p:txBody>
          <a:bodyPr/>
          <a:lstStyle/>
          <a:p>
            <a:pPr algn="just">
              <a:buFont typeface="Wingdings" panose="05000000000000000000" pitchFamily="2" charset="2"/>
              <a:buChar char="q"/>
            </a:pPr>
            <a:r>
              <a:rPr lang="en-US" sz="1600" dirty="0"/>
              <a:t>Medical/Rx:</a:t>
            </a:r>
          </a:p>
          <a:p>
            <a:pPr algn="just"/>
            <a:endParaRPr lang="en-US" sz="1600" dirty="0"/>
          </a:p>
          <a:p>
            <a:pPr marL="0" indent="0" algn="just">
              <a:buNone/>
            </a:pPr>
            <a:r>
              <a:rPr lang="en-US" sz="1600" b="0" dirty="0">
                <a:solidFill>
                  <a:schemeClr val="tx1"/>
                </a:solidFill>
                <a:latin typeface="+mj-lt"/>
              </a:rPr>
              <a:t>Indicates the type of dollar accumulation bucket Deduct ID includes.</a:t>
            </a:r>
          </a:p>
          <a:p>
            <a:pPr marL="0" indent="0" algn="just">
              <a:buNone/>
            </a:pPr>
            <a:r>
              <a:rPr lang="en-US" sz="1600" b="0" dirty="0">
                <a:solidFill>
                  <a:schemeClr val="tx1"/>
                </a:solidFill>
                <a:latin typeface="+mj-lt"/>
              </a:rPr>
              <a:t>A	(All) Combined medical and pharmacy dollar accumulation bucket</a:t>
            </a:r>
          </a:p>
          <a:p>
            <a:pPr marL="0" indent="0" algn="just">
              <a:buNone/>
            </a:pPr>
            <a:r>
              <a:rPr lang="en-US" sz="1600" b="0" dirty="0">
                <a:solidFill>
                  <a:schemeClr val="tx1"/>
                </a:solidFill>
                <a:latin typeface="+mj-lt"/>
              </a:rPr>
              <a:t>M	Medical dollar accumulation bucket</a:t>
            </a:r>
          </a:p>
          <a:p>
            <a:pPr marL="0" indent="0" algn="just">
              <a:buNone/>
            </a:pPr>
            <a:r>
              <a:rPr lang="en-US" sz="1600" b="0" dirty="0">
                <a:solidFill>
                  <a:schemeClr val="tx1"/>
                </a:solidFill>
                <a:latin typeface="+mj-lt"/>
              </a:rPr>
              <a:t>P	Pharmacy (prescription) dollar accumulation bucket</a:t>
            </a:r>
          </a:p>
          <a:p>
            <a:pPr marL="0" indent="0" algn="just">
              <a:buNone/>
            </a:pPr>
            <a:r>
              <a:rPr lang="en-US" sz="1600" b="0" dirty="0"/>
              <a:t> </a:t>
            </a:r>
          </a:p>
          <a:p>
            <a:pPr algn="just">
              <a:buFont typeface="Wingdings" panose="05000000000000000000" pitchFamily="2" charset="2"/>
              <a:buChar char="q"/>
            </a:pPr>
            <a:r>
              <a:rPr lang="en-US" sz="1600" dirty="0"/>
              <a:t>In/Out Network:</a:t>
            </a:r>
          </a:p>
          <a:p>
            <a:pPr algn="just"/>
            <a:endParaRPr lang="en-US" sz="1600" b="0" dirty="0">
              <a:solidFill>
                <a:schemeClr val="tx1"/>
              </a:solidFill>
              <a:latin typeface="+mj-lt"/>
            </a:endParaRPr>
          </a:p>
          <a:p>
            <a:pPr marL="0" indent="0" algn="just">
              <a:buNone/>
            </a:pPr>
            <a:r>
              <a:rPr lang="en-US" sz="1600" b="0" dirty="0">
                <a:solidFill>
                  <a:schemeClr val="tx1"/>
                </a:solidFill>
                <a:latin typeface="+mj-lt"/>
              </a:rPr>
              <a:t>Identifies a pharmacy as being in or out of the plan’s pharmacy network</a:t>
            </a:r>
          </a:p>
          <a:p>
            <a:pPr marL="0" indent="0" algn="just">
              <a:buNone/>
            </a:pPr>
            <a:r>
              <a:rPr lang="en-US" sz="1600" b="0" dirty="0">
                <a:solidFill>
                  <a:schemeClr val="tx1"/>
                </a:solidFill>
                <a:latin typeface="+mj-lt"/>
              </a:rPr>
              <a:t>I	In Network</a:t>
            </a:r>
          </a:p>
          <a:p>
            <a:pPr marL="0" indent="0" algn="just">
              <a:buNone/>
            </a:pPr>
            <a:r>
              <a:rPr lang="en-US" sz="1600" b="0" dirty="0">
                <a:solidFill>
                  <a:schemeClr val="tx1"/>
                </a:solidFill>
                <a:latin typeface="+mj-lt"/>
              </a:rPr>
              <a:t>O	Out of Network</a:t>
            </a:r>
          </a:p>
          <a:p>
            <a:pPr marL="285750" indent="-285750">
              <a:buFont typeface="Arial" panose="020B0604020202020204" pitchFamily="34" charset="0"/>
              <a:buChar char="•"/>
            </a:pPr>
            <a:endParaRPr lang="en-US" sz="1600" b="0" dirty="0">
              <a:solidFill>
                <a:schemeClr val="tx1"/>
              </a:solidFill>
              <a:latin typeface="+mj-lt"/>
            </a:endParaRPr>
          </a:p>
        </p:txBody>
      </p:sp>
      <p:sp>
        <p:nvSpPr>
          <p:cNvPr id="4" name="Slide Number Placeholder 3"/>
          <p:cNvSpPr>
            <a:spLocks noGrp="1"/>
          </p:cNvSpPr>
          <p:nvPr>
            <p:ph type="sldNum" sz="quarter" idx="12"/>
          </p:nvPr>
        </p:nvSpPr>
        <p:spPr/>
        <p:txBody>
          <a:bodyPr/>
          <a:lstStyle/>
          <a:p>
            <a:fld id="{FA697448-FA31-4949-9864-F7BD87D6893B}" type="slidenum">
              <a:rPr lang="en-US" smtClean="0"/>
              <a:pPr/>
              <a:t>9</a:t>
            </a:fld>
            <a:endParaRPr lang="en-US" dirty="0"/>
          </a:p>
        </p:txBody>
      </p:sp>
      <p:sp>
        <p:nvSpPr>
          <p:cNvPr id="7" name="Title 6"/>
          <p:cNvSpPr>
            <a:spLocks noGrp="1"/>
          </p:cNvSpPr>
          <p:nvPr>
            <p:ph type="title"/>
          </p:nvPr>
        </p:nvSpPr>
        <p:spPr>
          <a:xfrm>
            <a:off x="609600" y="0"/>
            <a:ext cx="8077200" cy="800100"/>
          </a:xfrm>
        </p:spPr>
        <p:txBody>
          <a:bodyPr/>
          <a:lstStyle/>
          <a:p>
            <a:pPr algn="ctr">
              <a:defRPr/>
            </a:pPr>
            <a:r>
              <a:rPr lang="en-US" sz="3600" b="0" dirty="0" smtClean="0">
                <a:latin typeface="Verdana" pitchFamily="34" charset="0"/>
              </a:rPr>
              <a:t>Accumulator Criteria</a:t>
            </a:r>
            <a:endParaRPr lang="en-IN" sz="3600" kern="0" dirty="0">
              <a:latin typeface="Verdana" pitchFamily="34" charset="0"/>
            </a:endParaRPr>
          </a:p>
        </p:txBody>
      </p:sp>
    </p:spTree>
    <p:extLst>
      <p:ext uri="{BB962C8B-B14F-4D97-AF65-F5344CB8AC3E}">
        <p14:creationId xmlns:p14="http://schemas.microsoft.com/office/powerpoint/2010/main" val="835984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42950"/>
            <a:ext cx="7391400" cy="4400550"/>
          </a:xfrm>
        </p:spPr>
        <p:txBody>
          <a:bodyPr/>
          <a:lstStyle/>
          <a:p>
            <a:pPr>
              <a:buFont typeface="Wingdings" panose="05000000000000000000" pitchFamily="2" charset="2"/>
              <a:buChar char="q"/>
            </a:pPr>
            <a:r>
              <a:rPr lang="en-US" sz="1600" dirty="0" smtClean="0"/>
              <a:t>Retail/Mail </a:t>
            </a:r>
            <a:r>
              <a:rPr lang="en-US" sz="1600" dirty="0"/>
              <a:t>order:</a:t>
            </a:r>
          </a:p>
          <a:p>
            <a:endParaRPr lang="en-US" sz="1600" dirty="0"/>
          </a:p>
          <a:p>
            <a:pPr marL="0" indent="0">
              <a:buNone/>
            </a:pPr>
            <a:r>
              <a:rPr lang="en-US" sz="1600" b="0" dirty="0">
                <a:solidFill>
                  <a:schemeClr val="tx1"/>
                </a:solidFill>
                <a:latin typeface="+mj-lt"/>
              </a:rPr>
              <a:t>Indicates the type of claim accumulation bucket the Deduct ID includes.</a:t>
            </a:r>
          </a:p>
          <a:p>
            <a:pPr marL="0" indent="0">
              <a:buNone/>
            </a:pPr>
            <a:r>
              <a:rPr lang="en-US" sz="1600" b="0" dirty="0">
                <a:solidFill>
                  <a:schemeClr val="tx1"/>
                </a:solidFill>
                <a:latin typeface="+mj-lt"/>
              </a:rPr>
              <a:t>A	All claims</a:t>
            </a:r>
          </a:p>
          <a:p>
            <a:pPr marL="0" indent="0">
              <a:buNone/>
            </a:pPr>
            <a:r>
              <a:rPr lang="en-US" sz="1600" b="0" dirty="0">
                <a:solidFill>
                  <a:schemeClr val="tx1"/>
                </a:solidFill>
                <a:latin typeface="+mj-lt"/>
              </a:rPr>
              <a:t>M	Mail order claim accumulation bucket</a:t>
            </a:r>
          </a:p>
          <a:p>
            <a:pPr marL="0" indent="0">
              <a:buNone/>
            </a:pPr>
            <a:r>
              <a:rPr lang="en-US" sz="1600" b="0" dirty="0">
                <a:solidFill>
                  <a:schemeClr val="tx1"/>
                </a:solidFill>
                <a:latin typeface="+mj-lt"/>
              </a:rPr>
              <a:t>R	Retail claim accumulation bucket</a:t>
            </a:r>
          </a:p>
          <a:p>
            <a:pPr marL="0" indent="0">
              <a:buNone/>
            </a:pPr>
            <a:r>
              <a:rPr lang="en-US" sz="1600" dirty="0"/>
              <a:t> </a:t>
            </a:r>
          </a:p>
          <a:p>
            <a:pPr>
              <a:buFont typeface="Wingdings" panose="05000000000000000000" pitchFamily="2" charset="2"/>
              <a:buChar char="q"/>
            </a:pPr>
            <a:r>
              <a:rPr lang="en-US" sz="1600" dirty="0"/>
              <a:t>Brand/Generic:</a:t>
            </a:r>
          </a:p>
          <a:p>
            <a:endParaRPr lang="en-US" sz="1600" dirty="0"/>
          </a:p>
          <a:p>
            <a:pPr marL="0" indent="0">
              <a:buNone/>
            </a:pPr>
            <a:r>
              <a:rPr lang="en-US" sz="1600" b="0" dirty="0">
                <a:solidFill>
                  <a:schemeClr val="tx1"/>
                </a:solidFill>
                <a:latin typeface="+mj-lt"/>
              </a:rPr>
              <a:t>Indicates whether the Deduct ID includes a brand drug claim accumulation bucket, a generic drug accumulation bucket or all claims</a:t>
            </a:r>
          </a:p>
          <a:p>
            <a:pPr marL="0" indent="0">
              <a:buNone/>
            </a:pPr>
            <a:r>
              <a:rPr lang="en-US" sz="1600" b="0" dirty="0">
                <a:solidFill>
                  <a:schemeClr val="tx1"/>
                </a:solidFill>
                <a:latin typeface="+mj-lt"/>
              </a:rPr>
              <a:t>A	All claims</a:t>
            </a:r>
          </a:p>
          <a:p>
            <a:pPr marL="0" indent="0">
              <a:buNone/>
            </a:pPr>
            <a:r>
              <a:rPr lang="en-US" sz="1600" b="0" dirty="0">
                <a:solidFill>
                  <a:schemeClr val="tx1"/>
                </a:solidFill>
                <a:latin typeface="+mj-lt"/>
              </a:rPr>
              <a:t>B	Brand drug accumulation bucket</a:t>
            </a:r>
          </a:p>
          <a:p>
            <a:pPr marL="0" indent="0">
              <a:buNone/>
            </a:pPr>
            <a:r>
              <a:rPr lang="en-US" sz="1600" b="0" dirty="0">
                <a:solidFill>
                  <a:schemeClr val="tx1"/>
                </a:solidFill>
                <a:latin typeface="+mj-lt"/>
              </a:rPr>
              <a:t>G	Generic drug accumulation bucket</a:t>
            </a:r>
          </a:p>
          <a:p>
            <a:pPr marL="0" indent="0" algn="just">
              <a:buNone/>
            </a:pPr>
            <a:endParaRPr lang="en-US" sz="1600" b="0" dirty="0">
              <a:solidFill>
                <a:schemeClr val="tx1"/>
              </a:solidFill>
              <a:latin typeface="+mj-lt"/>
            </a:endParaRPr>
          </a:p>
          <a:p>
            <a:pPr marL="285750" indent="-285750">
              <a:buFont typeface="Arial" panose="020B0604020202020204" pitchFamily="34" charset="0"/>
              <a:buChar char="•"/>
            </a:pPr>
            <a:endParaRPr lang="en-US" sz="1600" b="0" dirty="0">
              <a:solidFill>
                <a:schemeClr val="tx1"/>
              </a:solidFill>
              <a:latin typeface="+mj-lt"/>
            </a:endParaRPr>
          </a:p>
        </p:txBody>
      </p:sp>
      <p:sp>
        <p:nvSpPr>
          <p:cNvPr id="4" name="Slide Number Placeholder 3"/>
          <p:cNvSpPr>
            <a:spLocks noGrp="1"/>
          </p:cNvSpPr>
          <p:nvPr>
            <p:ph type="sldNum" sz="quarter" idx="12"/>
          </p:nvPr>
        </p:nvSpPr>
        <p:spPr/>
        <p:txBody>
          <a:bodyPr/>
          <a:lstStyle/>
          <a:p>
            <a:fld id="{FA697448-FA31-4949-9864-F7BD87D6893B}" type="slidenum">
              <a:rPr lang="en-US" smtClean="0"/>
              <a:pPr/>
              <a:t>10</a:t>
            </a:fld>
            <a:endParaRPr lang="en-US" dirty="0"/>
          </a:p>
        </p:txBody>
      </p:sp>
      <p:sp>
        <p:nvSpPr>
          <p:cNvPr id="7" name="Title 6"/>
          <p:cNvSpPr>
            <a:spLocks noGrp="1"/>
          </p:cNvSpPr>
          <p:nvPr>
            <p:ph type="title"/>
          </p:nvPr>
        </p:nvSpPr>
        <p:spPr>
          <a:xfrm>
            <a:off x="609600" y="0"/>
            <a:ext cx="8077200" cy="800100"/>
          </a:xfrm>
        </p:spPr>
        <p:txBody>
          <a:bodyPr/>
          <a:lstStyle/>
          <a:p>
            <a:pPr algn="ctr">
              <a:defRPr/>
            </a:pPr>
            <a:r>
              <a:rPr lang="en-US" sz="3600" b="0" dirty="0" smtClean="0">
                <a:latin typeface="Verdana" pitchFamily="34" charset="0"/>
              </a:rPr>
              <a:t>Accumulator Criteria</a:t>
            </a:r>
            <a:endParaRPr lang="en-IN" sz="3600" kern="0" dirty="0">
              <a:latin typeface="Verdana" pitchFamily="34" charset="0"/>
            </a:endParaRPr>
          </a:p>
        </p:txBody>
      </p:sp>
    </p:spTree>
    <p:extLst>
      <p:ext uri="{BB962C8B-B14F-4D97-AF65-F5344CB8AC3E}">
        <p14:creationId xmlns:p14="http://schemas.microsoft.com/office/powerpoint/2010/main" val="16775948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42950"/>
            <a:ext cx="7391400" cy="4400550"/>
          </a:xfrm>
        </p:spPr>
        <p:txBody>
          <a:bodyPr/>
          <a:lstStyle/>
          <a:p>
            <a:pPr marL="0" indent="0">
              <a:buNone/>
            </a:pPr>
            <a:endParaRPr lang="en-US" sz="1600" dirty="0"/>
          </a:p>
          <a:p>
            <a:pPr>
              <a:buFont typeface="Wingdings" panose="05000000000000000000" pitchFamily="2" charset="2"/>
              <a:buChar char="q"/>
            </a:pPr>
            <a:r>
              <a:rPr lang="en-US" sz="1600" dirty="0" smtClean="0"/>
              <a:t>SWRP Accumulator: </a:t>
            </a:r>
            <a:r>
              <a:rPr lang="en-US" sz="1600" b="0" dirty="0">
                <a:solidFill>
                  <a:schemeClr val="tx1"/>
                </a:solidFill>
                <a:latin typeface="+mj-lt"/>
              </a:rPr>
              <a:t>Yes/ No</a:t>
            </a:r>
          </a:p>
          <a:p>
            <a:pPr marL="0" indent="0">
              <a:buNone/>
            </a:pPr>
            <a:endParaRPr lang="en-US" sz="1600" dirty="0"/>
          </a:p>
          <a:p>
            <a:pPr>
              <a:buFont typeface="Wingdings" panose="05000000000000000000" pitchFamily="2" charset="2"/>
              <a:buChar char="q"/>
            </a:pPr>
            <a:r>
              <a:rPr lang="en-US" sz="1600" dirty="0"/>
              <a:t>Family size option: </a:t>
            </a:r>
          </a:p>
          <a:p>
            <a:pPr marL="0" indent="0">
              <a:buNone/>
            </a:pPr>
            <a:r>
              <a:rPr lang="en-US" sz="1600" b="0" dirty="0" smtClean="0">
                <a:solidFill>
                  <a:schemeClr val="tx1"/>
                </a:solidFill>
                <a:latin typeface="+mj-lt"/>
              </a:rPr>
              <a:t>All</a:t>
            </a:r>
            <a:endParaRPr lang="en-US" sz="1600" b="0" dirty="0">
              <a:solidFill>
                <a:schemeClr val="tx1"/>
              </a:solidFill>
              <a:latin typeface="+mj-lt"/>
            </a:endParaRPr>
          </a:p>
          <a:p>
            <a:pPr marL="0" indent="0">
              <a:buNone/>
            </a:pPr>
            <a:r>
              <a:rPr lang="en-US" sz="1600" b="0" dirty="0" smtClean="0">
                <a:solidFill>
                  <a:schemeClr val="tx1"/>
                </a:solidFill>
                <a:latin typeface="+mj-lt"/>
              </a:rPr>
              <a:t>Range</a:t>
            </a:r>
          </a:p>
          <a:p>
            <a:pPr marL="0" indent="0">
              <a:buNone/>
            </a:pPr>
            <a:r>
              <a:rPr lang="en-US" sz="1600" b="0" dirty="0" smtClean="0">
                <a:solidFill>
                  <a:schemeClr val="tx1"/>
                </a:solidFill>
                <a:latin typeface="+mj-lt"/>
              </a:rPr>
              <a:t>Less than</a:t>
            </a:r>
          </a:p>
          <a:p>
            <a:pPr marL="0" indent="0">
              <a:buNone/>
            </a:pPr>
            <a:r>
              <a:rPr lang="en-US" sz="1600" b="0" dirty="0" smtClean="0">
                <a:solidFill>
                  <a:schemeClr val="tx1"/>
                </a:solidFill>
                <a:latin typeface="+mj-lt"/>
              </a:rPr>
              <a:t>Less than Or Equal to</a:t>
            </a:r>
          </a:p>
          <a:p>
            <a:pPr marL="0" indent="0">
              <a:buNone/>
            </a:pPr>
            <a:r>
              <a:rPr lang="en-US" sz="1600" b="0" dirty="0" smtClean="0">
                <a:solidFill>
                  <a:schemeClr val="tx1"/>
                </a:solidFill>
                <a:latin typeface="+mj-lt"/>
              </a:rPr>
              <a:t>Greater than</a:t>
            </a:r>
          </a:p>
          <a:p>
            <a:pPr marL="0" indent="0">
              <a:buNone/>
            </a:pPr>
            <a:r>
              <a:rPr lang="en-US" sz="1600" b="0" dirty="0" smtClean="0">
                <a:solidFill>
                  <a:schemeClr val="tx1"/>
                </a:solidFill>
                <a:latin typeface="+mj-lt"/>
              </a:rPr>
              <a:t>Greater than Or Equal to</a:t>
            </a:r>
          </a:p>
          <a:p>
            <a:pPr marL="0" indent="0">
              <a:buNone/>
            </a:pPr>
            <a:r>
              <a:rPr lang="en-US" sz="1600" b="0" dirty="0" smtClean="0">
                <a:solidFill>
                  <a:schemeClr val="tx1"/>
                </a:solidFill>
                <a:latin typeface="+mj-lt"/>
              </a:rPr>
              <a:t>Equal to</a:t>
            </a:r>
          </a:p>
          <a:p>
            <a:pPr>
              <a:buFont typeface="Wingdings" panose="05000000000000000000" pitchFamily="2" charset="2"/>
              <a:buChar char="q"/>
            </a:pPr>
            <a:endParaRPr lang="en-US" sz="1600" b="0" dirty="0">
              <a:solidFill>
                <a:schemeClr val="tx1"/>
              </a:solidFill>
              <a:latin typeface="+mj-lt"/>
            </a:endParaRPr>
          </a:p>
        </p:txBody>
      </p:sp>
      <p:sp>
        <p:nvSpPr>
          <p:cNvPr id="4" name="Slide Number Placeholder 3"/>
          <p:cNvSpPr>
            <a:spLocks noGrp="1"/>
          </p:cNvSpPr>
          <p:nvPr>
            <p:ph type="sldNum" sz="quarter" idx="12"/>
          </p:nvPr>
        </p:nvSpPr>
        <p:spPr/>
        <p:txBody>
          <a:bodyPr/>
          <a:lstStyle/>
          <a:p>
            <a:fld id="{FA697448-FA31-4949-9864-F7BD87D6893B}" type="slidenum">
              <a:rPr lang="en-US" smtClean="0"/>
              <a:pPr/>
              <a:t>11</a:t>
            </a:fld>
            <a:endParaRPr lang="en-US" dirty="0"/>
          </a:p>
        </p:txBody>
      </p:sp>
      <p:sp>
        <p:nvSpPr>
          <p:cNvPr id="7" name="Title 6"/>
          <p:cNvSpPr>
            <a:spLocks noGrp="1"/>
          </p:cNvSpPr>
          <p:nvPr>
            <p:ph type="title"/>
          </p:nvPr>
        </p:nvSpPr>
        <p:spPr>
          <a:xfrm>
            <a:off x="609600" y="0"/>
            <a:ext cx="8077200" cy="800100"/>
          </a:xfrm>
        </p:spPr>
        <p:txBody>
          <a:bodyPr/>
          <a:lstStyle/>
          <a:p>
            <a:pPr algn="ctr">
              <a:defRPr/>
            </a:pPr>
            <a:r>
              <a:rPr lang="en-US" sz="3600" b="0" dirty="0" smtClean="0">
                <a:latin typeface="Verdana" pitchFamily="34" charset="0"/>
              </a:rPr>
              <a:t>Accumulator Criteria</a:t>
            </a:r>
            <a:endParaRPr lang="en-IN" sz="3600" kern="0" dirty="0">
              <a:latin typeface="Verdana" pitchFamily="34" charset="0"/>
            </a:endParaRPr>
          </a:p>
        </p:txBody>
      </p:sp>
    </p:spTree>
    <p:extLst>
      <p:ext uri="{BB962C8B-B14F-4D97-AF65-F5344CB8AC3E}">
        <p14:creationId xmlns:p14="http://schemas.microsoft.com/office/powerpoint/2010/main" val="16475874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19150"/>
            <a:ext cx="7391400" cy="4400550"/>
          </a:xfrm>
        </p:spPr>
        <p:txBody>
          <a:bodyPr/>
          <a:lstStyle/>
          <a:p>
            <a:pPr>
              <a:buFont typeface="Wingdings" panose="05000000000000000000" pitchFamily="2" charset="2"/>
              <a:buChar char="q"/>
              <a:defRPr/>
            </a:pPr>
            <a:r>
              <a:rPr lang="en-US" sz="1600" dirty="0" smtClean="0"/>
              <a:t>CSR indicator:</a:t>
            </a:r>
          </a:p>
          <a:p>
            <a:pPr marL="0" indent="0">
              <a:buNone/>
              <a:defRPr/>
            </a:pPr>
            <a:r>
              <a:rPr lang="en-US" sz="1600" b="0" dirty="0">
                <a:solidFill>
                  <a:schemeClr val="tx1"/>
                </a:solidFill>
                <a:latin typeface="+mj-lt"/>
              </a:rPr>
              <a:t>ST – Standard</a:t>
            </a:r>
          </a:p>
          <a:p>
            <a:pPr marL="0" indent="0">
              <a:buNone/>
              <a:defRPr/>
            </a:pPr>
            <a:r>
              <a:rPr lang="en-US" sz="1600" b="0" dirty="0">
                <a:solidFill>
                  <a:schemeClr val="tx1"/>
                </a:solidFill>
                <a:latin typeface="+mj-lt"/>
              </a:rPr>
              <a:t>03 – Open to Indians above 300% FPL</a:t>
            </a:r>
          </a:p>
          <a:p>
            <a:pPr marL="0" indent="0">
              <a:buNone/>
              <a:defRPr/>
            </a:pPr>
            <a:r>
              <a:rPr lang="en-US" sz="1600" b="0" dirty="0">
                <a:solidFill>
                  <a:schemeClr val="tx1"/>
                </a:solidFill>
                <a:latin typeface="+mj-lt"/>
              </a:rPr>
              <a:t>04 – 73% AV Level Silver  Plan CSR</a:t>
            </a:r>
          </a:p>
          <a:p>
            <a:pPr marL="0" indent="0">
              <a:buNone/>
              <a:defRPr/>
            </a:pPr>
            <a:r>
              <a:rPr lang="en-US" sz="1600" b="0" dirty="0">
                <a:solidFill>
                  <a:schemeClr val="tx1"/>
                </a:solidFill>
                <a:latin typeface="+mj-lt"/>
              </a:rPr>
              <a:t>05 – 87% AV Level Silver  Plan CSR</a:t>
            </a:r>
          </a:p>
          <a:p>
            <a:pPr marL="0" indent="0">
              <a:buNone/>
              <a:defRPr/>
            </a:pPr>
            <a:r>
              <a:rPr lang="en-US" sz="1600" b="0" dirty="0">
                <a:solidFill>
                  <a:schemeClr val="tx1"/>
                </a:solidFill>
                <a:latin typeface="+mj-lt"/>
              </a:rPr>
              <a:t>06 – 94% AV Level Silver  Plan CSR</a:t>
            </a:r>
          </a:p>
          <a:p>
            <a:pPr>
              <a:buFont typeface="Wingdings" panose="05000000000000000000" pitchFamily="2" charset="2"/>
              <a:buChar char="q"/>
            </a:pPr>
            <a:endParaRPr lang="en-US" sz="1600" b="0" dirty="0" smtClean="0">
              <a:solidFill>
                <a:schemeClr val="tx1"/>
              </a:solidFill>
              <a:latin typeface="+mj-lt"/>
            </a:endParaRPr>
          </a:p>
          <a:p>
            <a:pPr>
              <a:buFont typeface="Wingdings" panose="05000000000000000000" pitchFamily="2" charset="2"/>
              <a:buChar char="q"/>
            </a:pPr>
            <a:r>
              <a:rPr lang="en-US" sz="1600" dirty="0"/>
              <a:t>Conditions</a:t>
            </a:r>
          </a:p>
        </p:txBody>
      </p:sp>
      <p:sp>
        <p:nvSpPr>
          <p:cNvPr id="4" name="Slide Number Placeholder 3"/>
          <p:cNvSpPr>
            <a:spLocks noGrp="1"/>
          </p:cNvSpPr>
          <p:nvPr>
            <p:ph type="sldNum" sz="quarter" idx="12"/>
          </p:nvPr>
        </p:nvSpPr>
        <p:spPr/>
        <p:txBody>
          <a:bodyPr/>
          <a:lstStyle/>
          <a:p>
            <a:fld id="{FA697448-FA31-4949-9864-F7BD87D6893B}" type="slidenum">
              <a:rPr lang="en-US" smtClean="0"/>
              <a:pPr/>
              <a:t>12</a:t>
            </a:fld>
            <a:endParaRPr lang="en-US" dirty="0"/>
          </a:p>
        </p:txBody>
      </p:sp>
      <p:sp>
        <p:nvSpPr>
          <p:cNvPr id="7" name="Title 6"/>
          <p:cNvSpPr>
            <a:spLocks noGrp="1"/>
          </p:cNvSpPr>
          <p:nvPr>
            <p:ph type="title"/>
          </p:nvPr>
        </p:nvSpPr>
        <p:spPr>
          <a:xfrm>
            <a:off x="609600" y="0"/>
            <a:ext cx="8077200" cy="800100"/>
          </a:xfrm>
        </p:spPr>
        <p:txBody>
          <a:bodyPr/>
          <a:lstStyle/>
          <a:p>
            <a:pPr algn="ctr">
              <a:defRPr/>
            </a:pPr>
            <a:r>
              <a:rPr lang="en-US" sz="3600" b="0" dirty="0" smtClean="0">
                <a:latin typeface="Verdana" pitchFamily="34" charset="0"/>
              </a:rPr>
              <a:t>Accumulator Criteria</a:t>
            </a:r>
            <a:endParaRPr lang="en-IN" sz="3600" kern="0" dirty="0">
              <a:latin typeface="Verdana" pitchFamily="34" charset="0"/>
            </a:endParaRPr>
          </a:p>
        </p:txBody>
      </p:sp>
    </p:spTree>
    <p:extLst>
      <p:ext uri="{BB962C8B-B14F-4D97-AF65-F5344CB8AC3E}">
        <p14:creationId xmlns:p14="http://schemas.microsoft.com/office/powerpoint/2010/main" val="3401217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13</a:t>
            </a:fld>
            <a:endParaRPr lang="en-US" dirty="0"/>
          </a:p>
        </p:txBody>
      </p:sp>
      <p:sp>
        <p:nvSpPr>
          <p:cNvPr id="7" name="Title 6"/>
          <p:cNvSpPr>
            <a:spLocks noGrp="1"/>
          </p:cNvSpPr>
          <p:nvPr>
            <p:ph type="title"/>
          </p:nvPr>
        </p:nvSpPr>
        <p:spPr/>
        <p:txBody>
          <a:bodyPr/>
          <a:lstStyle/>
          <a:p>
            <a:r>
              <a:rPr lang="en-US" dirty="0" smtClean="0"/>
              <a:t>Commercial Deductible Plan</a:t>
            </a:r>
            <a:endParaRPr lang="en-US" dirty="0"/>
          </a:p>
        </p:txBody>
      </p:sp>
      <p:graphicFrame>
        <p:nvGraphicFramePr>
          <p:cNvPr id="8" name="Table 7"/>
          <p:cNvGraphicFramePr>
            <a:graphicFrameLocks noGrp="1"/>
          </p:cNvGraphicFramePr>
          <p:nvPr/>
        </p:nvGraphicFramePr>
        <p:xfrm>
          <a:off x="5867400" y="1200150"/>
          <a:ext cx="1447800" cy="3276604"/>
        </p:xfrm>
        <a:graphic>
          <a:graphicData uri="http://schemas.openxmlformats.org/drawingml/2006/table">
            <a:tbl>
              <a:tblPr/>
              <a:tblGrid>
                <a:gridCol w="1447800"/>
              </a:tblGrid>
              <a:tr h="819151">
                <a:tc>
                  <a:txBody>
                    <a:bodyPr/>
                    <a:lstStyle/>
                    <a:p>
                      <a:pPr algn="ctr" fontAlgn="b"/>
                      <a:r>
                        <a:rPr lang="en-US" sz="1100" b="0" i="0" u="none" strike="noStrike" dirty="0">
                          <a:solidFill>
                            <a:srgbClr val="000000"/>
                          </a:solidFill>
                          <a:latin typeface="Calibri"/>
                        </a:rPr>
                        <a:t>DED</a:t>
                      </a: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a:solidFill>
                            <a:srgbClr val="000000"/>
                          </a:solidFill>
                          <a:latin typeface="Calibri"/>
                        </a:rPr>
                        <a:t>MOP</a:t>
                      </a: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a:solidFill>
                            <a:srgbClr val="000000"/>
                          </a:solidFill>
                          <a:latin typeface="Calibri"/>
                        </a:rPr>
                        <a:t>MPP</a:t>
                      </a: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a:solidFill>
                            <a:srgbClr val="000000"/>
                          </a:solidFill>
                          <a:latin typeface="Calibri"/>
                        </a:rPr>
                        <a:t>After MPP</a:t>
                      </a: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76200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7620000" y="20383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76200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7620000" y="37147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nvGraphicFramePr>
        <p:xfrm>
          <a:off x="7848600" y="1504950"/>
          <a:ext cx="417512" cy="190500"/>
        </p:xfrm>
        <a:graphic>
          <a:graphicData uri="http://schemas.openxmlformats.org/drawingml/2006/table">
            <a:tbl>
              <a:tblPr/>
              <a:tblGrid>
                <a:gridCol w="417512"/>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7772400" y="2190750"/>
          <a:ext cx="1371600" cy="344805"/>
        </p:xfrm>
        <a:graphic>
          <a:graphicData uri="http://schemas.openxmlformats.org/drawingml/2006/table">
            <a:tbl>
              <a:tblPr/>
              <a:tblGrid>
                <a:gridCol w="1371600"/>
              </a:tblGrid>
              <a:tr h="190500">
                <a:tc>
                  <a:txBody>
                    <a:bodyPr/>
                    <a:lstStyle/>
                    <a:p>
                      <a:pPr algn="l" fontAlgn="b"/>
                      <a:r>
                        <a:rPr lang="en-US" sz="1100" b="0" i="0" u="none" strike="noStrike" dirty="0">
                          <a:solidFill>
                            <a:srgbClr val="000000"/>
                          </a:solidFill>
                          <a:latin typeface="Calibri"/>
                        </a:rPr>
                        <a:t>COPAY/COINSURENCE FROM THE PLAN</a:t>
                      </a: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7772400" y="3105150"/>
          <a:ext cx="1371600" cy="190500"/>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100% BY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7772400" y="3790950"/>
          <a:ext cx="1371600" cy="344805"/>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Percentage</a:t>
                      </a:r>
                      <a:r>
                        <a:rPr lang="en-US" sz="1100" b="0" i="0" u="none" strike="noStrike" baseline="0" dirty="0" smtClean="0">
                          <a:solidFill>
                            <a:srgbClr val="000000"/>
                          </a:solidFill>
                          <a:latin typeface="Calibri"/>
                        </a:rPr>
                        <a:t> defined in the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
        <p:nvSpPr>
          <p:cNvPr id="33" name="Right Brace 32"/>
          <p:cNvSpPr/>
          <p:nvPr/>
        </p:nvSpPr>
        <p:spPr>
          <a:xfrm>
            <a:off x="7391400" y="2114550"/>
            <a:ext cx="762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35" name="Table 34"/>
          <p:cNvGraphicFramePr>
            <a:graphicFrameLocks noGrp="1"/>
          </p:cNvGraphicFramePr>
          <p:nvPr/>
        </p:nvGraphicFramePr>
        <p:xfrm>
          <a:off x="685800" y="1428750"/>
          <a:ext cx="3276600" cy="380999"/>
        </p:xfrm>
        <a:graphic>
          <a:graphicData uri="http://schemas.openxmlformats.org/drawingml/2006/table">
            <a:tbl>
              <a:tblPr/>
              <a:tblGrid>
                <a:gridCol w="3276600"/>
              </a:tblGrid>
              <a:tr h="380999">
                <a:tc>
                  <a:txBody>
                    <a:bodyPr/>
                    <a:lstStyle/>
                    <a:p>
                      <a:pPr algn="l" fontAlgn="b"/>
                      <a:r>
                        <a:rPr lang="en-US" sz="1200" kern="1200" baseline="0" dirty="0" smtClean="0">
                          <a:solidFill>
                            <a:schemeClr val="tx1"/>
                          </a:solidFill>
                          <a:latin typeface="+mn-lt"/>
                          <a:ea typeface="+mn-ea"/>
                          <a:cs typeface="+mn-cs"/>
                        </a:rPr>
                        <a:t>The amount of money a member and his/her family must pay before the plan starts to pay </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6" name="Table 35"/>
          <p:cNvGraphicFramePr>
            <a:graphicFrameLocks noGrp="1"/>
          </p:cNvGraphicFramePr>
          <p:nvPr/>
        </p:nvGraphicFramePr>
        <p:xfrm>
          <a:off x="685800" y="2343150"/>
          <a:ext cx="3581400" cy="466725"/>
        </p:xfrm>
        <a:graphic>
          <a:graphicData uri="http://schemas.openxmlformats.org/drawingml/2006/table">
            <a:tbl>
              <a:tblPr/>
              <a:tblGrid>
                <a:gridCol w="3581400"/>
              </a:tblGrid>
              <a:tr h="466725">
                <a:tc>
                  <a:txBody>
                    <a:bodyPr/>
                    <a:lstStyle/>
                    <a:p>
                      <a:pPr algn="l" fontAlgn="b"/>
                      <a:r>
                        <a:rPr lang="en-US" sz="1200" b="0" i="0" u="none" strike="noStrike" dirty="0">
                          <a:solidFill>
                            <a:srgbClr val="000000"/>
                          </a:solidFill>
                          <a:latin typeface="Calibri"/>
                        </a:rPr>
                        <a:t>The maximum amount of money a member and his/her family will have to spend on prescription drug coverage</a:t>
                      </a:r>
                    </a:p>
                  </a:txBody>
                  <a:tcPr marL="9525" marR="9525" marT="9525" marB="0" anchor="b">
                    <a:lnL>
                      <a:noFill/>
                    </a:lnL>
                    <a:lnR>
                      <a:noFill/>
                    </a:lnR>
                    <a:lnT>
                      <a:noFill/>
                    </a:lnT>
                    <a:lnB>
                      <a:noFill/>
                    </a:lnB>
                  </a:tcPr>
                </a:tc>
              </a:tr>
            </a:tbl>
          </a:graphicData>
        </a:graphic>
      </p:graphicFrame>
      <p:graphicFrame>
        <p:nvGraphicFramePr>
          <p:cNvPr id="37" name="Table 36"/>
          <p:cNvGraphicFramePr>
            <a:graphicFrameLocks noGrp="1"/>
          </p:cNvGraphicFramePr>
          <p:nvPr/>
        </p:nvGraphicFramePr>
        <p:xfrm>
          <a:off x="685800" y="3257550"/>
          <a:ext cx="3429000" cy="477202"/>
        </p:xfrm>
        <a:graphic>
          <a:graphicData uri="http://schemas.openxmlformats.org/drawingml/2006/table">
            <a:tbl>
              <a:tblPr/>
              <a:tblGrid>
                <a:gridCol w="3429000"/>
              </a:tblGrid>
              <a:tr h="477202">
                <a:tc>
                  <a:txBody>
                    <a:bodyPr/>
                    <a:lstStyle/>
                    <a:p>
                      <a:pPr algn="l" fontAlgn="b"/>
                      <a:r>
                        <a:rPr lang="en-US" sz="1200" b="0" i="0" u="none" strike="noStrike" dirty="0">
                          <a:solidFill>
                            <a:srgbClr val="000000"/>
                          </a:solidFill>
                          <a:latin typeface="Calibri"/>
                        </a:rPr>
                        <a:t>The maximum amount of money the insurance plan will cover for a member and his/her family</a:t>
                      </a:r>
                    </a:p>
                  </a:txBody>
                  <a:tcPr marL="9525" marR="9525" marT="9525" marB="0" anchor="b">
                    <a:lnL>
                      <a:noFill/>
                    </a:lnL>
                    <a:lnR>
                      <a:noFill/>
                    </a:lnR>
                    <a:lnT>
                      <a:noFill/>
                    </a:lnT>
                    <a:lnB>
                      <a:noFill/>
                    </a:lnB>
                  </a:tcPr>
                </a:tc>
              </a:tr>
            </a:tbl>
          </a:graphicData>
        </a:graphic>
      </p:graphicFrame>
      <p:graphicFrame>
        <p:nvGraphicFramePr>
          <p:cNvPr id="38" name="Table 37"/>
          <p:cNvGraphicFramePr>
            <a:graphicFrameLocks noGrp="1"/>
          </p:cNvGraphicFramePr>
          <p:nvPr>
            <p:extLst>
              <p:ext uri="{D42A27DB-BD31-4B8C-83A1-F6EECF244321}">
                <p14:modId xmlns:p14="http://schemas.microsoft.com/office/powerpoint/2010/main" val="3717988385"/>
              </p:ext>
            </p:extLst>
          </p:nvPr>
        </p:nvGraphicFramePr>
        <p:xfrm>
          <a:off x="609600" y="1123950"/>
          <a:ext cx="2667000" cy="190500"/>
        </p:xfrm>
        <a:graphic>
          <a:graphicData uri="http://schemas.openxmlformats.org/drawingml/2006/table">
            <a:tbl>
              <a:tblPr/>
              <a:tblGrid>
                <a:gridCol w="2667000"/>
              </a:tblGrid>
              <a:tr h="190500">
                <a:tc>
                  <a:txBody>
                    <a:bodyPr/>
                    <a:lstStyle/>
                    <a:p>
                      <a:r>
                        <a:rPr lang="en-US" sz="1100" b="1" i="0" u="none" strike="noStrike" baseline="0" dirty="0">
                          <a:solidFill>
                            <a:schemeClr val="accent2">
                              <a:lumMod val="75000"/>
                            </a:schemeClr>
                          </a:solidFill>
                          <a:latin typeface="Calibri"/>
                        </a:rPr>
                        <a:t>DED </a:t>
                      </a:r>
                      <a:r>
                        <a:rPr lang="en-US" sz="1100" b="1" i="0" u="none" strike="noStrike" baseline="0" dirty="0" smtClean="0">
                          <a:solidFill>
                            <a:schemeClr val="accent2">
                              <a:lumMod val="75000"/>
                            </a:schemeClr>
                          </a:solidFill>
                          <a:latin typeface="Calibri"/>
                        </a:rPr>
                        <a:t>Phase (</a:t>
                      </a:r>
                      <a:r>
                        <a:rPr lang="en-US" sz="1100" b="1" i="0" u="none" strike="noStrike" kern="1200" baseline="0" dirty="0" smtClean="0">
                          <a:solidFill>
                            <a:schemeClr val="accent2">
                              <a:lumMod val="75000"/>
                            </a:schemeClr>
                          </a:solidFill>
                          <a:latin typeface="Calibri"/>
                          <a:ea typeface="+mn-ea"/>
                          <a:cs typeface="+mn-cs"/>
                        </a:rPr>
                        <a:t>Standard Deductible)</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39" name="Table 38"/>
          <p:cNvGraphicFramePr>
            <a:graphicFrameLocks noGrp="1"/>
          </p:cNvGraphicFramePr>
          <p:nvPr>
            <p:extLst>
              <p:ext uri="{D42A27DB-BD31-4B8C-83A1-F6EECF244321}">
                <p14:modId xmlns:p14="http://schemas.microsoft.com/office/powerpoint/2010/main" val="281369684"/>
              </p:ext>
            </p:extLst>
          </p:nvPr>
        </p:nvGraphicFramePr>
        <p:xfrm>
          <a:off x="609600" y="2013585"/>
          <a:ext cx="2743200" cy="253365"/>
        </p:xfrm>
        <a:graphic>
          <a:graphicData uri="http://schemas.openxmlformats.org/drawingml/2006/table">
            <a:tbl>
              <a:tblPr/>
              <a:tblGrid>
                <a:gridCol w="2743200"/>
              </a:tblGrid>
              <a:tr h="253365">
                <a:tc>
                  <a:txBody>
                    <a:bodyPr/>
                    <a:lstStyle/>
                    <a:p>
                      <a:r>
                        <a:rPr lang="en-US" sz="1100" b="1" i="0" u="none" strike="noStrike" kern="1200" baseline="0" dirty="0">
                          <a:solidFill>
                            <a:schemeClr val="accent2">
                              <a:lumMod val="75000"/>
                            </a:schemeClr>
                          </a:solidFill>
                          <a:latin typeface="Calibri"/>
                          <a:ea typeface="+mn-ea"/>
                          <a:cs typeface="+mn-cs"/>
                        </a:rPr>
                        <a:t>MOP </a:t>
                      </a:r>
                      <a:r>
                        <a:rPr lang="en-US" sz="1100" b="1" i="0" u="none" strike="noStrike" kern="1200" baseline="0" dirty="0" smtClean="0">
                          <a:solidFill>
                            <a:schemeClr val="accent2">
                              <a:lumMod val="75000"/>
                            </a:schemeClr>
                          </a:solidFill>
                          <a:latin typeface="Calibri"/>
                          <a:ea typeface="+mn-ea"/>
                          <a:cs typeface="+mn-cs"/>
                        </a:rPr>
                        <a:t>Phase (Maximum Out-of-Pocket)</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378208082"/>
              </p:ext>
            </p:extLst>
          </p:nvPr>
        </p:nvGraphicFramePr>
        <p:xfrm>
          <a:off x="685800" y="3004186"/>
          <a:ext cx="2667000" cy="177165"/>
        </p:xfrm>
        <a:graphic>
          <a:graphicData uri="http://schemas.openxmlformats.org/drawingml/2006/table">
            <a:tbl>
              <a:tblPr/>
              <a:tblGrid>
                <a:gridCol w="2667000"/>
              </a:tblGrid>
              <a:tr h="152400">
                <a:tc>
                  <a:txBody>
                    <a:bodyPr/>
                    <a:lstStyle/>
                    <a:p>
                      <a:r>
                        <a:rPr lang="en-US" sz="1100" b="1" i="0" u="none" strike="noStrike" kern="1200" baseline="0" dirty="0">
                          <a:solidFill>
                            <a:schemeClr val="accent2">
                              <a:lumMod val="75000"/>
                            </a:schemeClr>
                          </a:solidFill>
                          <a:latin typeface="Calibri"/>
                          <a:ea typeface="+mn-ea"/>
                          <a:cs typeface="+mn-cs"/>
                        </a:rPr>
                        <a:t>MPP </a:t>
                      </a:r>
                      <a:r>
                        <a:rPr lang="en-US" sz="1100" b="1" i="0" u="none" strike="noStrike" kern="1200" baseline="0" dirty="0" smtClean="0">
                          <a:solidFill>
                            <a:schemeClr val="accent2">
                              <a:lumMod val="75000"/>
                            </a:schemeClr>
                          </a:solidFill>
                          <a:latin typeface="Calibri"/>
                          <a:ea typeface="+mn-ea"/>
                          <a:cs typeface="+mn-cs"/>
                        </a:rPr>
                        <a:t>Phase (Maximum Paid by Plan)</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1" name="Table 40"/>
          <p:cNvGraphicFramePr>
            <a:graphicFrameLocks noGrp="1"/>
          </p:cNvGraphicFramePr>
          <p:nvPr/>
        </p:nvGraphicFramePr>
        <p:xfrm>
          <a:off x="609600" y="3943350"/>
          <a:ext cx="990600" cy="190500"/>
        </p:xfrm>
        <a:graphic>
          <a:graphicData uri="http://schemas.openxmlformats.org/drawingml/2006/table">
            <a:tbl>
              <a:tblPr/>
              <a:tblGrid>
                <a:gridCol w="990600"/>
              </a:tblGrid>
              <a:tr h="190500">
                <a:tc>
                  <a:txBody>
                    <a:bodyPr/>
                    <a:lstStyle/>
                    <a:p>
                      <a:pPr marL="0" algn="l" defTabSz="914400" rtl="0" eaLnBrk="1" fontAlgn="b" latinLnBrk="0" hangingPunct="1"/>
                      <a:r>
                        <a:rPr lang="en-US" sz="1100" b="1" i="0" u="none" strike="noStrike" kern="1200" baseline="0" dirty="0" smtClean="0">
                          <a:solidFill>
                            <a:schemeClr val="accent2">
                              <a:lumMod val="75000"/>
                            </a:schemeClr>
                          </a:solidFill>
                          <a:latin typeface="Calibri"/>
                          <a:ea typeface="+mn-ea"/>
                          <a:cs typeface="+mn-cs"/>
                        </a:rPr>
                        <a:t>Post MPP </a:t>
                      </a:r>
                      <a:r>
                        <a:rPr lang="en-US" sz="1100" b="1" i="0" u="none" strike="noStrike" kern="1200" baseline="0" dirty="0">
                          <a:solidFill>
                            <a:schemeClr val="accent2">
                              <a:lumMod val="75000"/>
                            </a:schemeClr>
                          </a:solidFill>
                          <a:latin typeface="Calibri"/>
                          <a:ea typeface="+mn-ea"/>
                          <a:cs typeface="+mn-cs"/>
                        </a:rPr>
                        <a:t>Phase</a:t>
                      </a:r>
                    </a:p>
                  </a:txBody>
                  <a:tcPr marL="9525" marR="9525" marT="9525" marB="0" anchor="b">
                    <a:lnL>
                      <a:noFill/>
                    </a:lnL>
                    <a:lnR>
                      <a:noFill/>
                    </a:lnR>
                    <a:lnT>
                      <a:noFill/>
                    </a:lnT>
                    <a:lnB>
                      <a:noFill/>
                    </a:lnB>
                  </a:tcPr>
                </a:tc>
              </a:tr>
            </a:tbl>
          </a:graphicData>
        </a:graphic>
      </p:graphicFrame>
      <p:graphicFrame>
        <p:nvGraphicFramePr>
          <p:cNvPr id="42" name="Table 41"/>
          <p:cNvGraphicFramePr>
            <a:graphicFrameLocks noGrp="1"/>
          </p:cNvGraphicFramePr>
          <p:nvPr/>
        </p:nvGraphicFramePr>
        <p:xfrm>
          <a:off x="533400" y="4324350"/>
          <a:ext cx="3429000" cy="324802"/>
        </p:xfrm>
        <a:graphic>
          <a:graphicData uri="http://schemas.openxmlformats.org/drawingml/2006/table">
            <a:tbl>
              <a:tblPr/>
              <a:tblGrid>
                <a:gridCol w="3429000"/>
              </a:tblGrid>
              <a:tr h="324802">
                <a:tc>
                  <a:txBody>
                    <a:bodyPr/>
                    <a:lstStyle/>
                    <a:p>
                      <a:pPr algn="l" fontAlgn="b"/>
                      <a:r>
                        <a:rPr lang="en-US" sz="1100" b="0" i="0" u="none" strike="noStrike" dirty="0" smtClean="0">
                          <a:solidFill>
                            <a:srgbClr val="000000"/>
                          </a:solidFill>
                          <a:latin typeface="Calibri"/>
                        </a:rPr>
                        <a:t>%</a:t>
                      </a:r>
                      <a:r>
                        <a:rPr lang="en-US" sz="1100" b="0" i="0" u="none" strike="noStrike" baseline="0" dirty="0" smtClean="0">
                          <a:solidFill>
                            <a:srgbClr val="000000"/>
                          </a:solidFill>
                          <a:latin typeface="Calibri"/>
                        </a:rPr>
                        <a:t> of Amount which plan </a:t>
                      </a:r>
                      <a:r>
                        <a:rPr lang="en-US" sz="1200" b="0" i="0" u="none" strike="noStrike" baseline="0" dirty="0" smtClean="0">
                          <a:solidFill>
                            <a:srgbClr val="000000"/>
                          </a:solidFill>
                          <a:latin typeface="Calibri"/>
                        </a:rPr>
                        <a:t>will</a:t>
                      </a:r>
                      <a:r>
                        <a:rPr lang="en-US" sz="1100" b="0" i="0" u="none" strike="noStrike" baseline="0" dirty="0" smtClean="0">
                          <a:solidFill>
                            <a:srgbClr val="000000"/>
                          </a:solidFill>
                          <a:latin typeface="Calibri"/>
                        </a:rPr>
                        <a:t> pay after MPP Phase</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43" name="Table 42"/>
          <p:cNvGraphicFramePr>
            <a:graphicFrameLocks noGrp="1"/>
          </p:cNvGraphicFramePr>
          <p:nvPr>
            <p:extLst>
              <p:ext uri="{D42A27DB-BD31-4B8C-83A1-F6EECF244321}">
                <p14:modId xmlns:p14="http://schemas.microsoft.com/office/powerpoint/2010/main" val="1821545457"/>
              </p:ext>
            </p:extLst>
          </p:nvPr>
        </p:nvGraphicFramePr>
        <p:xfrm>
          <a:off x="533400" y="666750"/>
          <a:ext cx="3886200" cy="481965"/>
        </p:xfrm>
        <a:graphic>
          <a:graphicData uri="http://schemas.openxmlformats.org/drawingml/2006/table">
            <a:tbl>
              <a:tblPr/>
              <a:tblGrid>
                <a:gridCol w="3886200"/>
              </a:tblGrid>
              <a:tr h="0">
                <a:tc>
                  <a:txBody>
                    <a:bodyPr/>
                    <a:lstStyle/>
                    <a:p>
                      <a:pPr algn="l" fontAlgn="b"/>
                      <a:r>
                        <a:rPr lang="en-US" sz="2000" b="0" i="0" u="none" strike="noStrike" dirty="0">
                          <a:solidFill>
                            <a:srgbClr val="000000"/>
                          </a:solidFill>
                          <a:latin typeface="Calibri"/>
                        </a:rPr>
                        <a:t>Designed by insurance company</a:t>
                      </a:r>
                      <a:r>
                        <a:rPr lang="en-US" sz="1100" b="0" i="0" u="none" strike="noStrike" dirty="0">
                          <a:solidFill>
                            <a:srgbClr val="000000"/>
                          </a:solidFill>
                          <a:latin typeface="Calibri"/>
                        </a:rPr>
                        <a:t/>
                      </a:r>
                      <a:br>
                        <a:rPr lang="en-US" sz="1100" b="0" i="0" u="none" strike="noStrike" dirty="0">
                          <a:solidFill>
                            <a:srgbClr val="000000"/>
                          </a:solidFill>
                          <a:latin typeface="Calibri"/>
                        </a:rPr>
                      </a:b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linds(horizontal)">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blinds(horizontal)">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diamond(in)">
                                      <p:cBhvr>
                                        <p:cTn id="32" dur="20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diamond(in)">
                                      <p:cBhvr>
                                        <p:cTn id="37" dur="20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diamond(in)">
                                      <p:cBhvr>
                                        <p:cTn id="42" dur="20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diamond(in)">
                                      <p:cBhvr>
                                        <p:cTn id="47" dur="20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29" presetClass="entr" presetSubtype="0"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1000" fill="hold"/>
                                        <p:tgtEl>
                                          <p:spTgt spid="8"/>
                                        </p:tgtEl>
                                        <p:attrNameLst>
                                          <p:attrName>ppt_x</p:attrName>
                                        </p:attrNameLst>
                                      </p:cBhvr>
                                      <p:tavLst>
                                        <p:tav tm="0">
                                          <p:val>
                                            <p:strVal val="#ppt_x-.2"/>
                                          </p:val>
                                        </p:tav>
                                        <p:tav tm="100000">
                                          <p:val>
                                            <p:strVal val="#ppt_x"/>
                                          </p:val>
                                        </p:tav>
                                      </p:tavLst>
                                    </p:anim>
                                    <p:anim calcmode="lin" valueType="num">
                                      <p:cBhvr>
                                        <p:cTn id="5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54" dur="10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blinds(horizontal)">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blinds(horizontal)">
                                      <p:cBhvr>
                                        <p:cTn id="64" dur="500"/>
                                        <p:tgtEl>
                                          <p:spTgt spid="33"/>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blinds(horizontal)">
                                      <p:cBhvr>
                                        <p:cTn id="69" dur="500"/>
                                        <p:tgtEl>
                                          <p:spTgt spid="11"/>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blinds(horizontal)">
                                      <p:cBhvr>
                                        <p:cTn id="74" dur="50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blinds(horizontal)">
                                      <p:cBhvr>
                                        <p:cTn id="79" dur="500"/>
                                        <p:tgtEl>
                                          <p:spTgt spid="19"/>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blinds(horizontal)">
                                      <p:cBhvr>
                                        <p:cTn id="84" dur="500"/>
                                        <p:tgtEl>
                                          <p:spTgt spid="12"/>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blinds(horizontal)">
                                      <p:cBhvr>
                                        <p:cTn id="89" dur="500"/>
                                        <p:tgtEl>
                                          <p:spTgt spid="20"/>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blinds(horizontal)">
                                      <p:cBhvr>
                                        <p:cTn id="94" dur="500"/>
                                        <p:tgtEl>
                                          <p:spTgt spid="13"/>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nodeType="click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blinds(horizontal)">
                                      <p:cBhvr>
                                        <p:cTn id="9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14</a:t>
            </a:fld>
            <a:endParaRPr lang="en-US" dirty="0"/>
          </a:p>
        </p:txBody>
      </p:sp>
      <p:sp>
        <p:nvSpPr>
          <p:cNvPr id="7" name="Title 6"/>
          <p:cNvSpPr>
            <a:spLocks noGrp="1"/>
          </p:cNvSpPr>
          <p:nvPr>
            <p:ph type="title"/>
          </p:nvPr>
        </p:nvSpPr>
        <p:spPr/>
        <p:txBody>
          <a:bodyPr/>
          <a:lstStyle/>
          <a:p>
            <a:r>
              <a:rPr lang="en-US" dirty="0" smtClean="0"/>
              <a:t>Commercial Deductible Plan</a:t>
            </a:r>
            <a:endParaRPr lang="en-US" dirty="0"/>
          </a:p>
        </p:txBody>
      </p:sp>
      <p:graphicFrame>
        <p:nvGraphicFramePr>
          <p:cNvPr id="35" name="Table 34"/>
          <p:cNvGraphicFramePr>
            <a:graphicFrameLocks noGrp="1"/>
          </p:cNvGraphicFramePr>
          <p:nvPr>
            <p:extLst>
              <p:ext uri="{D42A27DB-BD31-4B8C-83A1-F6EECF244321}">
                <p14:modId xmlns:p14="http://schemas.microsoft.com/office/powerpoint/2010/main" val="1214705068"/>
              </p:ext>
            </p:extLst>
          </p:nvPr>
        </p:nvGraphicFramePr>
        <p:xfrm>
          <a:off x="609600" y="2038350"/>
          <a:ext cx="4648200" cy="725805"/>
        </p:xfrm>
        <a:graphic>
          <a:graphicData uri="http://schemas.openxmlformats.org/drawingml/2006/table">
            <a:tbl>
              <a:tblPr/>
              <a:tblGrid>
                <a:gridCol w="4648200"/>
              </a:tblGrid>
              <a:tr h="609600">
                <a:tc>
                  <a:txBody>
                    <a:bodyPr/>
                    <a:lstStyle/>
                    <a:p>
                      <a:r>
                        <a:rPr lang="en-US" sz="1200" b="0" i="0" u="none" strike="noStrike" kern="1200" baseline="0" dirty="0" smtClean="0">
                          <a:solidFill>
                            <a:schemeClr val="tx1"/>
                          </a:solidFill>
                          <a:latin typeface="+mn-lt"/>
                          <a:ea typeface="+mn-ea"/>
                          <a:cs typeface="+mn-cs"/>
                        </a:rPr>
                        <a:t>Plan paid dollars accumulate toward an individual limit for an unlimited time period. When the limit is met, the plan will NOT pay any portion of the claim. </a:t>
                      </a:r>
                    </a:p>
                    <a:p>
                      <a:pPr algn="l" fontAlgn="b"/>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3469581088"/>
              </p:ext>
            </p:extLst>
          </p:nvPr>
        </p:nvGraphicFramePr>
        <p:xfrm>
          <a:off x="609600" y="3257550"/>
          <a:ext cx="3581400" cy="466725"/>
        </p:xfrm>
        <a:graphic>
          <a:graphicData uri="http://schemas.openxmlformats.org/drawingml/2006/table">
            <a:tbl>
              <a:tblPr/>
              <a:tblGrid>
                <a:gridCol w="3581400"/>
              </a:tblGrid>
              <a:tr h="466725">
                <a:tc>
                  <a:txBody>
                    <a:bodyPr/>
                    <a:lstStyle/>
                    <a:p>
                      <a:pPr algn="ctr" fontAlgn="b"/>
                      <a:endParaRPr lang="en-US" sz="12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8" name="Table 37"/>
          <p:cNvGraphicFramePr>
            <a:graphicFrameLocks noGrp="1"/>
          </p:cNvGraphicFramePr>
          <p:nvPr>
            <p:extLst>
              <p:ext uri="{D42A27DB-BD31-4B8C-83A1-F6EECF244321}">
                <p14:modId xmlns:p14="http://schemas.microsoft.com/office/powerpoint/2010/main" val="917609310"/>
              </p:ext>
            </p:extLst>
          </p:nvPr>
        </p:nvGraphicFramePr>
        <p:xfrm>
          <a:off x="609600" y="1809750"/>
          <a:ext cx="3124200" cy="190500"/>
        </p:xfrm>
        <a:graphic>
          <a:graphicData uri="http://schemas.openxmlformats.org/drawingml/2006/table">
            <a:tbl>
              <a:tblPr/>
              <a:tblGrid>
                <a:gridCol w="3124200"/>
              </a:tblGrid>
              <a:tr h="190500">
                <a:tc>
                  <a:txBody>
                    <a:bodyPr/>
                    <a:lstStyle/>
                    <a:p>
                      <a:r>
                        <a:rPr lang="en-US" sz="1100" b="1" i="0" u="none" strike="noStrike" baseline="0" dirty="0" smtClean="0">
                          <a:solidFill>
                            <a:schemeClr val="accent2">
                              <a:lumMod val="75000"/>
                            </a:schemeClr>
                          </a:solidFill>
                          <a:latin typeface="Calibri"/>
                        </a:rPr>
                        <a:t>Lifetime – LFE </a:t>
                      </a:r>
                      <a:r>
                        <a:rPr lang="en-US" sz="1100" b="1" i="0" u="none" strike="noStrike" kern="1200" baseline="0" dirty="0" smtClean="0">
                          <a:solidFill>
                            <a:schemeClr val="accent2">
                              <a:lumMod val="75000"/>
                            </a:schemeClr>
                          </a:solidFill>
                          <a:latin typeface="Calibri"/>
                          <a:ea typeface="+mn-ea"/>
                          <a:cs typeface="+mn-cs"/>
                        </a:rPr>
                        <a:t>(Lifetime Maximum Paid by Plan)</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39" name="Table 38"/>
          <p:cNvGraphicFramePr>
            <a:graphicFrameLocks noGrp="1"/>
          </p:cNvGraphicFramePr>
          <p:nvPr>
            <p:extLst>
              <p:ext uri="{D42A27DB-BD31-4B8C-83A1-F6EECF244321}">
                <p14:modId xmlns:p14="http://schemas.microsoft.com/office/powerpoint/2010/main" val="4242976373"/>
              </p:ext>
            </p:extLst>
          </p:nvPr>
        </p:nvGraphicFramePr>
        <p:xfrm>
          <a:off x="609600" y="3105150"/>
          <a:ext cx="2438400" cy="344805"/>
        </p:xfrm>
        <a:graphic>
          <a:graphicData uri="http://schemas.openxmlformats.org/drawingml/2006/table">
            <a:tbl>
              <a:tblPr/>
              <a:tblGrid>
                <a:gridCol w="2438400"/>
              </a:tblGrid>
              <a:tr h="152400">
                <a:tc>
                  <a:txBody>
                    <a:bodyPr/>
                    <a:lstStyle/>
                    <a:p>
                      <a:r>
                        <a:rPr lang="en-US" sz="1100" b="1" i="0" u="none" strike="noStrike" kern="1200" baseline="0" dirty="0" smtClean="0">
                          <a:solidFill>
                            <a:schemeClr val="accent2">
                              <a:lumMod val="75000"/>
                            </a:schemeClr>
                          </a:solidFill>
                          <a:latin typeface="Calibri"/>
                          <a:ea typeface="+mn-ea"/>
                          <a:cs typeface="+mn-cs"/>
                        </a:rPr>
                        <a:t>SCR - Maximum Number of Scripts </a:t>
                      </a:r>
                    </a:p>
                    <a:p>
                      <a:pPr marL="0" algn="l" defTabSz="914400" rtl="0" eaLnBrk="1" fontAlgn="b" latinLnBrk="0" hangingPunct="1"/>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3" name="Table 42"/>
          <p:cNvGraphicFramePr>
            <a:graphicFrameLocks noGrp="1"/>
          </p:cNvGraphicFramePr>
          <p:nvPr>
            <p:extLst>
              <p:ext uri="{D42A27DB-BD31-4B8C-83A1-F6EECF244321}">
                <p14:modId xmlns:p14="http://schemas.microsoft.com/office/powerpoint/2010/main" val="2893341029"/>
              </p:ext>
            </p:extLst>
          </p:nvPr>
        </p:nvGraphicFramePr>
        <p:xfrm>
          <a:off x="685800" y="971550"/>
          <a:ext cx="3886200" cy="481965"/>
        </p:xfrm>
        <a:graphic>
          <a:graphicData uri="http://schemas.openxmlformats.org/drawingml/2006/table">
            <a:tbl>
              <a:tblPr/>
              <a:tblGrid>
                <a:gridCol w="3886200"/>
              </a:tblGrid>
              <a:tr h="304800">
                <a:tc>
                  <a:txBody>
                    <a:bodyPr/>
                    <a:lstStyle/>
                    <a:p>
                      <a:pPr algn="l" fontAlgn="b"/>
                      <a:r>
                        <a:rPr lang="en-US" sz="2000" b="0" i="0" u="none" strike="noStrike" dirty="0">
                          <a:solidFill>
                            <a:srgbClr val="000000"/>
                          </a:solidFill>
                          <a:latin typeface="Calibri"/>
                        </a:rPr>
                        <a:t>Designed by insurance company</a:t>
                      </a:r>
                      <a:r>
                        <a:rPr lang="en-US" sz="1100" b="0" i="0" u="none" strike="noStrike" dirty="0">
                          <a:solidFill>
                            <a:srgbClr val="000000"/>
                          </a:solidFill>
                          <a:latin typeface="Calibri"/>
                        </a:rPr>
                        <a:t/>
                      </a:r>
                      <a:br>
                        <a:rPr lang="en-US" sz="1100" b="0" i="0" u="none" strike="noStrike" dirty="0">
                          <a:solidFill>
                            <a:srgbClr val="000000"/>
                          </a:solidFill>
                          <a:latin typeface="Calibri"/>
                        </a:rPr>
                      </a:b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1575601623"/>
              </p:ext>
            </p:extLst>
          </p:nvPr>
        </p:nvGraphicFramePr>
        <p:xfrm>
          <a:off x="609600" y="3028950"/>
          <a:ext cx="4648200" cy="817245"/>
        </p:xfrm>
        <a:graphic>
          <a:graphicData uri="http://schemas.openxmlformats.org/drawingml/2006/table">
            <a:tbl>
              <a:tblPr/>
              <a:tblGrid>
                <a:gridCol w="4648200"/>
              </a:tblGrid>
              <a:tr h="380999">
                <a:tc>
                  <a:txBody>
                    <a:bodyPr/>
                    <a:lstStyle/>
                    <a:p>
                      <a:endParaRPr lang="en-US" sz="18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Scripts accumulate toward individual and/or family limit. When the limit is met, the plan will NOT pay any portion of the claim </a:t>
                      </a:r>
                    </a:p>
                    <a:p>
                      <a:pPr algn="l" fontAlgn="b"/>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Tree>
    <p:extLst>
      <p:ext uri="{BB962C8B-B14F-4D97-AF65-F5344CB8AC3E}">
        <p14:creationId xmlns:p14="http://schemas.microsoft.com/office/powerpoint/2010/main" val="1169768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linds(horizontal)">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diamond(in)">
                                      <p:cBhvr>
                                        <p:cTn id="22" dur="20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diamond(in)">
                                      <p:cBhvr>
                                        <p:cTn id="27" dur="20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amond(in)">
                                      <p:cBhvr>
                                        <p:cTn id="32"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15</a:t>
            </a:fld>
            <a:endParaRPr lang="en-US" dirty="0"/>
          </a:p>
        </p:txBody>
      </p:sp>
      <p:sp>
        <p:nvSpPr>
          <p:cNvPr id="7" name="Title 6"/>
          <p:cNvSpPr>
            <a:spLocks noGrp="1"/>
          </p:cNvSpPr>
          <p:nvPr>
            <p:ph type="title"/>
          </p:nvPr>
        </p:nvSpPr>
        <p:spPr/>
        <p:txBody>
          <a:bodyPr/>
          <a:lstStyle/>
          <a:p>
            <a:r>
              <a:rPr lang="en-US" dirty="0" smtClean="0"/>
              <a:t>Commercial deductible - Plans</a:t>
            </a:r>
            <a:endParaRPr lang="en-US" dirty="0"/>
          </a:p>
        </p:txBody>
      </p:sp>
      <p:graphicFrame>
        <p:nvGraphicFramePr>
          <p:cNvPr id="8" name="Table 7"/>
          <p:cNvGraphicFramePr>
            <a:graphicFrameLocks noGrp="1"/>
          </p:cNvGraphicFramePr>
          <p:nvPr/>
        </p:nvGraphicFramePr>
        <p:xfrm>
          <a:off x="1219200" y="1200150"/>
          <a:ext cx="1447800" cy="3276604"/>
        </p:xfrm>
        <a:graphic>
          <a:graphicData uri="http://schemas.openxmlformats.org/drawingml/2006/table">
            <a:tbl>
              <a:tblPr/>
              <a:tblGrid>
                <a:gridCol w="1447800"/>
              </a:tblGrid>
              <a:tr h="819151">
                <a:tc>
                  <a:txBody>
                    <a:bodyPr/>
                    <a:lstStyle/>
                    <a:p>
                      <a:pPr algn="ctr" fontAlgn="b"/>
                      <a:r>
                        <a:rPr lang="en-US" sz="1100" b="0" i="0" u="none" strike="noStrike" dirty="0">
                          <a:solidFill>
                            <a:srgbClr val="000000"/>
                          </a:solidFill>
                          <a:latin typeface="Calibri"/>
                        </a:rPr>
                        <a:t>DED</a:t>
                      </a: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a:solidFill>
                            <a:srgbClr val="000000"/>
                          </a:solidFill>
                          <a:latin typeface="Calibri"/>
                        </a:rPr>
                        <a:t>MOP</a:t>
                      </a: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a:solidFill>
                            <a:srgbClr val="000000"/>
                          </a:solidFill>
                          <a:latin typeface="Calibri"/>
                        </a:rPr>
                        <a:t>MPP</a:t>
                      </a: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a:solidFill>
                            <a:srgbClr val="000000"/>
                          </a:solidFill>
                          <a:latin typeface="Calibri"/>
                        </a:rPr>
                        <a:t>After MPP</a:t>
                      </a:r>
                    </a:p>
                  </a:txBody>
                  <a:tcPr marL="9525" marR="9525" marT="9525" marB="0" anchor="b">
                    <a:lnL>
                      <a:noFill/>
                    </a:lnL>
                    <a:lnR>
                      <a:noFill/>
                    </a:lnR>
                    <a:lnT>
                      <a:noFill/>
                    </a:lnT>
                    <a:lnB>
                      <a:noFill/>
                    </a:lnB>
                    <a:solidFill>
                      <a:srgbClr val="C00000"/>
                    </a:solidFill>
                  </a:tcPr>
                </a:tc>
              </a:tr>
            </a:tbl>
          </a:graphicData>
        </a:graphic>
      </p:graphicFrame>
      <p:graphicFrame>
        <p:nvGraphicFramePr>
          <p:cNvPr id="9" name="Table 8"/>
          <p:cNvGraphicFramePr>
            <a:graphicFrameLocks noGrp="1"/>
          </p:cNvGraphicFramePr>
          <p:nvPr/>
        </p:nvGraphicFramePr>
        <p:xfrm>
          <a:off x="5562600" y="1200150"/>
          <a:ext cx="1447800" cy="3276604"/>
        </p:xfrm>
        <a:graphic>
          <a:graphicData uri="http://schemas.openxmlformats.org/drawingml/2006/table">
            <a:tbl>
              <a:tblPr/>
              <a:tblGrid>
                <a:gridCol w="1447800"/>
              </a:tblGrid>
              <a:tr h="819151">
                <a:tc>
                  <a:txBody>
                    <a:bodyPr/>
                    <a:lstStyle/>
                    <a:p>
                      <a:pPr algn="ctr" fontAlgn="b"/>
                      <a:r>
                        <a:rPr lang="en-US" sz="1100" b="0" i="0" u="none" strike="noStrike" dirty="0">
                          <a:solidFill>
                            <a:srgbClr val="000000"/>
                          </a:solidFill>
                          <a:latin typeface="Calibri"/>
                        </a:rPr>
                        <a:t>DED&amp;MOP</a:t>
                      </a: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a:solidFill>
                            <a:srgbClr val="000000"/>
                          </a:solidFill>
                          <a:latin typeface="Calibri"/>
                        </a:rPr>
                        <a:t>MOP</a:t>
                      </a: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a:solidFill>
                            <a:srgbClr val="000000"/>
                          </a:solidFill>
                          <a:latin typeface="Calibri"/>
                        </a:rPr>
                        <a:t>MPP</a:t>
                      </a: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a:solidFill>
                            <a:srgbClr val="000000"/>
                          </a:solidFill>
                          <a:latin typeface="Calibri"/>
                        </a:rPr>
                        <a:t>After MPP</a:t>
                      </a: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28194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2819400" y="20383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28956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2819400" y="37909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p:cNvSpPr/>
          <p:nvPr/>
        </p:nvSpPr>
        <p:spPr>
          <a:xfrm>
            <a:off x="7391400" y="2800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Right Brace 15"/>
          <p:cNvSpPr/>
          <p:nvPr/>
        </p:nvSpPr>
        <p:spPr>
          <a:xfrm>
            <a:off x="7391400" y="1276350"/>
            <a:ext cx="76200" cy="1371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Right Brace 16"/>
          <p:cNvSpPr/>
          <p:nvPr/>
        </p:nvSpPr>
        <p:spPr>
          <a:xfrm>
            <a:off x="7391400" y="36385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18" name="Table 17"/>
          <p:cNvGraphicFramePr>
            <a:graphicFrameLocks noGrp="1"/>
          </p:cNvGraphicFramePr>
          <p:nvPr>
            <p:extLst>
              <p:ext uri="{D42A27DB-BD31-4B8C-83A1-F6EECF244321}">
                <p14:modId xmlns:p14="http://schemas.microsoft.com/office/powerpoint/2010/main" val="2391628549"/>
              </p:ext>
            </p:extLst>
          </p:nvPr>
        </p:nvGraphicFramePr>
        <p:xfrm>
          <a:off x="3087688" y="1504950"/>
          <a:ext cx="950912" cy="190500"/>
        </p:xfrm>
        <a:graphic>
          <a:graphicData uri="http://schemas.openxmlformats.org/drawingml/2006/table">
            <a:tbl>
              <a:tblPr/>
              <a:tblGrid>
                <a:gridCol w="950912"/>
              </a:tblGrid>
              <a:tr h="190500">
                <a:tc>
                  <a:txBody>
                    <a:bodyPr/>
                    <a:lstStyle/>
                    <a:p>
                      <a:pPr algn="r" fontAlgn="b"/>
                      <a:r>
                        <a:rPr lang="en-US" sz="1100" b="0" i="0" u="none" strike="noStrike" dirty="0" smtClean="0">
                          <a:solidFill>
                            <a:srgbClr val="000000"/>
                          </a:solidFill>
                          <a:latin typeface="Calibri"/>
                        </a:rPr>
                        <a:t>100% Member</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2971800" y="2190750"/>
          <a:ext cx="1371600" cy="344805"/>
        </p:xfrm>
        <a:graphic>
          <a:graphicData uri="http://schemas.openxmlformats.org/drawingml/2006/table">
            <a:tbl>
              <a:tblPr/>
              <a:tblGrid>
                <a:gridCol w="1371600"/>
              </a:tblGrid>
              <a:tr h="190500">
                <a:tc>
                  <a:txBody>
                    <a:bodyPr/>
                    <a:lstStyle/>
                    <a:p>
                      <a:pPr algn="l" fontAlgn="b"/>
                      <a:r>
                        <a:rPr lang="en-US" sz="1100" b="0" i="0" u="none" strike="noStrike" dirty="0">
                          <a:solidFill>
                            <a:srgbClr val="000000"/>
                          </a:solidFill>
                          <a:latin typeface="Calibri"/>
                        </a:rPr>
                        <a:t>COPAY/COINSURENCE FROM THE PLAN</a:t>
                      </a: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3048000" y="2988946"/>
          <a:ext cx="1371600" cy="304800"/>
        </p:xfrm>
        <a:graphic>
          <a:graphicData uri="http://schemas.openxmlformats.org/drawingml/2006/table">
            <a:tbl>
              <a:tblPr/>
              <a:tblGrid>
                <a:gridCol w="1371600"/>
              </a:tblGrid>
              <a:tr h="304800">
                <a:tc>
                  <a:txBody>
                    <a:bodyPr/>
                    <a:lstStyle/>
                    <a:p>
                      <a:pPr algn="l" fontAlgn="b"/>
                      <a:r>
                        <a:rPr lang="en-US" sz="1100" b="0" i="0" u="none" strike="noStrike" dirty="0" smtClean="0">
                          <a:solidFill>
                            <a:srgbClr val="000000"/>
                          </a:solidFill>
                          <a:latin typeface="Calibri"/>
                        </a:rPr>
                        <a:t>100%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3048000" y="3943350"/>
          <a:ext cx="1371600" cy="344805"/>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Percentage</a:t>
                      </a:r>
                      <a:r>
                        <a:rPr lang="en-US" sz="1100" b="0" i="0" u="none" strike="noStrike" baseline="0" dirty="0" smtClean="0">
                          <a:solidFill>
                            <a:srgbClr val="000000"/>
                          </a:solidFill>
                          <a:latin typeface="Calibri"/>
                        </a:rPr>
                        <a:t> defined in the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2" name="Table 21"/>
          <p:cNvGraphicFramePr>
            <a:graphicFrameLocks noGrp="1"/>
          </p:cNvGraphicFramePr>
          <p:nvPr/>
        </p:nvGraphicFramePr>
        <p:xfrm>
          <a:off x="7772400" y="1581150"/>
          <a:ext cx="341312" cy="190500"/>
        </p:xfrm>
        <a:graphic>
          <a:graphicData uri="http://schemas.openxmlformats.org/drawingml/2006/table">
            <a:tbl>
              <a:tblPr/>
              <a:tblGrid>
                <a:gridCol w="341312"/>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
        <p:nvSpPr>
          <p:cNvPr id="23" name="Right Brace 22"/>
          <p:cNvSpPr/>
          <p:nvPr/>
        </p:nvSpPr>
        <p:spPr>
          <a:xfrm>
            <a:off x="76200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Right Brace 23"/>
          <p:cNvSpPr/>
          <p:nvPr/>
        </p:nvSpPr>
        <p:spPr>
          <a:xfrm>
            <a:off x="7620000" y="19621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25" name="Table 24"/>
          <p:cNvGraphicFramePr>
            <a:graphicFrameLocks noGrp="1"/>
          </p:cNvGraphicFramePr>
          <p:nvPr/>
        </p:nvGraphicFramePr>
        <p:xfrm>
          <a:off x="7772400" y="2190750"/>
          <a:ext cx="1371600" cy="344805"/>
        </p:xfrm>
        <a:graphic>
          <a:graphicData uri="http://schemas.openxmlformats.org/drawingml/2006/table">
            <a:tbl>
              <a:tblPr/>
              <a:tblGrid>
                <a:gridCol w="1371600"/>
              </a:tblGrid>
              <a:tr h="190500">
                <a:tc>
                  <a:txBody>
                    <a:bodyPr/>
                    <a:lstStyle/>
                    <a:p>
                      <a:pPr algn="l" fontAlgn="b"/>
                      <a:r>
                        <a:rPr lang="en-US" sz="1100" b="0" i="0" u="none" strike="noStrike" dirty="0">
                          <a:solidFill>
                            <a:srgbClr val="000000"/>
                          </a:solidFill>
                          <a:latin typeface="Calibri"/>
                        </a:rPr>
                        <a:t>COPAY/COINSURENCE FROM THE PLAN</a:t>
                      </a:r>
                    </a:p>
                  </a:txBody>
                  <a:tcPr marL="9525" marR="9525" marT="9525" marB="0" anchor="b">
                    <a:lnL>
                      <a:noFill/>
                    </a:lnL>
                    <a:lnR>
                      <a:noFill/>
                    </a:lnR>
                    <a:lnT>
                      <a:noFill/>
                    </a:lnT>
                    <a:lnB>
                      <a:noFill/>
                    </a:lnB>
                  </a:tcPr>
                </a:tc>
              </a:tr>
            </a:tbl>
          </a:graphicData>
        </a:graphic>
      </p:graphicFrame>
      <p:graphicFrame>
        <p:nvGraphicFramePr>
          <p:cNvPr id="26" name="Table 25"/>
          <p:cNvGraphicFramePr>
            <a:graphicFrameLocks noGrp="1"/>
          </p:cNvGraphicFramePr>
          <p:nvPr/>
        </p:nvGraphicFramePr>
        <p:xfrm>
          <a:off x="7543800" y="2952750"/>
          <a:ext cx="1371600" cy="190500"/>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100 %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7" name="Table 26"/>
          <p:cNvGraphicFramePr>
            <a:graphicFrameLocks noGrp="1"/>
          </p:cNvGraphicFramePr>
          <p:nvPr/>
        </p:nvGraphicFramePr>
        <p:xfrm>
          <a:off x="7543800" y="3867150"/>
          <a:ext cx="1371600" cy="344805"/>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Percentage</a:t>
                      </a:r>
                      <a:r>
                        <a:rPr lang="en-US" sz="1100" b="0" i="0" u="none" strike="noStrike" baseline="0" dirty="0" smtClean="0">
                          <a:solidFill>
                            <a:srgbClr val="000000"/>
                          </a:solidFill>
                          <a:latin typeface="Calibri"/>
                        </a:rPr>
                        <a:t> defined in the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
        <p:nvSpPr>
          <p:cNvPr id="28" name="Right Brace 27"/>
          <p:cNvSpPr/>
          <p:nvPr/>
        </p:nvSpPr>
        <p:spPr>
          <a:xfrm>
            <a:off x="7162800" y="2114550"/>
            <a:ext cx="762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p:cNvSpPr/>
          <p:nvPr/>
        </p:nvSpPr>
        <p:spPr>
          <a:xfrm>
            <a:off x="2743200" y="2114550"/>
            <a:ext cx="762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16</a:t>
            </a:fld>
            <a:endParaRPr lang="en-US" dirty="0"/>
          </a:p>
        </p:txBody>
      </p:sp>
      <p:sp>
        <p:nvSpPr>
          <p:cNvPr id="7" name="Title 6"/>
          <p:cNvSpPr>
            <a:spLocks noGrp="1"/>
          </p:cNvSpPr>
          <p:nvPr>
            <p:ph type="title"/>
          </p:nvPr>
        </p:nvSpPr>
        <p:spPr/>
        <p:txBody>
          <a:bodyPr/>
          <a:lstStyle/>
          <a:p>
            <a:r>
              <a:rPr lang="en-US" dirty="0" smtClean="0"/>
              <a:t>PART-D Deductible Plan</a:t>
            </a:r>
            <a:endParaRPr lang="en-US" dirty="0"/>
          </a:p>
        </p:txBody>
      </p:sp>
      <p:graphicFrame>
        <p:nvGraphicFramePr>
          <p:cNvPr id="8" name="Table 7"/>
          <p:cNvGraphicFramePr>
            <a:graphicFrameLocks noGrp="1"/>
          </p:cNvGraphicFramePr>
          <p:nvPr/>
        </p:nvGraphicFramePr>
        <p:xfrm>
          <a:off x="5867400" y="1200150"/>
          <a:ext cx="1447800" cy="3276604"/>
        </p:xfrm>
        <a:graphic>
          <a:graphicData uri="http://schemas.openxmlformats.org/drawingml/2006/table">
            <a:tbl>
              <a:tblPr/>
              <a:tblGrid>
                <a:gridCol w="1447800"/>
              </a:tblGrid>
              <a:tr h="819151">
                <a:tc>
                  <a:txBody>
                    <a:bodyPr/>
                    <a:lstStyle/>
                    <a:p>
                      <a:pPr algn="ctr"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smtClean="0">
                          <a:solidFill>
                            <a:srgbClr val="000000"/>
                          </a:solidFill>
                          <a:latin typeface="Calibri"/>
                        </a:rPr>
                        <a:t>CAT</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76200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7620000" y="20383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76200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7620000" y="37147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nvGraphicFramePr>
        <p:xfrm>
          <a:off x="7848600" y="1504950"/>
          <a:ext cx="417512" cy="190500"/>
        </p:xfrm>
        <a:graphic>
          <a:graphicData uri="http://schemas.openxmlformats.org/drawingml/2006/table">
            <a:tbl>
              <a:tblPr/>
              <a:tblGrid>
                <a:gridCol w="417512"/>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7772400" y="2190750"/>
          <a:ext cx="1371600" cy="190500"/>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25%  Member</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7772400" y="3105150"/>
          <a:ext cx="1371600" cy="190500"/>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47.5</a:t>
                      </a:r>
                      <a:r>
                        <a:rPr lang="en-US" sz="1100" b="0" i="0" u="none" strike="noStrike" baseline="0" dirty="0" smtClean="0">
                          <a:solidFill>
                            <a:srgbClr val="000000"/>
                          </a:solidFill>
                          <a:latin typeface="Calibri"/>
                        </a:rPr>
                        <a:t> % or 72% copay</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7772400" y="3790950"/>
          <a:ext cx="1371600" cy="344805"/>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5%</a:t>
                      </a:r>
                      <a:r>
                        <a:rPr lang="en-US" sz="1100" b="0" i="0" u="none" strike="noStrike" baseline="0" dirty="0" smtClean="0">
                          <a:solidFill>
                            <a:srgbClr val="000000"/>
                          </a:solidFill>
                          <a:latin typeface="Calibri"/>
                        </a:rPr>
                        <a:t> or $2.55 or $6.35 copay</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5" name="Table 34"/>
          <p:cNvGraphicFramePr>
            <a:graphicFrameLocks noGrp="1"/>
          </p:cNvGraphicFramePr>
          <p:nvPr/>
        </p:nvGraphicFramePr>
        <p:xfrm>
          <a:off x="685800" y="1428750"/>
          <a:ext cx="3276600" cy="380999"/>
        </p:xfrm>
        <a:graphic>
          <a:graphicData uri="http://schemas.openxmlformats.org/drawingml/2006/table">
            <a:tbl>
              <a:tblPr/>
              <a:tblGrid>
                <a:gridCol w="3276600"/>
              </a:tblGrid>
              <a:tr h="380999">
                <a:tc>
                  <a:txBody>
                    <a:bodyPr/>
                    <a:lstStyle/>
                    <a:p>
                      <a:pPr algn="l" fontAlgn="b"/>
                      <a:r>
                        <a:rPr lang="en-US" sz="1200" kern="1200" baseline="0" dirty="0" smtClean="0">
                          <a:solidFill>
                            <a:schemeClr val="tx1"/>
                          </a:solidFill>
                          <a:latin typeface="+mn-lt"/>
                          <a:ea typeface="+mn-ea"/>
                          <a:cs typeface="+mn-cs"/>
                        </a:rPr>
                        <a:t>The amount of money a Part D member must pay before the plan starts to pay </a:t>
                      </a:r>
                      <a:endParaRPr lang="en-US" sz="12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3939051573"/>
              </p:ext>
            </p:extLst>
          </p:nvPr>
        </p:nvGraphicFramePr>
        <p:xfrm>
          <a:off x="609600" y="2266950"/>
          <a:ext cx="4114800" cy="314325"/>
        </p:xfrm>
        <a:graphic>
          <a:graphicData uri="http://schemas.openxmlformats.org/drawingml/2006/table">
            <a:tbl>
              <a:tblPr/>
              <a:tblGrid>
                <a:gridCol w="4114800"/>
              </a:tblGrid>
              <a:tr h="314325">
                <a:tc>
                  <a:txBody>
                    <a:bodyPr/>
                    <a:lstStyle/>
                    <a:p>
                      <a:pPr algn="l" fontAlgn="b"/>
                      <a:r>
                        <a:rPr lang="en-US" sz="1200" b="0" i="0" u="none" strike="noStrike" dirty="0" smtClean="0">
                          <a:solidFill>
                            <a:srgbClr val="000000"/>
                          </a:solidFill>
                          <a:latin typeface="Calibri"/>
                        </a:rPr>
                        <a:t>Member cost sharing is 25% until</a:t>
                      </a:r>
                      <a:r>
                        <a:rPr lang="en-US" sz="1200" b="0" i="0" u="none" strike="noStrike" baseline="0" dirty="0" smtClean="0">
                          <a:solidFill>
                            <a:srgbClr val="000000"/>
                          </a:solidFill>
                          <a:latin typeface="Calibri"/>
                        </a:rPr>
                        <a:t> member meet IC limit</a:t>
                      </a:r>
                      <a:endParaRPr lang="en-US" sz="12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2063648062"/>
              </p:ext>
            </p:extLst>
          </p:nvPr>
        </p:nvGraphicFramePr>
        <p:xfrm>
          <a:off x="609600" y="3028950"/>
          <a:ext cx="3429000" cy="477202"/>
        </p:xfrm>
        <a:graphic>
          <a:graphicData uri="http://schemas.openxmlformats.org/drawingml/2006/table">
            <a:tbl>
              <a:tblPr/>
              <a:tblGrid>
                <a:gridCol w="3429000"/>
              </a:tblGrid>
              <a:tr h="477202">
                <a:tc>
                  <a:txBody>
                    <a:bodyPr/>
                    <a:lstStyle/>
                    <a:p>
                      <a:pPr algn="l" fontAlgn="b"/>
                      <a:r>
                        <a:rPr lang="en-US" sz="1200" b="0" i="0" u="none" strike="noStrike" dirty="0" smtClean="0">
                          <a:solidFill>
                            <a:srgbClr val="000000"/>
                          </a:solidFill>
                          <a:latin typeface="Calibri"/>
                        </a:rPr>
                        <a:t>Member cost</a:t>
                      </a:r>
                      <a:r>
                        <a:rPr lang="en-US" sz="1200" b="0" i="0" u="none" strike="noStrike" baseline="0" dirty="0" smtClean="0">
                          <a:solidFill>
                            <a:srgbClr val="000000"/>
                          </a:solidFill>
                          <a:latin typeface="Calibri"/>
                        </a:rPr>
                        <a:t> sharing is 47.5% for brand,72% generic drugs until member meets out of pocket threshold</a:t>
                      </a:r>
                      <a:endParaRPr lang="en-US" sz="12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8" name="Table 37"/>
          <p:cNvGraphicFramePr>
            <a:graphicFrameLocks noGrp="1"/>
          </p:cNvGraphicFramePr>
          <p:nvPr/>
        </p:nvGraphicFramePr>
        <p:xfrm>
          <a:off x="609600" y="1123950"/>
          <a:ext cx="1143000" cy="190500"/>
        </p:xfrm>
        <a:graphic>
          <a:graphicData uri="http://schemas.openxmlformats.org/drawingml/2006/table">
            <a:tbl>
              <a:tblPr/>
              <a:tblGrid>
                <a:gridCol w="1143000"/>
              </a:tblGrid>
              <a:tr h="190500">
                <a:tc>
                  <a:txBody>
                    <a:bodyPr/>
                    <a:lstStyle/>
                    <a:p>
                      <a:pPr algn="l" fontAlgn="b"/>
                      <a:r>
                        <a:rPr lang="en-US" sz="1100" b="1" i="0" u="none" strike="noStrike" baseline="0" dirty="0">
                          <a:solidFill>
                            <a:schemeClr val="accent2">
                              <a:lumMod val="75000"/>
                            </a:schemeClr>
                          </a:solidFill>
                          <a:latin typeface="Calibri"/>
                        </a:rPr>
                        <a:t>DED </a:t>
                      </a:r>
                      <a:r>
                        <a:rPr lang="en-US" sz="1100" b="1" i="0" u="none" strike="noStrike" baseline="0" dirty="0" smtClean="0">
                          <a:solidFill>
                            <a:schemeClr val="accent2">
                              <a:lumMod val="75000"/>
                            </a:schemeClr>
                          </a:solidFill>
                          <a:latin typeface="Calibri"/>
                        </a:rPr>
                        <a:t>Phase(DD1)</a:t>
                      </a:r>
                      <a:endParaRPr lang="en-US" sz="1100" b="1" i="0" u="none" strike="noStrike" baseline="0" dirty="0">
                        <a:solidFill>
                          <a:schemeClr val="accent2">
                            <a:lumMod val="75000"/>
                          </a:schemeClr>
                        </a:solidFill>
                        <a:latin typeface="Calibri"/>
                      </a:endParaRPr>
                    </a:p>
                  </a:txBody>
                  <a:tcPr marL="9525" marR="9525" marT="9525" marB="0" anchor="b">
                    <a:lnL>
                      <a:noFill/>
                    </a:lnL>
                    <a:lnR>
                      <a:noFill/>
                    </a:lnR>
                    <a:lnT>
                      <a:noFill/>
                    </a:lnT>
                    <a:lnB>
                      <a:noFill/>
                    </a:lnB>
                  </a:tcPr>
                </a:tc>
              </a:tr>
            </a:tbl>
          </a:graphicData>
        </a:graphic>
      </p:graphicFrame>
      <p:graphicFrame>
        <p:nvGraphicFramePr>
          <p:cNvPr id="39" name="Table 38"/>
          <p:cNvGraphicFramePr>
            <a:graphicFrameLocks noGrp="1"/>
          </p:cNvGraphicFramePr>
          <p:nvPr/>
        </p:nvGraphicFramePr>
        <p:xfrm>
          <a:off x="609600" y="2013585"/>
          <a:ext cx="1600200" cy="177165"/>
        </p:xfrm>
        <a:graphic>
          <a:graphicData uri="http://schemas.openxmlformats.org/drawingml/2006/table">
            <a:tbl>
              <a:tblPr/>
              <a:tblGrid>
                <a:gridCol w="1600200"/>
              </a:tblGrid>
              <a:tr h="152400">
                <a:tc>
                  <a:txBody>
                    <a:bodyPr/>
                    <a:lstStyle/>
                    <a:p>
                      <a:pPr marL="0" algn="l" defTabSz="914400" rtl="0" eaLnBrk="1" fontAlgn="b" latinLnBrk="0" hangingPunct="1"/>
                      <a:r>
                        <a:rPr lang="en-US" sz="1100" b="1" i="0" u="none" strike="noStrike" kern="1200" baseline="0" dirty="0" smtClean="0">
                          <a:solidFill>
                            <a:schemeClr val="accent2">
                              <a:lumMod val="75000"/>
                            </a:schemeClr>
                          </a:solidFill>
                          <a:latin typeface="Calibri"/>
                          <a:ea typeface="+mn-ea"/>
                          <a:cs typeface="+mn-cs"/>
                        </a:rPr>
                        <a:t>Initial Coverage Phase (IC1)</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0" name="Table 39"/>
          <p:cNvGraphicFramePr>
            <a:graphicFrameLocks noGrp="1"/>
          </p:cNvGraphicFramePr>
          <p:nvPr/>
        </p:nvGraphicFramePr>
        <p:xfrm>
          <a:off x="609600" y="2724150"/>
          <a:ext cx="1676400" cy="177165"/>
        </p:xfrm>
        <a:graphic>
          <a:graphicData uri="http://schemas.openxmlformats.org/drawingml/2006/table">
            <a:tbl>
              <a:tblPr/>
              <a:tblGrid>
                <a:gridCol w="1676400"/>
              </a:tblGrid>
              <a:tr h="152400">
                <a:tc>
                  <a:txBody>
                    <a:bodyPr/>
                    <a:lstStyle/>
                    <a:p>
                      <a:pPr marL="0" algn="l" defTabSz="914400" rtl="0" eaLnBrk="1" fontAlgn="b" latinLnBrk="0" hangingPunct="1"/>
                      <a:r>
                        <a:rPr lang="en-US" sz="1100" b="1" i="0" u="none" strike="noStrike" kern="1200" baseline="0" dirty="0" smtClean="0">
                          <a:solidFill>
                            <a:schemeClr val="accent2">
                              <a:lumMod val="75000"/>
                            </a:schemeClr>
                          </a:solidFill>
                          <a:latin typeface="Calibri"/>
                          <a:ea typeface="+mn-ea"/>
                          <a:cs typeface="+mn-cs"/>
                        </a:rPr>
                        <a:t>Coverage Gap Phase (CG1)</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1" name="Table 40"/>
          <p:cNvGraphicFramePr>
            <a:graphicFrameLocks noGrp="1"/>
          </p:cNvGraphicFramePr>
          <p:nvPr>
            <p:extLst>
              <p:ext uri="{D42A27DB-BD31-4B8C-83A1-F6EECF244321}">
                <p14:modId xmlns:p14="http://schemas.microsoft.com/office/powerpoint/2010/main" val="1569229481"/>
              </p:ext>
            </p:extLst>
          </p:nvPr>
        </p:nvGraphicFramePr>
        <p:xfrm>
          <a:off x="609600" y="3790950"/>
          <a:ext cx="1752600" cy="190500"/>
        </p:xfrm>
        <a:graphic>
          <a:graphicData uri="http://schemas.openxmlformats.org/drawingml/2006/table">
            <a:tbl>
              <a:tblPr/>
              <a:tblGrid>
                <a:gridCol w="1752600"/>
              </a:tblGrid>
              <a:tr h="190500">
                <a:tc>
                  <a:txBody>
                    <a:bodyPr/>
                    <a:lstStyle/>
                    <a:p>
                      <a:pPr marL="0" algn="l" defTabSz="914400" rtl="0" eaLnBrk="1" fontAlgn="b" latinLnBrk="0" hangingPunct="1"/>
                      <a:r>
                        <a:rPr lang="en-US" sz="1100" b="1" i="0" u="none" strike="noStrike" kern="1200" baseline="0" dirty="0" smtClean="0">
                          <a:solidFill>
                            <a:schemeClr val="accent2">
                              <a:lumMod val="75000"/>
                            </a:schemeClr>
                          </a:solidFill>
                          <a:latin typeface="Calibri"/>
                          <a:ea typeface="+mn-ea"/>
                          <a:cs typeface="+mn-cs"/>
                        </a:rPr>
                        <a:t>Catastrophic Phase (CAT)</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2" name="Table 41"/>
          <p:cNvGraphicFramePr>
            <a:graphicFrameLocks noGrp="1"/>
          </p:cNvGraphicFramePr>
          <p:nvPr/>
        </p:nvGraphicFramePr>
        <p:xfrm>
          <a:off x="609600" y="4171950"/>
          <a:ext cx="3429000" cy="344805"/>
        </p:xfrm>
        <a:graphic>
          <a:graphicData uri="http://schemas.openxmlformats.org/drawingml/2006/table">
            <a:tbl>
              <a:tblPr/>
              <a:tblGrid>
                <a:gridCol w="3429000"/>
              </a:tblGrid>
              <a:tr h="248602">
                <a:tc>
                  <a:txBody>
                    <a:bodyPr/>
                    <a:lstStyle/>
                    <a:p>
                      <a:pPr algn="l" fontAlgn="b"/>
                      <a:r>
                        <a:rPr lang="en-US" sz="1100" b="0" i="0" u="none" strike="noStrike" dirty="0" smtClean="0">
                          <a:solidFill>
                            <a:srgbClr val="000000"/>
                          </a:solidFill>
                          <a:latin typeface="Calibri"/>
                        </a:rPr>
                        <a:t>Greater of 5% of drug cost or $2.55</a:t>
                      </a:r>
                      <a:r>
                        <a:rPr lang="en-US" sz="1100" b="0" i="0" u="none" strike="noStrike" baseline="0" dirty="0" smtClean="0">
                          <a:solidFill>
                            <a:srgbClr val="000000"/>
                          </a:solidFill>
                          <a:latin typeface="Calibri"/>
                        </a:rPr>
                        <a:t> for Generic or $6.35 for Brand</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43" name="Table 42"/>
          <p:cNvGraphicFramePr>
            <a:graphicFrameLocks noGrp="1"/>
          </p:cNvGraphicFramePr>
          <p:nvPr/>
        </p:nvGraphicFramePr>
        <p:xfrm>
          <a:off x="609600" y="742950"/>
          <a:ext cx="3886200" cy="481965"/>
        </p:xfrm>
        <a:graphic>
          <a:graphicData uri="http://schemas.openxmlformats.org/drawingml/2006/table">
            <a:tbl>
              <a:tblPr/>
              <a:tblGrid>
                <a:gridCol w="3886200"/>
              </a:tblGrid>
              <a:tr h="304800">
                <a:tc>
                  <a:txBody>
                    <a:bodyPr/>
                    <a:lstStyle/>
                    <a:p>
                      <a:pPr algn="l" fontAlgn="b"/>
                      <a:r>
                        <a:rPr lang="en-US" sz="2000" b="0" i="0" u="none" strike="noStrike" dirty="0" smtClean="0">
                          <a:solidFill>
                            <a:srgbClr val="000000"/>
                          </a:solidFill>
                          <a:latin typeface="Calibri"/>
                        </a:rPr>
                        <a:t>Governed </a:t>
                      </a:r>
                      <a:r>
                        <a:rPr lang="en-US" sz="2000" b="0" i="0" u="none" strike="noStrike" dirty="0">
                          <a:solidFill>
                            <a:srgbClr val="000000"/>
                          </a:solidFill>
                          <a:latin typeface="Calibri"/>
                        </a:rPr>
                        <a:t>by </a:t>
                      </a:r>
                      <a:r>
                        <a:rPr lang="en-US" sz="2000" b="0" i="0" u="none" strike="noStrike" dirty="0" smtClean="0">
                          <a:solidFill>
                            <a:srgbClr val="000000"/>
                          </a:solidFill>
                          <a:latin typeface="Calibri"/>
                        </a:rPr>
                        <a:t>CMS</a:t>
                      </a:r>
                      <a:r>
                        <a:rPr lang="en-US" sz="1100" b="0" i="0" u="none" strike="noStrike" dirty="0">
                          <a:solidFill>
                            <a:srgbClr val="000000"/>
                          </a:solidFill>
                          <a:latin typeface="Calibri"/>
                        </a:rPr>
                        <a:t/>
                      </a:r>
                      <a:br>
                        <a:rPr lang="en-US" sz="1100" b="0" i="0" u="none" strike="noStrike" dirty="0">
                          <a:solidFill>
                            <a:srgbClr val="000000"/>
                          </a:solidFill>
                          <a:latin typeface="Calibri"/>
                        </a:rPr>
                      </a:b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linds(horizontal)">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blinds(horizontal)">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diamond(in)">
                                      <p:cBhvr>
                                        <p:cTn id="32" dur="20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diamond(in)">
                                      <p:cBhvr>
                                        <p:cTn id="37" dur="20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diamond(in)">
                                      <p:cBhvr>
                                        <p:cTn id="42" dur="20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diamond(in)">
                                      <p:cBhvr>
                                        <p:cTn id="47" dur="20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29" presetClass="entr" presetSubtype="0"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1000" fill="hold"/>
                                        <p:tgtEl>
                                          <p:spTgt spid="8"/>
                                        </p:tgtEl>
                                        <p:attrNameLst>
                                          <p:attrName>ppt_x</p:attrName>
                                        </p:attrNameLst>
                                      </p:cBhvr>
                                      <p:tavLst>
                                        <p:tav tm="0">
                                          <p:val>
                                            <p:strVal val="#ppt_x-.2"/>
                                          </p:val>
                                        </p:tav>
                                        <p:tav tm="100000">
                                          <p:val>
                                            <p:strVal val="#ppt_x"/>
                                          </p:val>
                                        </p:tav>
                                      </p:tavLst>
                                    </p:anim>
                                    <p:anim calcmode="lin" valueType="num">
                                      <p:cBhvr>
                                        <p:cTn id="5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54" dur="10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blinds(horizontal)">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blinds(horizontal)">
                                      <p:cBhvr>
                                        <p:cTn id="64" dur="5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blinds(horizontal)">
                                      <p:cBhvr>
                                        <p:cTn id="69" dur="500"/>
                                        <p:tgtEl>
                                          <p:spTgt spid="18"/>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blinds(horizontal)">
                                      <p:cBhvr>
                                        <p:cTn id="74" dur="500"/>
                                        <p:tgtEl>
                                          <p:spTgt spid="19"/>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blinds(horizontal)">
                                      <p:cBhvr>
                                        <p:cTn id="79" dur="500"/>
                                        <p:tgtEl>
                                          <p:spTgt spid="12"/>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blinds(horizontal)">
                                      <p:cBhvr>
                                        <p:cTn id="84" dur="500"/>
                                        <p:tgtEl>
                                          <p:spTgt spid="20"/>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blinds(horizontal)">
                                      <p:cBhvr>
                                        <p:cTn id="89" dur="500"/>
                                        <p:tgtEl>
                                          <p:spTgt spid="13"/>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blinds(horizontal)">
                                      <p:cBhvr>
                                        <p:cTn id="9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17</a:t>
            </a:fld>
            <a:endParaRPr lang="en-US" dirty="0"/>
          </a:p>
        </p:txBody>
      </p:sp>
      <p:sp>
        <p:nvSpPr>
          <p:cNvPr id="7" name="Title 6"/>
          <p:cNvSpPr>
            <a:spLocks noGrp="1"/>
          </p:cNvSpPr>
          <p:nvPr>
            <p:ph type="title"/>
          </p:nvPr>
        </p:nvSpPr>
        <p:spPr/>
        <p:txBody>
          <a:bodyPr/>
          <a:lstStyle/>
          <a:p>
            <a:r>
              <a:rPr lang="en-US" dirty="0" smtClean="0"/>
              <a:t>PART-D Deductible Plan	</a:t>
            </a:r>
            <a:endParaRPr lang="en-US" dirty="0"/>
          </a:p>
        </p:txBody>
      </p:sp>
      <p:graphicFrame>
        <p:nvGraphicFramePr>
          <p:cNvPr id="30" name="Table 29"/>
          <p:cNvGraphicFramePr>
            <a:graphicFrameLocks noGrp="1"/>
          </p:cNvGraphicFramePr>
          <p:nvPr/>
        </p:nvGraphicFramePr>
        <p:xfrm>
          <a:off x="838200" y="742950"/>
          <a:ext cx="6629400" cy="4064000"/>
        </p:xfrm>
        <a:graphic>
          <a:graphicData uri="http://schemas.openxmlformats.org/drawingml/2006/table">
            <a:tbl>
              <a:tblPr/>
              <a:tblGrid>
                <a:gridCol w="2917858"/>
                <a:gridCol w="1647725"/>
                <a:gridCol w="2063817"/>
              </a:tblGrid>
              <a:tr h="205422">
                <a:tc>
                  <a:txBody>
                    <a:bodyPr/>
                    <a:lstStyle/>
                    <a:p>
                      <a:pPr algn="l" fontAlgn="b"/>
                      <a:r>
                        <a:rPr lang="en-US" sz="1100" b="1" i="0" u="none" strike="noStrike" dirty="0">
                          <a:solidFill>
                            <a:srgbClr val="000000"/>
                          </a:solidFill>
                          <a:latin typeface="Calibri"/>
                        </a:rPr>
                        <a:t>Standard Part D Coverage for 2014</a:t>
                      </a:r>
                    </a:p>
                  </a:txBody>
                  <a:tcPr marL="9337" marR="9337" marT="9337"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BF8EE2"/>
                      </a:solidFill>
                      <a:prstDash val="solid"/>
                      <a:round/>
                      <a:headEnd type="none" w="med" len="med"/>
                      <a:tailEnd type="none" w="med" len="med"/>
                    </a:lnB>
                    <a:solidFill>
                      <a:srgbClr val="F6F6EE"/>
                    </a:solidFill>
                  </a:tcPr>
                </a:tc>
                <a:tc>
                  <a:txBody>
                    <a:bodyPr/>
                    <a:lstStyle/>
                    <a:p>
                      <a:pPr algn="l" fontAlgn="b"/>
                      <a:r>
                        <a:rPr lang="en-US" sz="1100" b="0" i="0" u="none" strike="noStrike">
                          <a:solidFill>
                            <a:srgbClr val="000000"/>
                          </a:solidFill>
                          <a:latin typeface="Calibri"/>
                        </a:rPr>
                        <a:t> </a:t>
                      </a:r>
                    </a:p>
                  </a:txBody>
                  <a:tcPr marL="9337" marR="9337" marT="9337" marB="0" anchor="b">
                    <a:lnL w="19050" cap="flat" cmpd="sng" algn="ctr">
                      <a:solidFill>
                        <a:srgbClr val="FFFFFF"/>
                      </a:solidFill>
                      <a:prstDash val="solid"/>
                      <a:round/>
                      <a:headEnd type="none" w="med" len="med"/>
                      <a:tailEnd type="none" w="med" len="med"/>
                    </a:lnL>
                    <a:lnR>
                      <a:noFill/>
                    </a:lnR>
                    <a:lnT>
                      <a:noFill/>
                    </a:lnT>
                    <a:lnB w="19050" cap="flat" cmpd="sng" algn="ctr">
                      <a:solidFill>
                        <a:srgbClr val="BF8EE2"/>
                      </a:solidFill>
                      <a:prstDash val="solid"/>
                      <a:round/>
                      <a:headEnd type="none" w="med" len="med"/>
                      <a:tailEnd type="none" w="med" len="med"/>
                    </a:lnB>
                    <a:solidFill>
                      <a:srgbClr val="F6F6EE"/>
                    </a:solidFill>
                  </a:tcPr>
                </a:tc>
                <a:tc>
                  <a:txBody>
                    <a:bodyPr/>
                    <a:lstStyle/>
                    <a:p>
                      <a:pPr algn="l" fontAlgn="b"/>
                      <a:r>
                        <a:rPr lang="en-US" sz="1100" b="0" i="0" u="none" strike="noStrike">
                          <a:solidFill>
                            <a:srgbClr val="000000"/>
                          </a:solidFill>
                          <a:latin typeface="Calibri"/>
                        </a:rPr>
                        <a:t> </a:t>
                      </a:r>
                    </a:p>
                  </a:txBody>
                  <a:tcPr marL="9337" marR="9337" marT="9337" marB="0" anchor="b">
                    <a:lnL>
                      <a:noFill/>
                    </a:lnL>
                    <a:lnR>
                      <a:noFill/>
                    </a:lnR>
                    <a:lnT>
                      <a:noFill/>
                    </a:lnT>
                    <a:lnB w="19050" cap="flat" cmpd="sng" algn="ctr">
                      <a:solidFill>
                        <a:srgbClr val="BF8EE2"/>
                      </a:solidFill>
                      <a:prstDash val="solid"/>
                      <a:round/>
                      <a:headEnd type="none" w="med" len="med"/>
                      <a:tailEnd type="none" w="med" len="med"/>
                    </a:lnB>
                    <a:solidFill>
                      <a:srgbClr val="F6F6EE"/>
                    </a:solidFill>
                  </a:tcPr>
                </a:tc>
              </a:tr>
              <a:tr h="205422">
                <a:tc>
                  <a:txBody>
                    <a:bodyPr/>
                    <a:lstStyle/>
                    <a:p>
                      <a:pPr algn="l" fontAlgn="t"/>
                      <a:r>
                        <a:rPr lang="en-US" sz="1000" b="1" i="0" u="none" strike="noStrike">
                          <a:solidFill>
                            <a:srgbClr val="28241E"/>
                          </a:solidFill>
                          <a:latin typeface="Verdana"/>
                        </a:rPr>
                        <a:t>Coverage</a:t>
                      </a:r>
                    </a:p>
                  </a:txBody>
                  <a:tcPr marL="9337" marR="9337" marT="9337" marB="0">
                    <a:lnL w="12700" cap="flat" cmpd="sng" algn="ctr">
                      <a:solidFill>
                        <a:srgbClr val="BF8EE2"/>
                      </a:solidFill>
                      <a:prstDash val="solid"/>
                      <a:round/>
                      <a:headEnd type="none" w="med" len="med"/>
                      <a:tailEnd type="none" w="med" len="med"/>
                    </a:lnL>
                    <a:lnR>
                      <a:noFill/>
                    </a:lnR>
                    <a:lnT w="1905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1" i="0" u="none" strike="noStrike">
                          <a:solidFill>
                            <a:srgbClr val="28241E"/>
                          </a:solidFill>
                          <a:latin typeface="Verdana"/>
                        </a:rPr>
                        <a:t>Part D Plan Pays</a:t>
                      </a:r>
                    </a:p>
                  </a:txBody>
                  <a:tcPr marL="9337" marR="9337" marT="9337" marB="0">
                    <a:lnL>
                      <a:noFill/>
                    </a:lnL>
                    <a:lnR>
                      <a:noFill/>
                    </a:lnR>
                    <a:lnT w="1905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1" i="0" u="none" strike="noStrike">
                          <a:solidFill>
                            <a:srgbClr val="28241E"/>
                          </a:solidFill>
                          <a:latin typeface="Verdana"/>
                        </a:rPr>
                        <a:t>You Pay</a:t>
                      </a:r>
                    </a:p>
                  </a:txBody>
                  <a:tcPr marL="9337" marR="9337" marT="9337" marB="0">
                    <a:lnL>
                      <a:noFill/>
                    </a:lnL>
                    <a:lnR w="12700" cap="flat" cmpd="sng" algn="ctr">
                      <a:solidFill>
                        <a:srgbClr val="BF8EE2"/>
                      </a:solidFill>
                      <a:prstDash val="solid"/>
                      <a:round/>
                      <a:headEnd type="none" w="med" len="med"/>
                      <a:tailEnd type="none" w="med" len="med"/>
                    </a:lnR>
                    <a:lnT w="1905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196085">
                <a:tc>
                  <a:txBody>
                    <a:bodyPr/>
                    <a:lstStyle/>
                    <a:p>
                      <a:pPr algn="l" fontAlgn="t"/>
                      <a:r>
                        <a:rPr lang="en-US" sz="1000" b="1" i="0" u="none" strike="noStrike">
                          <a:solidFill>
                            <a:srgbClr val="0F0E0C"/>
                          </a:solidFill>
                          <a:latin typeface="Verdana"/>
                        </a:rPr>
                        <a:t>Annual Deductible ($310)</a:t>
                      </a:r>
                    </a:p>
                  </a:txBody>
                  <a:tcPr marL="9337" marR="9337" marT="9337" marB="0">
                    <a:lnL w="12700" cap="flat" cmpd="sng" algn="ctr">
                      <a:solidFill>
                        <a:srgbClr val="BF8EE2"/>
                      </a:solidFill>
                      <a:prstDash val="solid"/>
                      <a:round/>
                      <a:headEnd type="none" w="med" len="med"/>
                      <a:tailEnd type="none" w="med" len="med"/>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r" fontAlgn="t"/>
                      <a:r>
                        <a:rPr lang="en-US" sz="1000" b="0" i="0" u="none" strike="noStrike">
                          <a:solidFill>
                            <a:srgbClr val="0F0E0C"/>
                          </a:solidFill>
                          <a:latin typeface="Verdana"/>
                        </a:rPr>
                        <a:t>$0 </a:t>
                      </a:r>
                    </a:p>
                  </a:txBody>
                  <a:tcPr marL="9337" marR="9337" marT="9337" marB="0">
                    <a:lnL>
                      <a:noFill/>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0" i="0" u="none" strike="noStrike">
                          <a:solidFill>
                            <a:srgbClr val="0F0E0C"/>
                          </a:solidFill>
                          <a:latin typeface="Verdana"/>
                        </a:rPr>
                        <a:t>100% ($310)</a:t>
                      </a:r>
                    </a:p>
                  </a:txBody>
                  <a:tcPr marL="9337" marR="9337" marT="9337" marB="0">
                    <a:lnL>
                      <a:noFill/>
                    </a:lnL>
                    <a:lnR w="12700" cap="flat" cmpd="sng" algn="ctr">
                      <a:solidFill>
                        <a:srgbClr val="BF8EE2"/>
                      </a:solidFill>
                      <a:prstDash val="solid"/>
                      <a:round/>
                      <a:headEnd type="none" w="med" len="med"/>
                      <a:tailEnd type="none" w="med" len="med"/>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326808">
                <a:tc>
                  <a:txBody>
                    <a:bodyPr/>
                    <a:lstStyle/>
                    <a:p>
                      <a:pPr algn="l" fontAlgn="t"/>
                      <a:r>
                        <a:rPr lang="en-US" sz="1000" b="1" i="0" u="none" strike="noStrike">
                          <a:solidFill>
                            <a:srgbClr val="0F0E0C"/>
                          </a:solidFill>
                          <a:latin typeface="Verdana"/>
                        </a:rPr>
                        <a:t>Initial Coverage Period ($2,540)</a:t>
                      </a:r>
                    </a:p>
                  </a:txBody>
                  <a:tcPr marL="9337" marR="9337" marT="9337" marB="0">
                    <a:lnL w="12700" cap="flat" cmpd="sng" algn="ctr">
                      <a:solidFill>
                        <a:srgbClr val="BF8EE2"/>
                      </a:solidFill>
                      <a:prstDash val="solid"/>
                      <a:round/>
                      <a:headEnd type="none" w="med" len="med"/>
                      <a:tailEnd type="none" w="med" len="med"/>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0" i="0" u="none" strike="noStrike">
                          <a:solidFill>
                            <a:srgbClr val="0F0E0C"/>
                          </a:solidFill>
                          <a:latin typeface="Verdana"/>
                        </a:rPr>
                        <a:t>75% of $2,540 ($1,905)</a:t>
                      </a:r>
                    </a:p>
                  </a:txBody>
                  <a:tcPr marL="9337" marR="9337" marT="9337" marB="0">
                    <a:lnL>
                      <a:noFill/>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0" i="0" u="none" strike="noStrike">
                          <a:solidFill>
                            <a:srgbClr val="0F0E0C"/>
                          </a:solidFill>
                          <a:latin typeface="Verdana"/>
                        </a:rPr>
                        <a:t>25% of $2,540 ($635)</a:t>
                      </a:r>
                    </a:p>
                  </a:txBody>
                  <a:tcPr marL="9337" marR="9337" marT="9337" marB="0">
                    <a:lnL>
                      <a:noFill/>
                    </a:lnL>
                    <a:lnR w="12700" cap="flat" cmpd="sng" algn="ctr">
                      <a:solidFill>
                        <a:srgbClr val="BF8EE2"/>
                      </a:solidFill>
                      <a:prstDash val="solid"/>
                      <a:round/>
                      <a:headEnd type="none" w="med" len="med"/>
                      <a:tailEnd type="none" w="med" len="med"/>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317471">
                <a:tc>
                  <a:txBody>
                    <a:bodyPr/>
                    <a:lstStyle/>
                    <a:p>
                      <a:pPr algn="l" fontAlgn="t"/>
                      <a:r>
                        <a:rPr lang="en-US" sz="1000" b="1" i="0" u="none" strike="noStrike">
                          <a:solidFill>
                            <a:srgbClr val="0F0E0C"/>
                          </a:solidFill>
                          <a:latin typeface="Verdana"/>
                        </a:rPr>
                        <a:t>Coverage Gap (Donut Hole) </a:t>
                      </a:r>
                    </a:p>
                  </a:txBody>
                  <a:tcPr marL="9337" marR="9337" marT="9337" marB="0">
                    <a:lnL w="12700" cap="flat" cmpd="sng" algn="ctr">
                      <a:solidFill>
                        <a:srgbClr val="BF8EE2"/>
                      </a:solidFill>
                      <a:prstDash val="solid"/>
                      <a:round/>
                      <a:headEnd type="none" w="med" len="med"/>
                      <a:tailEnd type="none" w="med" len="med"/>
                    </a:lnL>
                    <a:lnR>
                      <a:noFill/>
                    </a:lnR>
                    <a:lnT w="12700" cap="flat" cmpd="sng" algn="ctr">
                      <a:solidFill>
                        <a:srgbClr val="BF8EE2"/>
                      </a:solidFill>
                      <a:prstDash val="solid"/>
                      <a:round/>
                      <a:headEnd type="none" w="med" len="med"/>
                      <a:tailEnd type="none" w="med" len="med"/>
                    </a:lnT>
                    <a:lnB>
                      <a:noFill/>
                    </a:lnB>
                    <a:solidFill>
                      <a:srgbClr val="F6F6EE"/>
                    </a:solidFill>
                  </a:tcPr>
                </a:tc>
                <a:tc rowSpan="2">
                  <a:txBody>
                    <a:bodyPr/>
                    <a:lstStyle/>
                    <a:p>
                      <a:pPr algn="l" fontAlgn="t"/>
                      <a:r>
                        <a:rPr lang="en-US" sz="1000" b="0" i="0" u="none" strike="noStrike">
                          <a:solidFill>
                            <a:srgbClr val="0F0E0C"/>
                          </a:solidFill>
                          <a:latin typeface="Verdana"/>
                        </a:rPr>
                        <a:t>$0 (For brand named drugs, the 50% discount for brand name drugs comes from drug manufacturers + a 2.5% subsidy, and the 28% subsidy for generic drugs comes from Medicare.)</a:t>
                      </a:r>
                    </a:p>
                  </a:txBody>
                  <a:tcPr marL="9337" marR="9337" marT="9337" marB="0">
                    <a:lnL>
                      <a:noFill/>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rowSpan="2">
                  <a:txBody>
                    <a:bodyPr/>
                    <a:lstStyle/>
                    <a:p>
                      <a:pPr algn="l" fontAlgn="t"/>
                      <a:r>
                        <a:rPr lang="en-US" sz="1000" b="0" i="0" u="none" strike="noStrike" dirty="0">
                          <a:solidFill>
                            <a:srgbClr val="0F0E0C"/>
                          </a:solidFill>
                          <a:latin typeface="Verdana"/>
                        </a:rPr>
                        <a:t>47.50% of covered brand name drugs plus dispensing fee; 72% of covered generic drugs</a:t>
                      </a:r>
                    </a:p>
                  </a:txBody>
                  <a:tcPr marL="9337" marR="9337" marT="9337" marB="0">
                    <a:lnL>
                      <a:noFill/>
                    </a:lnL>
                    <a:lnR w="12700" cap="flat" cmpd="sng" algn="ctr">
                      <a:solidFill>
                        <a:srgbClr val="BF8EE2"/>
                      </a:solidFill>
                      <a:prstDash val="solid"/>
                      <a:round/>
                      <a:headEnd type="none" w="med" len="med"/>
                      <a:tailEnd type="none" w="med" len="med"/>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1318811">
                <a:tc>
                  <a:txBody>
                    <a:bodyPr/>
                    <a:lstStyle/>
                    <a:p>
                      <a:pPr algn="l" fontAlgn="t"/>
                      <a:r>
                        <a:rPr lang="en-US" sz="1100" b="0" i="0" u="sng" strike="noStrike" dirty="0">
                          <a:solidFill>
                            <a:srgbClr val="0000FF"/>
                          </a:solidFill>
                          <a:latin typeface="Calibri"/>
                          <a:hlinkClick r:id="rId2"/>
                        </a:rPr>
                        <a:t>Once your drug plan and costs exceed $2,850 ($310 + $2,540), you are in the donut hole.</a:t>
                      </a:r>
                      <a:endParaRPr lang="en-US" sz="1100" b="0" i="0" u="sng" strike="noStrike" dirty="0">
                        <a:solidFill>
                          <a:srgbClr val="0000FF"/>
                        </a:solidFill>
                        <a:latin typeface="Calibri"/>
                      </a:endParaRPr>
                    </a:p>
                  </a:txBody>
                  <a:tcPr marL="9337" marR="9337" marT="9337" marB="0">
                    <a:lnL w="12700" cap="flat" cmpd="sng" algn="ctr">
                      <a:solidFill>
                        <a:srgbClr val="BF8EE2"/>
                      </a:solidFill>
                      <a:prstDash val="solid"/>
                      <a:round/>
                      <a:headEnd type="none" w="med" len="med"/>
                      <a:tailEnd type="none" w="med" len="med"/>
                    </a:lnL>
                    <a:lnR>
                      <a:noFill/>
                    </a:lnR>
                    <a:lnT>
                      <a:noFill/>
                    </a:lnT>
                    <a:lnB w="12700" cap="flat" cmpd="sng" algn="ctr">
                      <a:solidFill>
                        <a:srgbClr val="BF8EE2"/>
                      </a:solidFill>
                      <a:prstDash val="solid"/>
                      <a:round/>
                      <a:headEnd type="none" w="med" len="med"/>
                      <a:tailEnd type="none" w="med" len="med"/>
                    </a:lnB>
                    <a:solidFill>
                      <a:srgbClr val="F6F6EE"/>
                    </a:solidFill>
                  </a:tcPr>
                </a:tc>
                <a:tc vMerge="1">
                  <a:txBody>
                    <a:bodyPr/>
                    <a:lstStyle/>
                    <a:p>
                      <a:endParaRPr lang="en-US"/>
                    </a:p>
                  </a:txBody>
                  <a:tcPr/>
                </a:tc>
                <a:tc vMerge="1">
                  <a:txBody>
                    <a:bodyPr/>
                    <a:lstStyle/>
                    <a:p>
                      <a:endParaRPr lang="en-US"/>
                    </a:p>
                  </a:txBody>
                  <a:tcPr/>
                </a:tc>
              </a:tr>
              <a:tr h="186748">
                <a:tc>
                  <a:txBody>
                    <a:bodyPr/>
                    <a:lstStyle/>
                    <a:p>
                      <a:pPr algn="l" fontAlgn="t"/>
                      <a:r>
                        <a:rPr lang="en-US" sz="1000" b="1" i="0" u="none" strike="noStrike">
                          <a:solidFill>
                            <a:srgbClr val="0F0E0C"/>
                          </a:solidFill>
                          <a:latin typeface="Verdana"/>
                        </a:rPr>
                        <a:t>Catastrophic Coverage </a:t>
                      </a:r>
                    </a:p>
                  </a:txBody>
                  <a:tcPr marL="9337" marR="9337" marT="9337" marB="0">
                    <a:lnL w="12700" cap="flat" cmpd="sng" algn="ctr">
                      <a:solidFill>
                        <a:srgbClr val="BF8EE2"/>
                      </a:solidFill>
                      <a:prstDash val="solid"/>
                      <a:round/>
                      <a:headEnd type="none" w="med" len="med"/>
                      <a:tailEnd type="none" w="med" len="med"/>
                    </a:lnL>
                    <a:lnR>
                      <a:noFill/>
                    </a:lnR>
                    <a:lnT w="12700" cap="flat" cmpd="sng" algn="ctr">
                      <a:solidFill>
                        <a:srgbClr val="BF8EE2"/>
                      </a:solidFill>
                      <a:prstDash val="solid"/>
                      <a:round/>
                      <a:headEnd type="none" w="med" len="med"/>
                      <a:tailEnd type="none" w="med" len="med"/>
                    </a:lnT>
                    <a:lnB>
                      <a:noFill/>
                    </a:lnB>
                    <a:solidFill>
                      <a:srgbClr val="F6F6EE"/>
                    </a:solidFill>
                  </a:tcPr>
                </a:tc>
                <a:tc rowSpan="2">
                  <a:txBody>
                    <a:bodyPr/>
                    <a:lstStyle/>
                    <a:p>
                      <a:pPr algn="l" fontAlgn="t"/>
                      <a:r>
                        <a:rPr lang="en-US" sz="1000" b="0" i="0" u="none" strike="noStrike" dirty="0">
                          <a:solidFill>
                            <a:srgbClr val="0F0E0C"/>
                          </a:solidFill>
                          <a:latin typeface="Verdana"/>
                        </a:rPr>
                        <a:t>95% or the drug cost minus the copay</a:t>
                      </a:r>
                    </a:p>
                  </a:txBody>
                  <a:tcPr marL="9337" marR="9337" marT="9337" marB="0">
                    <a:lnL>
                      <a:noFill/>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rowSpan="2">
                  <a:txBody>
                    <a:bodyPr/>
                    <a:lstStyle/>
                    <a:p>
                      <a:pPr algn="l" fontAlgn="t"/>
                      <a:r>
                        <a:rPr lang="en-US" sz="1000" b="0" i="0" u="none" strike="noStrike">
                          <a:solidFill>
                            <a:srgbClr val="0F0E0C"/>
                          </a:solidFill>
                          <a:latin typeface="Verdana"/>
                        </a:rPr>
                        <a:t>Greater of 5% of the drug costs or $2.55 for a generic drug or $6.35 for a brand name drug</a:t>
                      </a:r>
                    </a:p>
                  </a:txBody>
                  <a:tcPr marL="9337" marR="9337" marT="9337" marB="0">
                    <a:lnL>
                      <a:noFill/>
                    </a:lnL>
                    <a:lnR w="12700" cap="flat" cmpd="sng" algn="ctr">
                      <a:solidFill>
                        <a:srgbClr val="BF8EE2"/>
                      </a:solidFill>
                      <a:prstDash val="solid"/>
                      <a:round/>
                      <a:headEnd type="none" w="med" len="med"/>
                      <a:tailEnd type="none" w="med" len="med"/>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1307233">
                <a:tc>
                  <a:txBody>
                    <a:bodyPr/>
                    <a:lstStyle/>
                    <a:p>
                      <a:pPr algn="l" fontAlgn="t"/>
                      <a:r>
                        <a:rPr lang="en-US" sz="1000" b="0" i="0" u="none" strike="noStrike" dirty="0">
                          <a:solidFill>
                            <a:srgbClr val="0F0E0C"/>
                          </a:solidFill>
                          <a:latin typeface="Verdana"/>
                        </a:rPr>
                        <a:t>Begins once you've reached your out-of-pocket threshold, which is </a:t>
                      </a:r>
                      <a:r>
                        <a:rPr lang="en-US" sz="1000" b="1" i="0" u="none" strike="noStrike" dirty="0">
                          <a:solidFill>
                            <a:srgbClr val="0F0E0C"/>
                          </a:solidFill>
                          <a:latin typeface="Verdana"/>
                        </a:rPr>
                        <a:t>your total annual drug cost of $4,550 in 2014</a:t>
                      </a:r>
                      <a:r>
                        <a:rPr lang="en-US" sz="1000" b="1" i="1" u="none" strike="noStrike" dirty="0">
                          <a:solidFill>
                            <a:srgbClr val="0F0E0C"/>
                          </a:solidFill>
                          <a:latin typeface="Verdana"/>
                        </a:rPr>
                        <a:t>.</a:t>
                      </a:r>
                      <a:r>
                        <a:rPr lang="en-US" sz="1000" b="0" i="0" u="none" strike="noStrike" dirty="0">
                          <a:solidFill>
                            <a:srgbClr val="0F0E0C"/>
                          </a:solidFill>
                          <a:latin typeface="Verdana"/>
                        </a:rPr>
                        <a:t> ($310 deductible + $635 initial coverage + $3,605 donut hole).</a:t>
                      </a:r>
                      <a:r>
                        <a:rPr lang="en-US" sz="1000" b="0" i="0" u="none" strike="noStrike" baseline="30000" dirty="0">
                          <a:solidFill>
                            <a:srgbClr val="0F0E0C"/>
                          </a:solidFill>
                          <a:latin typeface="Verdana"/>
                        </a:rPr>
                        <a:t>*</a:t>
                      </a:r>
                      <a:endParaRPr lang="en-US" sz="1000" b="0" i="0" u="none" strike="noStrike" dirty="0">
                        <a:solidFill>
                          <a:srgbClr val="0F0E0C"/>
                        </a:solidFill>
                        <a:latin typeface="Verdana"/>
                      </a:endParaRPr>
                    </a:p>
                  </a:txBody>
                  <a:tcPr marL="9337" marR="9337" marT="9337" marB="0">
                    <a:lnL w="12700" cap="flat" cmpd="sng" algn="ctr">
                      <a:solidFill>
                        <a:srgbClr val="BF8EE2"/>
                      </a:solidFill>
                      <a:prstDash val="solid"/>
                      <a:round/>
                      <a:headEnd type="none" w="med" len="med"/>
                      <a:tailEnd type="none" w="med" len="med"/>
                    </a:lnL>
                    <a:lnR>
                      <a:noFill/>
                    </a:lnR>
                    <a:lnT>
                      <a:noFill/>
                    </a:lnT>
                    <a:lnB w="12700" cap="flat" cmpd="sng" algn="ctr">
                      <a:solidFill>
                        <a:srgbClr val="BF8EE2"/>
                      </a:solidFill>
                      <a:prstDash val="solid"/>
                      <a:round/>
                      <a:headEnd type="none" w="med" len="med"/>
                      <a:tailEnd type="none" w="med" len="med"/>
                    </a:lnB>
                    <a:solidFill>
                      <a:srgbClr val="F6F6EE"/>
                    </a:solidFill>
                  </a:tcPr>
                </a:tc>
                <a:tc vMerge="1">
                  <a:txBody>
                    <a:bodyPr/>
                    <a:lstStyle/>
                    <a:p>
                      <a:endParaRPr lang="en-US"/>
                    </a:p>
                  </a:txBody>
                  <a:tcPr/>
                </a:tc>
                <a:tc v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A697448-FA31-4949-9864-F7BD87D6893B}" type="slidenum">
              <a:rPr lang="en-US" smtClean="0"/>
              <a:pPr/>
              <a:t>18</a:t>
            </a:fld>
            <a:endParaRPr lang="en-US" dirty="0"/>
          </a:p>
        </p:txBody>
      </p:sp>
      <p:sp>
        <p:nvSpPr>
          <p:cNvPr id="4" name="Title 3"/>
          <p:cNvSpPr>
            <a:spLocks noGrp="1"/>
          </p:cNvSpPr>
          <p:nvPr>
            <p:ph type="title"/>
          </p:nvPr>
        </p:nvSpPr>
        <p:spPr/>
        <p:txBody>
          <a:bodyPr/>
          <a:lstStyle/>
          <a:p>
            <a:pPr algn="ctr"/>
            <a:r>
              <a:rPr lang="en-US" dirty="0" smtClean="0"/>
              <a:t>Any Questions????</a:t>
            </a:r>
            <a:endParaRPr lang="en-US" dirty="0"/>
          </a:p>
        </p:txBody>
      </p:sp>
      <p:pic>
        <p:nvPicPr>
          <p:cNvPr id="5" name="Picture 3"/>
          <p:cNvPicPr>
            <a:picLocks noGrp="1" noChangeAspect="1" noChangeArrowheads="1"/>
          </p:cNvPicPr>
          <p:nvPr>
            <p:ph idx="1"/>
          </p:nvPr>
        </p:nvPicPr>
        <p:blipFill>
          <a:blip r:embed="rId2" cstate="print"/>
          <a:srcRect/>
          <a:stretch>
            <a:fillRect/>
          </a:stretch>
        </p:blipFill>
        <p:spPr bwMode="auto">
          <a:xfrm>
            <a:off x="3119571" y="1443214"/>
            <a:ext cx="2142857" cy="28285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A697448-FA31-4949-9864-F7BD87D6893B}" type="slidenum">
              <a:rPr lang="en-US" smtClean="0"/>
              <a:pPr/>
              <a:t>19</a:t>
            </a:fld>
            <a:endParaRPr lang="en-US" dirty="0"/>
          </a:p>
        </p:txBody>
      </p:sp>
      <p:sp>
        <p:nvSpPr>
          <p:cNvPr id="4" name="Title 3"/>
          <p:cNvSpPr>
            <a:spLocks noGrp="1"/>
          </p:cNvSpPr>
          <p:nvPr>
            <p:ph type="title"/>
          </p:nvPr>
        </p:nvSpPr>
        <p:spPr/>
        <p:txBody>
          <a:bodyPr/>
          <a:lstStyle/>
          <a:p>
            <a:r>
              <a:rPr lang="en-US" dirty="0" smtClean="0"/>
              <a:t> </a:t>
            </a:r>
            <a:endParaRPr lang="en-US" dirty="0"/>
          </a:p>
        </p:txBody>
      </p:sp>
      <p:pic>
        <p:nvPicPr>
          <p:cNvPr id="5" name="Picture 2"/>
          <p:cNvPicPr>
            <a:picLocks noGrp="1" noChangeAspect="1" noChangeArrowheads="1"/>
          </p:cNvPicPr>
          <p:nvPr>
            <p:ph idx="1"/>
          </p:nvPr>
        </p:nvPicPr>
        <p:blipFill>
          <a:blip r:embed="rId2" cstate="print"/>
          <a:srcRect/>
          <a:stretch>
            <a:fillRect/>
          </a:stretch>
        </p:blipFill>
        <p:spPr bwMode="auto">
          <a:xfrm>
            <a:off x="1676400" y="971550"/>
            <a:ext cx="5943600" cy="273355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DST">
      <a:dk1>
        <a:sysClr val="windowText" lastClr="000000"/>
      </a:dk1>
      <a:lt1>
        <a:sysClr val="window" lastClr="FFFFFF"/>
      </a:lt1>
      <a:dk2>
        <a:srgbClr val="999A8F"/>
      </a:dk2>
      <a:lt2>
        <a:srgbClr val="F0AB00"/>
      </a:lt2>
      <a:accent1>
        <a:srgbClr val="980000"/>
      </a:accent1>
      <a:accent2>
        <a:srgbClr val="DD4814"/>
      </a:accent2>
      <a:accent3>
        <a:srgbClr val="69BE28"/>
      </a:accent3>
      <a:accent4>
        <a:srgbClr val="51626F"/>
      </a:accent4>
      <a:accent5>
        <a:srgbClr val="00A9E0"/>
      </a:accent5>
      <a:accent6>
        <a:srgbClr val="007A87"/>
      </a:accent6>
      <a:hlink>
        <a:srgbClr val="490E6F"/>
      </a:hlink>
      <a:folHlink>
        <a:srgbClr val="002C7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0" tIns="0" rIns="0" bIns="0" rtlCol="0" anchor="t">
        <a:noAutofit/>
      </a:bodyPr>
      <a:lstStyle>
        <a:defPPr>
          <a:defRPr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7653</TotalTime>
  <Words>914</Words>
  <Application>Microsoft Office PowerPoint</Application>
  <PresentationFormat>On-screen Show (16:9)</PresentationFormat>
  <Paragraphs>209</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Accumulator</vt:lpstr>
      <vt:lpstr>DISCLAIMER</vt:lpstr>
      <vt:lpstr>Contents</vt:lpstr>
      <vt:lpstr>Accumulators</vt:lpstr>
      <vt:lpstr>PowerPoint Presentation</vt:lpstr>
      <vt:lpstr>Accumulator Parameters</vt:lpstr>
      <vt:lpstr>Accumulator Parameters</vt:lpstr>
      <vt:lpstr>Accumulator Parameters</vt:lpstr>
      <vt:lpstr>Accumulator Criteria</vt:lpstr>
      <vt:lpstr>Accumulator Criteria</vt:lpstr>
      <vt:lpstr>Accumulator Criteria</vt:lpstr>
      <vt:lpstr>Accumulator Criteria</vt:lpstr>
      <vt:lpstr>Commercial Deductible Plan</vt:lpstr>
      <vt:lpstr>Commercial Deductible Plan</vt:lpstr>
      <vt:lpstr>Commercial deductible - Plans</vt:lpstr>
      <vt:lpstr>PART-D Deductible Plan</vt:lpstr>
      <vt:lpstr>PART-D Deductible Plan </vt:lpstr>
      <vt:lpstr>Any Questions????</vt:lpstr>
      <vt:lpstr> </vt:lpstr>
    </vt:vector>
  </TitlesOfParts>
  <Company>DST Systems,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Palmer, Mark A.</dc:creator>
  <cp:lastModifiedBy>Ravi Shankar Varma Kakarlapudi</cp:lastModifiedBy>
  <cp:revision>453</cp:revision>
  <cp:lastPrinted>2012-08-23T21:55:49Z</cp:lastPrinted>
  <dcterms:created xsi:type="dcterms:W3CDTF">2012-07-02T14:56:16Z</dcterms:created>
  <dcterms:modified xsi:type="dcterms:W3CDTF">2016-05-18T09:44:29Z</dcterms:modified>
</cp:coreProperties>
</file>