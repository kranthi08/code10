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60" r:id="rId2"/>
    <p:sldId id="263" r:id="rId3"/>
    <p:sldId id="269" r:id="rId4"/>
    <p:sldId id="264" r:id="rId5"/>
    <p:sldId id="315" r:id="rId6"/>
    <p:sldId id="314" r:id="rId7"/>
    <p:sldId id="316" r:id="rId8"/>
    <p:sldId id="312" r:id="rId9"/>
    <p:sldId id="318" r:id="rId10"/>
    <p:sldId id="319" r:id="rId11"/>
    <p:sldId id="320" r:id="rId12"/>
    <p:sldId id="328" r:id="rId13"/>
    <p:sldId id="322" r:id="rId14"/>
    <p:sldId id="329" r:id="rId15"/>
    <p:sldId id="330" r:id="rId16"/>
    <p:sldId id="296" r:id="rId17"/>
    <p:sldId id="305" r:id="rId18"/>
    <p:sldId id="309" r:id="rId19"/>
    <p:sldId id="310" r:id="rId20"/>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626F"/>
    <a:srgbClr val="F0AA00"/>
    <a:srgbClr val="999A8F"/>
    <a:srgbClr val="007A8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54" autoAdjust="0"/>
  </p:normalViewPr>
  <p:slideViewPr>
    <p:cSldViewPr>
      <p:cViewPr>
        <p:scale>
          <a:sx n="91" d="100"/>
          <a:sy n="91" d="100"/>
        </p:scale>
        <p:origin x="-570" y="-738"/>
      </p:cViewPr>
      <p:guideLst>
        <p:guide orient="horz" pos="2052"/>
        <p:guide pos="2880"/>
      </p:guideLst>
    </p:cSldViewPr>
  </p:slideViewPr>
  <p:outlineViewPr>
    <p:cViewPr>
      <p:scale>
        <a:sx n="33" d="100"/>
        <a:sy n="33" d="100"/>
      </p:scale>
      <p:origin x="0" y="1639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1" d="100"/>
          <a:sy n="91" d="100"/>
        </p:scale>
        <p:origin x="-3198" y="-114"/>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621"/>
          </a:xfrm>
          <a:prstGeom prst="rect">
            <a:avLst/>
          </a:prstGeom>
        </p:spPr>
        <p:txBody>
          <a:bodyPr vert="horz" lIns="91840" tIns="45920" rIns="91840" bIns="45920" rtlCol="0"/>
          <a:lstStyle>
            <a:lvl1pPr algn="l">
              <a:defRPr sz="1300"/>
            </a:lvl1pPr>
          </a:lstStyle>
          <a:p>
            <a:endParaRPr lang="en-US"/>
          </a:p>
        </p:txBody>
      </p:sp>
      <p:sp>
        <p:nvSpPr>
          <p:cNvPr id="3" name="Date Placeholder 2"/>
          <p:cNvSpPr>
            <a:spLocks noGrp="1"/>
          </p:cNvSpPr>
          <p:nvPr>
            <p:ph type="dt" sz="quarter" idx="1"/>
          </p:nvPr>
        </p:nvSpPr>
        <p:spPr>
          <a:xfrm>
            <a:off x="3970339" y="0"/>
            <a:ext cx="3038475" cy="465621"/>
          </a:xfrm>
          <a:prstGeom prst="rect">
            <a:avLst/>
          </a:prstGeom>
        </p:spPr>
        <p:txBody>
          <a:bodyPr vert="horz" lIns="91840" tIns="45920" rIns="91840" bIns="45920" rtlCol="0"/>
          <a:lstStyle>
            <a:lvl1pPr algn="r">
              <a:defRPr sz="1300"/>
            </a:lvl1pPr>
          </a:lstStyle>
          <a:p>
            <a:fld id="{B35AF202-1CB5-41A4-8414-5B2214E2A29D}" type="datetimeFigureOut">
              <a:rPr lang="en-US" smtClean="0"/>
              <a:pPr/>
              <a:t>3/10/2014</a:t>
            </a:fld>
            <a:endParaRPr lang="en-US"/>
          </a:p>
        </p:txBody>
      </p:sp>
      <p:sp>
        <p:nvSpPr>
          <p:cNvPr id="4" name="Footer Placeholder 3"/>
          <p:cNvSpPr>
            <a:spLocks noGrp="1"/>
          </p:cNvSpPr>
          <p:nvPr>
            <p:ph type="ftr" sz="quarter" idx="2"/>
          </p:nvPr>
        </p:nvSpPr>
        <p:spPr>
          <a:xfrm>
            <a:off x="1" y="8829181"/>
            <a:ext cx="3038475" cy="465621"/>
          </a:xfrm>
          <a:prstGeom prst="rect">
            <a:avLst/>
          </a:prstGeom>
        </p:spPr>
        <p:txBody>
          <a:bodyPr vert="horz" lIns="91840" tIns="45920" rIns="91840" bIns="45920" rtlCol="0" anchor="b"/>
          <a:lstStyle>
            <a:lvl1pPr algn="l">
              <a:defRPr sz="1300"/>
            </a:lvl1pPr>
          </a:lstStyle>
          <a:p>
            <a:endParaRPr lang="en-US"/>
          </a:p>
        </p:txBody>
      </p:sp>
      <p:sp>
        <p:nvSpPr>
          <p:cNvPr id="5" name="Slide Number Placeholder 4"/>
          <p:cNvSpPr>
            <a:spLocks noGrp="1"/>
          </p:cNvSpPr>
          <p:nvPr>
            <p:ph type="sldNum" sz="quarter" idx="3"/>
          </p:nvPr>
        </p:nvSpPr>
        <p:spPr>
          <a:xfrm>
            <a:off x="3970339" y="8829181"/>
            <a:ext cx="3038475" cy="465621"/>
          </a:xfrm>
          <a:prstGeom prst="rect">
            <a:avLst/>
          </a:prstGeom>
        </p:spPr>
        <p:txBody>
          <a:bodyPr vert="horz" lIns="91840" tIns="45920" rIns="91840" bIns="45920" rtlCol="0" anchor="b"/>
          <a:lstStyle>
            <a:lvl1pPr algn="r">
              <a:defRPr sz="1300"/>
            </a:lvl1pPr>
          </a:lstStyle>
          <a:p>
            <a:fld id="{FD58FE29-56F0-4FFA-BC4E-83FE70CBFF8F}" type="slidenum">
              <a:rPr lang="en-US" smtClean="0"/>
              <a:pPr/>
              <a:t>‹#›</a:t>
            </a:fld>
            <a:endParaRPr lang="en-US"/>
          </a:p>
        </p:txBody>
      </p:sp>
    </p:spTree>
    <p:extLst>
      <p:ext uri="{BB962C8B-B14F-4D97-AF65-F5344CB8AC3E}">
        <p14:creationId xmlns:p14="http://schemas.microsoft.com/office/powerpoint/2010/main" xmlns="" val="5881079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621"/>
          </a:xfrm>
          <a:prstGeom prst="rect">
            <a:avLst/>
          </a:prstGeom>
        </p:spPr>
        <p:txBody>
          <a:bodyPr vert="horz" lIns="91840" tIns="45920" rIns="91840" bIns="45920" rtlCol="0"/>
          <a:lstStyle>
            <a:lvl1pPr algn="l">
              <a:defRPr sz="1300"/>
            </a:lvl1pPr>
          </a:lstStyle>
          <a:p>
            <a:endParaRPr lang="en-US"/>
          </a:p>
        </p:txBody>
      </p:sp>
      <p:sp>
        <p:nvSpPr>
          <p:cNvPr id="3" name="Date Placeholder 2"/>
          <p:cNvSpPr>
            <a:spLocks noGrp="1"/>
          </p:cNvSpPr>
          <p:nvPr>
            <p:ph type="dt" idx="1"/>
          </p:nvPr>
        </p:nvSpPr>
        <p:spPr>
          <a:xfrm>
            <a:off x="3970339" y="0"/>
            <a:ext cx="3038475" cy="465621"/>
          </a:xfrm>
          <a:prstGeom prst="rect">
            <a:avLst/>
          </a:prstGeom>
        </p:spPr>
        <p:txBody>
          <a:bodyPr vert="horz" lIns="91840" tIns="45920" rIns="91840" bIns="45920" rtlCol="0"/>
          <a:lstStyle>
            <a:lvl1pPr algn="r">
              <a:defRPr sz="1300"/>
            </a:lvl1pPr>
          </a:lstStyle>
          <a:p>
            <a:fld id="{BA66018B-6631-4835-BC79-A17087EC51E7}" type="datetimeFigureOut">
              <a:rPr lang="en-US" smtClean="0"/>
              <a:pPr/>
              <a:t>3/10/2014</a:t>
            </a:fld>
            <a:endParaRPr lang="en-US"/>
          </a:p>
        </p:txBody>
      </p:sp>
      <p:sp>
        <p:nvSpPr>
          <p:cNvPr id="4" name="Slide Image Placeholder 3"/>
          <p:cNvSpPr>
            <a:spLocks noGrp="1" noRot="1" noChangeAspect="1"/>
          </p:cNvSpPr>
          <p:nvPr>
            <p:ph type="sldImg" idx="2"/>
          </p:nvPr>
        </p:nvSpPr>
        <p:spPr>
          <a:xfrm>
            <a:off x="406400" y="698500"/>
            <a:ext cx="6197600" cy="3486150"/>
          </a:xfrm>
          <a:prstGeom prst="rect">
            <a:avLst/>
          </a:prstGeom>
          <a:noFill/>
          <a:ln w="12700">
            <a:solidFill>
              <a:prstClr val="black"/>
            </a:solidFill>
          </a:ln>
        </p:spPr>
        <p:txBody>
          <a:bodyPr vert="horz" lIns="91840" tIns="45920" rIns="91840" bIns="45920" rtlCol="0" anchor="ctr"/>
          <a:lstStyle/>
          <a:p>
            <a:endParaRPr lang="en-US"/>
          </a:p>
        </p:txBody>
      </p:sp>
      <p:sp>
        <p:nvSpPr>
          <p:cNvPr id="5" name="Notes Placeholder 4"/>
          <p:cNvSpPr>
            <a:spLocks noGrp="1"/>
          </p:cNvSpPr>
          <p:nvPr>
            <p:ph type="body" sz="quarter" idx="3"/>
          </p:nvPr>
        </p:nvSpPr>
        <p:spPr>
          <a:xfrm>
            <a:off x="701676" y="4416191"/>
            <a:ext cx="5607050" cy="4182580"/>
          </a:xfrm>
          <a:prstGeom prst="rect">
            <a:avLst/>
          </a:prstGeom>
        </p:spPr>
        <p:txBody>
          <a:bodyPr vert="horz" lIns="91840" tIns="45920" rIns="91840" bIns="459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29181"/>
            <a:ext cx="3038475" cy="465621"/>
          </a:xfrm>
          <a:prstGeom prst="rect">
            <a:avLst/>
          </a:prstGeom>
        </p:spPr>
        <p:txBody>
          <a:bodyPr vert="horz" lIns="91840" tIns="45920" rIns="91840" bIns="45920" rtlCol="0" anchor="b"/>
          <a:lstStyle>
            <a:lvl1pPr algn="l">
              <a:defRPr sz="1300"/>
            </a:lvl1pPr>
          </a:lstStyle>
          <a:p>
            <a:endParaRPr lang="en-US"/>
          </a:p>
        </p:txBody>
      </p:sp>
      <p:sp>
        <p:nvSpPr>
          <p:cNvPr id="7" name="Slide Number Placeholder 6"/>
          <p:cNvSpPr>
            <a:spLocks noGrp="1"/>
          </p:cNvSpPr>
          <p:nvPr>
            <p:ph type="sldNum" sz="quarter" idx="5"/>
          </p:nvPr>
        </p:nvSpPr>
        <p:spPr>
          <a:xfrm>
            <a:off x="3970339" y="8829181"/>
            <a:ext cx="3038475" cy="465621"/>
          </a:xfrm>
          <a:prstGeom prst="rect">
            <a:avLst/>
          </a:prstGeom>
        </p:spPr>
        <p:txBody>
          <a:bodyPr vert="horz" lIns="91840" tIns="45920" rIns="91840" bIns="45920" rtlCol="0" anchor="b"/>
          <a:lstStyle>
            <a:lvl1pPr algn="r">
              <a:defRPr sz="1300"/>
            </a:lvl1pPr>
          </a:lstStyle>
          <a:p>
            <a:fld id="{0E3C63EA-298F-47B1-AF12-230EB929B397}" type="slidenum">
              <a:rPr lang="en-US" smtClean="0"/>
              <a:pPr/>
              <a:t>‹#›</a:t>
            </a:fld>
            <a:endParaRPr lang="en-US"/>
          </a:p>
        </p:txBody>
      </p:sp>
    </p:spTree>
    <p:extLst>
      <p:ext uri="{BB962C8B-B14F-4D97-AF65-F5344CB8AC3E}">
        <p14:creationId xmlns:p14="http://schemas.microsoft.com/office/powerpoint/2010/main" xmlns="" val="1161404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3C63EA-298F-47B1-AF12-230EB929B397}" type="slidenum">
              <a:rPr lang="en-US" smtClean="0"/>
              <a:pPr/>
              <a:t>1</a:t>
            </a:fld>
            <a:endParaRPr lang="en-US"/>
          </a:p>
        </p:txBody>
      </p:sp>
    </p:spTree>
    <p:extLst>
      <p:ext uri="{BB962C8B-B14F-4D97-AF65-F5344CB8AC3E}">
        <p14:creationId xmlns:p14="http://schemas.microsoft.com/office/powerpoint/2010/main" xmlns="" val="2383293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1 lin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0" y="0"/>
            <a:ext cx="9145015" cy="5148644"/>
          </a:xfrm>
          <a:prstGeom prst="rect">
            <a:avLst/>
          </a:prstGeom>
        </p:spPr>
      </p:pic>
      <p:sp>
        <p:nvSpPr>
          <p:cNvPr id="2" name="Title 1"/>
          <p:cNvSpPr>
            <a:spLocks noGrp="1"/>
          </p:cNvSpPr>
          <p:nvPr>
            <p:ph type="ctrTitle" hasCustomPrompt="1"/>
          </p:nvPr>
        </p:nvSpPr>
        <p:spPr>
          <a:xfrm>
            <a:off x="990601" y="3257550"/>
            <a:ext cx="6443588" cy="762000"/>
          </a:xfrm>
        </p:spPr>
        <p:txBody>
          <a:bodyPr anchor="ctr">
            <a:noAutofit/>
          </a:bodyPr>
          <a:lstStyle>
            <a:lvl1pPr algn="l">
              <a:defRPr sz="6600" b="1">
                <a:solidFill>
                  <a:srgbClr val="F0AA00"/>
                </a:solidFill>
              </a:defRPr>
            </a:lvl1pPr>
          </a:lstStyle>
          <a:p>
            <a:r>
              <a:rPr lang="en-US" dirty="0" smtClean="0"/>
              <a:t>CLICK TO EDIT</a:t>
            </a:r>
            <a:endParaRPr lang="en-US" dirty="0"/>
          </a:p>
        </p:txBody>
      </p:sp>
      <p:sp>
        <p:nvSpPr>
          <p:cNvPr id="3" name="Subtitle 2"/>
          <p:cNvSpPr>
            <a:spLocks noGrp="1"/>
          </p:cNvSpPr>
          <p:nvPr>
            <p:ph type="subTitle" idx="1" hasCustomPrompt="1"/>
          </p:nvPr>
        </p:nvSpPr>
        <p:spPr>
          <a:xfrm>
            <a:off x="1447799" y="4076700"/>
            <a:ext cx="5986389" cy="171450"/>
          </a:xfrm>
          <a:solidFill>
            <a:srgbClr val="999A8F"/>
          </a:solidFill>
        </p:spPr>
        <p:txBody>
          <a:bodyPr lIns="91440" anchor="ctr" anchorCtr="0">
            <a:noAutofit/>
          </a:bodyPr>
          <a:lstStyle>
            <a:lvl1pPr marL="0" indent="0" algn="l">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a:t>
            </a:r>
            <a:endParaRPr lang="en-US" dirty="0"/>
          </a:p>
        </p:txBody>
      </p:sp>
      <p:sp>
        <p:nvSpPr>
          <p:cNvPr id="6" name="TextBox 5"/>
          <p:cNvSpPr txBox="1"/>
          <p:nvPr userDrawn="1"/>
        </p:nvSpPr>
        <p:spPr>
          <a:xfrm>
            <a:off x="1524000" y="4857750"/>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xmlns="" val="385616111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lin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0" y="0"/>
            <a:ext cx="9145015" cy="5148643"/>
          </a:xfrm>
          <a:prstGeom prst="rect">
            <a:avLst/>
          </a:prstGeom>
        </p:spPr>
      </p:pic>
      <p:sp>
        <p:nvSpPr>
          <p:cNvPr id="3" name="Subtitle 2"/>
          <p:cNvSpPr>
            <a:spLocks noGrp="1"/>
          </p:cNvSpPr>
          <p:nvPr>
            <p:ph type="subTitle" idx="1" hasCustomPrompt="1"/>
          </p:nvPr>
        </p:nvSpPr>
        <p:spPr>
          <a:xfrm>
            <a:off x="1447799" y="4076700"/>
            <a:ext cx="5986389" cy="171450"/>
          </a:xfrm>
          <a:solidFill>
            <a:srgbClr val="999A8F"/>
          </a:solidFill>
        </p:spPr>
        <p:txBody>
          <a:bodyPr lIns="91440" anchor="ctr" anchorCtr="0">
            <a:noAutofit/>
          </a:bodyPr>
          <a:lstStyle>
            <a:lvl1pPr marL="0" indent="0" algn="l">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a:t>
            </a:r>
            <a:endParaRPr lang="en-US" dirty="0"/>
          </a:p>
        </p:txBody>
      </p:sp>
      <p:sp>
        <p:nvSpPr>
          <p:cNvPr id="5" name="Title 1"/>
          <p:cNvSpPr>
            <a:spLocks noGrp="1"/>
          </p:cNvSpPr>
          <p:nvPr>
            <p:ph type="ctrTitle" hasCustomPrompt="1"/>
          </p:nvPr>
        </p:nvSpPr>
        <p:spPr>
          <a:xfrm>
            <a:off x="1066800" y="3028950"/>
            <a:ext cx="6400800" cy="1066800"/>
          </a:xfrm>
        </p:spPr>
        <p:txBody>
          <a:bodyPr vert="horz" wrap="square" lIns="0" tIns="0" rIns="0" bIns="0" spcCol="0" anchor="ctr" anchorCtr="0">
            <a:noAutofit/>
          </a:bodyPr>
          <a:lstStyle>
            <a:lvl1pPr marL="0" marR="0" indent="0" algn="l" defTabSz="914400" rtl="0" eaLnBrk="1" fontAlgn="auto" latinLnBrk="0" hangingPunct="1">
              <a:lnSpc>
                <a:spcPts val="4000"/>
              </a:lnSpc>
              <a:spcBef>
                <a:spcPct val="0"/>
              </a:spcBef>
              <a:spcAft>
                <a:spcPts val="0"/>
              </a:spcAft>
              <a:buClrTx/>
              <a:buSzTx/>
              <a:buFontTx/>
              <a:buNone/>
              <a:tabLst/>
              <a:defRPr sz="4800" baseline="0">
                <a:solidFill>
                  <a:srgbClr val="F0AA00"/>
                </a:solidFill>
                <a:latin typeface="+mj-lt"/>
              </a:defRPr>
            </a:lvl1pPr>
          </a:lstStyle>
          <a:p>
            <a:r>
              <a:rPr lang="en-US" sz="5400" dirty="0" smtClean="0"/>
              <a:t>LONGER TWO LINE TITLE</a:t>
            </a:r>
            <a:endParaRPr lang="en-US" sz="5400" dirty="0"/>
          </a:p>
        </p:txBody>
      </p:sp>
      <p:sp>
        <p:nvSpPr>
          <p:cNvPr id="6" name="TextBox 5"/>
          <p:cNvSpPr txBox="1"/>
          <p:nvPr userDrawn="1"/>
        </p:nvSpPr>
        <p:spPr>
          <a:xfrm>
            <a:off x="1524000" y="4857750"/>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xmlns="" val="108881828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laimer: always slide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a:t>
            </a:fld>
            <a:endParaRPr lang="en-US"/>
          </a:p>
        </p:txBody>
      </p:sp>
      <p:sp>
        <p:nvSpPr>
          <p:cNvPr id="5" name="Text Placeholder 2"/>
          <p:cNvSpPr txBox="1">
            <a:spLocks/>
          </p:cNvSpPr>
          <p:nvPr userDrawn="1"/>
        </p:nvSpPr>
        <p:spPr>
          <a:xfrm>
            <a:off x="609600" y="1123950"/>
            <a:ext cx="7239000" cy="3009900"/>
          </a:xfrm>
          <a:prstGeom prst="rect">
            <a:avLst/>
          </a:prstGeom>
        </p:spPr>
        <p:txBody>
          <a:bodyPr vert="horz" lIns="0" tIns="0" rIns="0" bIns="0" rtlCol="0" anchor="t">
            <a:noAutofit/>
          </a:bodyPr>
          <a:lstStyle>
            <a:lvl1pPr marL="0" indent="0" algn="just" defTabSz="914400" rtl="0" eaLnBrk="1" latinLnBrk="0" hangingPunct="1">
              <a:spcBef>
                <a:spcPct val="20000"/>
              </a:spcBef>
              <a:buClr>
                <a:srgbClr val="007A87"/>
              </a:buClr>
              <a:buSzPct val="75000"/>
              <a:buFont typeface="Webdings" pitchFamily="18" charset="2"/>
              <a:buNone/>
              <a:defRPr sz="1200" kern="1200">
                <a:solidFill>
                  <a:srgbClr val="999A8F"/>
                </a:solidFill>
                <a:latin typeface="+mn-lt"/>
                <a:ea typeface="+mn-ea"/>
                <a:cs typeface="+mn-cs"/>
              </a:defRPr>
            </a:lvl1pPr>
            <a:lvl2pPr marL="457200" indent="0" algn="l" defTabSz="914400" rtl="0" eaLnBrk="1" latinLnBrk="0" hangingPunct="1">
              <a:spcBef>
                <a:spcPct val="20000"/>
              </a:spcBef>
              <a:buClr>
                <a:srgbClr val="51626F"/>
              </a:buClr>
              <a:buFont typeface="Arial"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rgbClr val="490E6F"/>
              </a:buClr>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rgbClr val="002C77"/>
              </a:buClr>
              <a:buFont typeface="Arial"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rgbClr val="69BE28"/>
              </a:buClr>
              <a:buFont typeface="Arial"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sz="1100" dirty="0">
                <a:solidFill>
                  <a:schemeClr val="tx1"/>
                </a:solidFill>
              </a:rPr>
              <a:t>The enclosed materials are highly sensitive, proprietary and confidential. Please use every effort to safeguard the confidentiality of these materials.  Please do not copy, distribute, use, share or otherwise provide access to these materials to any person inside or outside DST Systems, Inc. without prior written approval</a:t>
            </a:r>
            <a:r>
              <a:rPr lang="en-US" sz="1100" dirty="0" smtClean="0">
                <a:solidFill>
                  <a:schemeClr val="tx1"/>
                </a:solidFill>
              </a:rPr>
              <a:t>.</a:t>
            </a:r>
          </a:p>
          <a:p>
            <a:r>
              <a:rPr lang="en-US" sz="1100" dirty="0">
                <a:solidFill>
                  <a:schemeClr val="tx1"/>
                </a:solidFill>
              </a:rPr>
              <a:t/>
            </a:r>
            <a:br>
              <a:rPr lang="en-US" sz="1100" dirty="0">
                <a:solidFill>
                  <a:schemeClr val="tx1"/>
                </a:solidFill>
              </a:rPr>
            </a:br>
            <a:r>
              <a:rPr lang="en-US" sz="1100" dirty="0">
                <a:solidFill>
                  <a:schemeClr val="tx1"/>
                </a:solidFill>
              </a:rPr>
              <a:t>This proprietary, confidential presentation is for general informational purposes only and does not constitute an agreement. By making this presentation available to you, we are not granting any express or implied rights or licenses under any intellectual property right</a:t>
            </a:r>
            <a:r>
              <a:rPr lang="en-US" sz="1100" dirty="0" smtClean="0">
                <a:solidFill>
                  <a:schemeClr val="tx1"/>
                </a:solidFill>
              </a:rPr>
              <a:t>.</a:t>
            </a:r>
          </a:p>
          <a:p>
            <a:endParaRPr lang="en-US" sz="1100" dirty="0">
              <a:solidFill>
                <a:schemeClr val="tx1"/>
              </a:solidFill>
            </a:endParaRPr>
          </a:p>
          <a:p>
            <a:r>
              <a:rPr lang="en-US" sz="1100" dirty="0">
                <a:solidFill>
                  <a:schemeClr val="tx1"/>
                </a:solidFill>
              </a:rPr>
              <a:t>If we permit your printing, copying or transmitting of content in this presentation, it is under a non-exclusive, non-transferable, limited license, and you must include or refer to the copyright notice contained in this document. You may not create derivative works of this presentation or its content without our prior written permission. Any reference in this presentation to another entity or its products or services is provided for convenience only and does not constitute an offer to sell, or the solicitation of an offer to buy, any products or services offered by such entity, nor does such reference constitute our endorsement, referral, or recommendation</a:t>
            </a:r>
            <a:r>
              <a:rPr lang="en-US" sz="1100" dirty="0" smtClean="0">
                <a:solidFill>
                  <a:schemeClr val="tx1"/>
                </a:solidFill>
              </a:rPr>
              <a:t>.</a:t>
            </a:r>
          </a:p>
          <a:p>
            <a:endParaRPr lang="en-US" sz="1100" dirty="0">
              <a:solidFill>
                <a:schemeClr val="tx1"/>
              </a:solidFill>
            </a:endParaRPr>
          </a:p>
          <a:p>
            <a:r>
              <a:rPr lang="en-US" sz="1100" dirty="0" smtClean="0">
                <a:solidFill>
                  <a:schemeClr val="tx1"/>
                </a:solidFill>
              </a:rPr>
              <a:t>Our </a:t>
            </a:r>
            <a:r>
              <a:rPr lang="en-US" sz="1100" dirty="0">
                <a:solidFill>
                  <a:schemeClr val="tx1"/>
                </a:solidFill>
              </a:rPr>
              <a:t>trademarks and service marks and those of third parties used in this presentation are the property of their respective owners. </a:t>
            </a:r>
          </a:p>
        </p:txBody>
      </p:sp>
      <p:sp>
        <p:nvSpPr>
          <p:cNvPr id="7" name="Title 1"/>
          <p:cNvSpPr>
            <a:spLocks noGrp="1"/>
          </p:cNvSpPr>
          <p:nvPr>
            <p:ph type="title" hasCustomPrompt="1"/>
          </p:nvPr>
        </p:nvSpPr>
        <p:spPr>
          <a:xfrm>
            <a:off x="609600" y="171450"/>
            <a:ext cx="8382000" cy="647700"/>
          </a:xfrm>
        </p:spPr>
        <p:txBody>
          <a:bodyPr lIns="0" tIns="0" rIns="0" bIns="0" anchor="t">
            <a:noAutofit/>
          </a:bodyPr>
          <a:lstStyle>
            <a:lvl1pPr>
              <a:defRPr sz="4000">
                <a:solidFill>
                  <a:srgbClr val="007A87"/>
                </a:solidFill>
              </a:defRPr>
            </a:lvl1pPr>
          </a:lstStyle>
          <a:p>
            <a:r>
              <a:rPr lang="en-US" dirty="0" smtClean="0"/>
              <a:t>DISCLAIMER</a:t>
            </a:r>
            <a:endParaRPr lang="en-US" dirty="0"/>
          </a:p>
        </p:txBody>
      </p:sp>
    </p:spTree>
    <p:extLst>
      <p:ext uri="{BB962C8B-B14F-4D97-AF65-F5344CB8AC3E}">
        <p14:creationId xmlns:p14="http://schemas.microsoft.com/office/powerpoint/2010/main" xmlns="" val="133271626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introduction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697448-FA31-4949-9864-F7BD87D6893B}" type="slidenum">
              <a:rPr lang="en-US" smtClean="0"/>
              <a:pPr/>
              <a:t>‹#›</a:t>
            </a:fld>
            <a:endParaRPr lang="en-US" dirty="0"/>
          </a:p>
        </p:txBody>
      </p:sp>
      <p:sp>
        <p:nvSpPr>
          <p:cNvPr id="7" name="Title 1"/>
          <p:cNvSpPr>
            <a:spLocks noGrp="1"/>
          </p:cNvSpPr>
          <p:nvPr>
            <p:ph type="title" hasCustomPrompt="1"/>
          </p:nvPr>
        </p:nvSpPr>
        <p:spPr>
          <a:xfrm>
            <a:off x="609600" y="742950"/>
            <a:ext cx="8001000" cy="2743200"/>
          </a:xfrm>
        </p:spPr>
        <p:txBody>
          <a:bodyPr lIns="0" tIns="0" rIns="0" bIns="0" anchor="ctr" anchorCtr="0">
            <a:noAutofit/>
          </a:bodyPr>
          <a:lstStyle>
            <a:lvl1pPr algn="ctr">
              <a:lnSpc>
                <a:spcPts val="4000"/>
              </a:lnSpc>
              <a:defRPr sz="4800" baseline="0">
                <a:solidFill>
                  <a:srgbClr val="007A87"/>
                </a:solidFill>
              </a:defRPr>
            </a:lvl1pPr>
          </a:lstStyle>
          <a:p>
            <a:r>
              <a:rPr lang="en-US" dirty="0" smtClean="0"/>
              <a:t>PRESENTATION</a:t>
            </a:r>
            <a:br>
              <a:rPr lang="en-US" dirty="0" smtClean="0"/>
            </a:br>
            <a:r>
              <a:rPr lang="en-US" dirty="0" smtClean="0"/>
              <a:t>TITLE</a:t>
            </a:r>
            <a:endParaRPr lang="en-US" dirty="0"/>
          </a:p>
        </p:txBody>
      </p:sp>
      <p:sp>
        <p:nvSpPr>
          <p:cNvPr id="9" name="Content Placeholder 2"/>
          <p:cNvSpPr>
            <a:spLocks noGrp="1"/>
          </p:cNvSpPr>
          <p:nvPr>
            <p:ph idx="1" hasCustomPrompt="1"/>
          </p:nvPr>
        </p:nvSpPr>
        <p:spPr>
          <a:xfrm>
            <a:off x="609600" y="3486150"/>
            <a:ext cx="8001000" cy="457200"/>
          </a:xfrm>
        </p:spPr>
        <p:txBody>
          <a:bodyPr lIns="0" tIns="0" rIns="0" bIns="0">
            <a:noAutofit/>
          </a:bodyPr>
          <a:lstStyle>
            <a:lvl1pPr marL="0" indent="0" algn="ctr">
              <a:buClr>
                <a:srgbClr val="007A87"/>
              </a:buClr>
              <a:buSzPct val="75000"/>
              <a:buFontTx/>
              <a:buNone/>
              <a:defRPr sz="2400" b="1">
                <a:solidFill>
                  <a:srgbClr val="999A8F"/>
                </a:solidFill>
              </a:defRPr>
            </a:lvl1pPr>
            <a:lvl2pPr marL="457200" indent="0">
              <a:buClr>
                <a:srgbClr val="51626F"/>
              </a:buClr>
              <a:buFontTx/>
              <a:buNone/>
              <a:defRPr sz="2400">
                <a:solidFill>
                  <a:schemeClr val="tx1"/>
                </a:solidFill>
              </a:defRPr>
            </a:lvl2pPr>
            <a:lvl3pPr marL="914400" indent="0">
              <a:buClr>
                <a:srgbClr val="C60C30"/>
              </a:buClr>
              <a:buFontTx/>
              <a:buNone/>
              <a:defRPr sz="2000">
                <a:solidFill>
                  <a:schemeClr val="tx1"/>
                </a:solidFill>
              </a:defRPr>
            </a:lvl3pPr>
            <a:lvl4pPr marL="1371600" indent="0">
              <a:buClr>
                <a:srgbClr val="51626F"/>
              </a:buClr>
              <a:buFontTx/>
              <a:buNone/>
              <a:defRPr sz="1800">
                <a:solidFill>
                  <a:schemeClr val="tx1"/>
                </a:solidFill>
              </a:defRPr>
            </a:lvl4pPr>
            <a:lvl5pPr marL="1828800" indent="0">
              <a:buClr>
                <a:srgbClr val="69BE28"/>
              </a:buClr>
              <a:buFontTx/>
              <a:buNone/>
              <a:defRPr sz="1600">
                <a:solidFill>
                  <a:schemeClr val="tx1"/>
                </a:solidFill>
              </a:defRPr>
            </a:lvl5pPr>
          </a:lstStyle>
          <a:p>
            <a:pPr lvl="0"/>
            <a:r>
              <a:rPr lang="en-US" dirty="0" err="1" smtClean="0"/>
              <a:t>Fname</a:t>
            </a:r>
            <a:r>
              <a:rPr lang="en-US" dirty="0" smtClean="0"/>
              <a:t> </a:t>
            </a:r>
            <a:r>
              <a:rPr lang="en-US" dirty="0" err="1" smtClean="0"/>
              <a:t>Lname</a:t>
            </a:r>
            <a:endParaRPr lang="en-US" dirty="0" smtClean="0"/>
          </a:p>
        </p:txBody>
      </p:sp>
      <p:sp>
        <p:nvSpPr>
          <p:cNvPr id="10" name="Content Placeholder 2"/>
          <p:cNvSpPr>
            <a:spLocks noGrp="1"/>
          </p:cNvSpPr>
          <p:nvPr>
            <p:ph idx="13" hasCustomPrompt="1"/>
          </p:nvPr>
        </p:nvSpPr>
        <p:spPr>
          <a:xfrm>
            <a:off x="609600" y="3829050"/>
            <a:ext cx="8001000" cy="457200"/>
          </a:xfrm>
        </p:spPr>
        <p:txBody>
          <a:bodyPr lIns="0" tIns="0" rIns="0" bIns="0">
            <a:noAutofit/>
          </a:bodyPr>
          <a:lstStyle>
            <a:lvl1pPr marL="0" indent="0" algn="ctr">
              <a:buClr>
                <a:srgbClr val="007A87"/>
              </a:buClr>
              <a:buSzPct val="75000"/>
              <a:buFontTx/>
              <a:buNone/>
              <a:defRPr sz="2000" b="0">
                <a:solidFill>
                  <a:srgbClr val="999A8F"/>
                </a:solidFill>
              </a:defRPr>
            </a:lvl1pPr>
            <a:lvl2pPr marL="457200" indent="0">
              <a:buClr>
                <a:srgbClr val="51626F"/>
              </a:buClr>
              <a:buFontTx/>
              <a:buNone/>
              <a:defRPr sz="2400">
                <a:solidFill>
                  <a:schemeClr val="tx1"/>
                </a:solidFill>
              </a:defRPr>
            </a:lvl2pPr>
            <a:lvl3pPr marL="914400" indent="0">
              <a:buClr>
                <a:srgbClr val="C60C30"/>
              </a:buClr>
              <a:buFontTx/>
              <a:buNone/>
              <a:defRPr sz="2000">
                <a:solidFill>
                  <a:schemeClr val="tx1"/>
                </a:solidFill>
              </a:defRPr>
            </a:lvl3pPr>
            <a:lvl4pPr marL="1371600" indent="0">
              <a:buClr>
                <a:srgbClr val="51626F"/>
              </a:buClr>
              <a:buFontTx/>
              <a:buNone/>
              <a:defRPr sz="1800">
                <a:solidFill>
                  <a:schemeClr val="tx1"/>
                </a:solidFill>
              </a:defRPr>
            </a:lvl4pPr>
            <a:lvl5pPr marL="1828800" indent="0">
              <a:buClr>
                <a:srgbClr val="69BE28"/>
              </a:buClr>
              <a:buFontTx/>
              <a:buNone/>
              <a:defRPr sz="1600">
                <a:solidFill>
                  <a:schemeClr val="tx1"/>
                </a:solidFill>
              </a:defRPr>
            </a:lvl5pPr>
          </a:lstStyle>
          <a:p>
            <a:pPr lvl="0"/>
            <a:r>
              <a:rPr lang="en-US" dirty="0" smtClean="0"/>
              <a:t>Date</a:t>
            </a:r>
          </a:p>
        </p:txBody>
      </p:sp>
    </p:spTree>
    <p:extLst>
      <p:ext uri="{BB962C8B-B14F-4D97-AF65-F5344CB8AC3E}">
        <p14:creationId xmlns:p14="http://schemas.microsoft.com/office/powerpoint/2010/main" xmlns="" val="168999667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697448-FA31-4949-9864-F7BD87D6893B}" type="slidenum">
              <a:rPr lang="en-US" smtClean="0"/>
              <a:pPr/>
              <a:t>‹#›</a:t>
            </a:fld>
            <a:endParaRPr lang="en-US" dirty="0"/>
          </a:p>
        </p:txBody>
      </p:sp>
      <p:sp>
        <p:nvSpPr>
          <p:cNvPr id="4" name="Title 1"/>
          <p:cNvSpPr>
            <a:spLocks noGrp="1"/>
          </p:cNvSpPr>
          <p:nvPr>
            <p:ph type="title" hasCustomPrompt="1"/>
          </p:nvPr>
        </p:nvSpPr>
        <p:spPr>
          <a:xfrm>
            <a:off x="609600" y="819150"/>
            <a:ext cx="8001000" cy="3276600"/>
          </a:xfrm>
        </p:spPr>
        <p:txBody>
          <a:bodyPr lIns="0" tIns="0" rIns="0" bIns="0" anchor="ctr" anchorCtr="0">
            <a:noAutofit/>
          </a:bodyPr>
          <a:lstStyle>
            <a:lvl1pPr algn="ctr">
              <a:lnSpc>
                <a:spcPts val="4000"/>
              </a:lnSpc>
              <a:defRPr sz="4800" baseline="0">
                <a:solidFill>
                  <a:srgbClr val="007A87"/>
                </a:solidFill>
              </a:defRPr>
            </a:lvl1pPr>
          </a:lstStyle>
          <a:p>
            <a:r>
              <a:rPr lang="en-US" dirty="0" smtClean="0"/>
              <a:t>PRESENTATION</a:t>
            </a:r>
            <a:br>
              <a:rPr lang="en-US" dirty="0" smtClean="0"/>
            </a:br>
            <a:r>
              <a:rPr lang="en-US" dirty="0" smtClean="0"/>
              <a:t>TITLE</a:t>
            </a:r>
            <a:endParaRPr lang="en-US" dirty="0"/>
          </a:p>
        </p:txBody>
      </p:sp>
    </p:spTree>
    <p:extLst>
      <p:ext uri="{BB962C8B-B14F-4D97-AF65-F5344CB8AC3E}">
        <p14:creationId xmlns:p14="http://schemas.microsoft.com/office/powerpoint/2010/main" xmlns="" val="145470809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content slide: 1 colu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971550"/>
            <a:ext cx="7162800" cy="3771900"/>
          </a:xfrm>
        </p:spPr>
        <p:txBody>
          <a:bodyPr lIns="0" tIns="0" rIns="0" bIns="0">
            <a:noAutofit/>
          </a:bodyPr>
          <a:lstStyle>
            <a:lvl1pPr marL="342900" indent="-342900">
              <a:buClr>
                <a:srgbClr val="007A87"/>
              </a:buClr>
              <a:buSzPct val="75000"/>
              <a:buFont typeface="Webdings" pitchFamily="18" charset="2"/>
              <a:buChar char=""/>
              <a:defRPr sz="2000" b="1">
                <a:solidFill>
                  <a:srgbClr val="51626F"/>
                </a:solidFill>
              </a:defRPr>
            </a:lvl1pPr>
            <a:lvl2pPr marL="800100" indent="-342900">
              <a:buClr>
                <a:srgbClr val="51626F"/>
              </a:buClr>
              <a:buFont typeface="Wingdings" pitchFamily="2" charset="2"/>
              <a:buChar char="§"/>
              <a:defRPr sz="1800">
                <a:solidFill>
                  <a:schemeClr val="tx1"/>
                </a:solidFill>
              </a:defRPr>
            </a:lvl2pPr>
            <a:lvl3pPr marL="1143000" indent="-228600">
              <a:buClr>
                <a:schemeClr val="accent1"/>
              </a:buClr>
              <a:buFont typeface="Arial" pitchFamily="34" charset="0"/>
              <a:buChar char="•"/>
              <a:defRPr sz="1600">
                <a:solidFill>
                  <a:schemeClr val="tx1"/>
                </a:solidFill>
              </a:defRPr>
            </a:lvl3pPr>
            <a:lvl4pPr marL="1600200" indent="-228600">
              <a:buClr>
                <a:srgbClr val="999A8F"/>
              </a:buClr>
              <a:buFont typeface="Calibri" pitchFamily="34" charset="0"/>
              <a:buChar char="–"/>
              <a:defRPr sz="1400">
                <a:solidFill>
                  <a:schemeClr val="tx1"/>
                </a:solidFill>
              </a:defRPr>
            </a:lvl4pPr>
            <a:lvl5pPr marL="2057400" indent="-228600">
              <a:buClr>
                <a:srgbClr val="69BE28"/>
              </a:buClr>
              <a:buFont typeface="Calibri" pitchFamily="34" charset="0"/>
              <a:buChar char="»"/>
              <a:defRPr sz="1200">
                <a:solidFill>
                  <a:schemeClr val="tx1"/>
                </a:solidFill>
              </a:defRPr>
            </a:lvl5pPr>
          </a:lstStyle>
          <a:p>
            <a:pPr lvl="0"/>
            <a:r>
              <a:rPr lang="en-US" dirty="0" smtClean="0"/>
              <a:t> 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lvl1pPr>
              <a:defRPr sz="1200"/>
            </a:lvl1pPr>
          </a:lstStyle>
          <a:p>
            <a:fld id="{FA697448-FA31-4949-9864-F7BD87D6893B}" type="slidenum">
              <a:rPr lang="en-US" smtClean="0"/>
              <a:pPr/>
              <a:t>‹#›</a:t>
            </a:fld>
            <a:endParaRPr lang="en-US" dirty="0"/>
          </a:p>
        </p:txBody>
      </p:sp>
      <p:sp>
        <p:nvSpPr>
          <p:cNvPr id="8"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xmlns="" val="312188306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ith brandin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A697448-FA31-4949-9864-F7BD87D6893B}" type="slidenum">
              <a:rPr lang="en-US" smtClean="0"/>
              <a:pPr/>
              <a:t>‹#›</a:t>
            </a:fld>
            <a:endParaRPr lang="en-US" dirty="0"/>
          </a:p>
        </p:txBody>
      </p:sp>
      <p:sp>
        <p:nvSpPr>
          <p:cNvPr id="5"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xmlns="" val="26704375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with optional title">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rgbClr val="007A87"/>
                </a:solidFill>
              </a:defRPr>
            </a:lvl1pPr>
          </a:lstStyle>
          <a:p>
            <a:fld id="{FA697448-FA31-4949-9864-F7BD87D6893B}" type="slidenum">
              <a:rPr lang="en-US" smtClean="0"/>
              <a:pPr/>
              <a:t>‹#›</a:t>
            </a:fld>
            <a:endParaRPr lang="en-US" dirty="0"/>
          </a:p>
        </p:txBody>
      </p:sp>
      <p:sp>
        <p:nvSpPr>
          <p:cNvPr id="7" name="Picture Placeholder 2"/>
          <p:cNvSpPr>
            <a:spLocks noGrp="1"/>
          </p:cNvSpPr>
          <p:nvPr>
            <p:ph type="pic" idx="1"/>
          </p:nvPr>
        </p:nvSpPr>
        <p:spPr>
          <a:xfrm>
            <a:off x="609600" y="971550"/>
            <a:ext cx="8077200" cy="37147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
        <p:nvSpPr>
          <p:cNvPr id="9" name="TextBox 8"/>
          <p:cNvSpPr txBox="1"/>
          <p:nvPr userDrawn="1"/>
        </p:nvSpPr>
        <p:spPr>
          <a:xfrm>
            <a:off x="609600" y="4856262"/>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xmlns="" val="141483168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rgbClr val="007A87"/>
                </a:solidFill>
              </a:defRPr>
            </a:lvl1pPr>
          </a:lstStyle>
          <a:p>
            <a:fld id="{FA697448-FA31-4949-9864-F7BD87D6893B}" type="slidenum">
              <a:rPr lang="en-US" smtClean="0"/>
              <a:pPr/>
              <a:t>‹#›</a:t>
            </a:fld>
            <a:endParaRPr lang="en-US" dirty="0"/>
          </a:p>
        </p:txBody>
      </p:sp>
      <p:sp>
        <p:nvSpPr>
          <p:cNvPr id="10" name="Title 1"/>
          <p:cNvSpPr>
            <a:spLocks noGrp="1"/>
          </p:cNvSpPr>
          <p:nvPr>
            <p:ph type="title" hasCustomPrompt="1"/>
          </p:nvPr>
        </p:nvSpPr>
        <p:spPr>
          <a:xfrm>
            <a:off x="228600" y="171450"/>
            <a:ext cx="8458200" cy="800100"/>
          </a:xfrm>
        </p:spPr>
        <p:txBody>
          <a:bodyPr lIns="0" tIns="0" rIns="0" bIns="0" anchor="t">
            <a:noAutofit/>
          </a:bodyPr>
          <a:lstStyle>
            <a:lvl1pPr>
              <a:defRPr sz="3200">
                <a:solidFill>
                  <a:srgbClr val="51626F"/>
                </a:solidFill>
              </a:defRPr>
            </a:lvl1pPr>
          </a:lstStyle>
          <a:p>
            <a:r>
              <a:rPr lang="en-US" dirty="0" smtClean="0"/>
              <a:t>CLICK TO EDIT</a:t>
            </a:r>
            <a:endParaRPr lang="en-US" dirty="0"/>
          </a:p>
        </p:txBody>
      </p:sp>
      <p:sp>
        <p:nvSpPr>
          <p:cNvPr id="9" name="TextBox 8"/>
          <p:cNvSpPr txBox="1"/>
          <p:nvPr userDrawn="1"/>
        </p:nvSpPr>
        <p:spPr>
          <a:xfrm>
            <a:off x="609600" y="4856262"/>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graphicFrame>
        <p:nvGraphicFramePr>
          <p:cNvPr id="3" name="Table 2"/>
          <p:cNvGraphicFramePr>
            <a:graphicFrameLocks noGrp="1"/>
          </p:cNvGraphicFramePr>
          <p:nvPr userDrawn="1">
            <p:extLst>
              <p:ext uri="{D42A27DB-BD31-4B8C-83A1-F6EECF244321}">
                <p14:modId xmlns:p14="http://schemas.microsoft.com/office/powerpoint/2010/main" xmlns="" val="3951358157"/>
              </p:ext>
            </p:extLst>
          </p:nvPr>
        </p:nvGraphicFramePr>
        <p:xfrm>
          <a:off x="228600" y="971550"/>
          <a:ext cx="8458200" cy="1478280"/>
        </p:xfrm>
        <a:graphic>
          <a:graphicData uri="http://schemas.openxmlformats.org/drawingml/2006/table">
            <a:tbl>
              <a:tblPr firstRow="1" bandRow="1">
                <a:tableStyleId>{00A15C55-8517-42AA-B614-E9B94910E393}</a:tableStyleId>
              </a:tblPr>
              <a:tblGrid>
                <a:gridCol w="1691640"/>
                <a:gridCol w="1691640"/>
                <a:gridCol w="1691640"/>
                <a:gridCol w="1691640"/>
                <a:gridCol w="1691640"/>
              </a:tblGrid>
              <a:tr h="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Chart Title</a:t>
                      </a:r>
                      <a:endParaRPr lang="en-US" sz="1800" dirty="0"/>
                    </a:p>
                  </a:txBody>
                  <a:tcPr anchor="ctr"/>
                </a:tc>
                <a:tc>
                  <a:txBody>
                    <a:bodyPr/>
                    <a:lstStyle/>
                    <a:p>
                      <a:pPr algn="ctr"/>
                      <a:r>
                        <a:rPr lang="en-US" sz="1400" dirty="0" smtClean="0"/>
                        <a:t>Column Title</a:t>
                      </a:r>
                      <a:endParaRPr lang="en-US" sz="1400" dirty="0"/>
                    </a:p>
                  </a:txBody>
                  <a:tcPr anchor="ctr"/>
                </a:tc>
                <a:tc>
                  <a:txBody>
                    <a:bodyPr/>
                    <a:lstStyle/>
                    <a:p>
                      <a:pPr algn="ctr"/>
                      <a:r>
                        <a:rPr lang="en-US" sz="1400" dirty="0" smtClean="0"/>
                        <a:t>Column Title</a:t>
                      </a:r>
                      <a:endParaRPr lang="en-US" sz="1400" dirty="0"/>
                    </a:p>
                  </a:txBody>
                  <a:tcPr anchor="ctr"/>
                </a:tc>
                <a:tc>
                  <a:txBody>
                    <a:bodyPr/>
                    <a:lstStyle/>
                    <a:p>
                      <a:pPr algn="ctr"/>
                      <a:r>
                        <a:rPr lang="en-US" sz="1400" dirty="0" smtClean="0"/>
                        <a:t>Column Title</a:t>
                      </a:r>
                      <a:endParaRPr lang="en-US" sz="1400" dirty="0"/>
                    </a:p>
                  </a:txBody>
                  <a:tcPr anchor="ctr"/>
                </a:tc>
                <a:tc>
                  <a:txBody>
                    <a:bodyPr/>
                    <a:lstStyle/>
                    <a:p>
                      <a:pPr algn="ctr"/>
                      <a:r>
                        <a:rPr lang="en-US" sz="1400" dirty="0" smtClean="0"/>
                        <a:t>Column Title</a:t>
                      </a:r>
                      <a:endParaRPr lang="en-US" sz="1400" dirty="0"/>
                    </a:p>
                  </a:txBody>
                  <a:tcPr anchor="ct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Text</a:t>
                      </a:r>
                      <a:endParaRPr lang="en-US" sz="1400" b="1" dirty="0" smtClean="0"/>
                    </a:p>
                  </a:txBody>
                  <a:tcPr/>
                </a:tc>
              </a:tr>
            </a:tbl>
          </a:graphicData>
        </a:graphic>
      </p:graphicFrame>
    </p:spTree>
    <p:extLst>
      <p:ext uri="{BB962C8B-B14F-4D97-AF65-F5344CB8AC3E}">
        <p14:creationId xmlns:p14="http://schemas.microsoft.com/office/powerpoint/2010/main" xmlns="" val="43724294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content slide: 2 colum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200151"/>
            <a:ext cx="3446254" cy="3394472"/>
          </a:xfrm>
        </p:spPr>
        <p:txBody>
          <a:bodyPr lIns="0" tIns="0" rIns="0" bIns="0">
            <a:noAutofit/>
          </a:bodyPr>
          <a:lstStyle>
            <a:lvl1pPr marL="342900" indent="-342900">
              <a:buClr>
                <a:schemeClr val="accent6"/>
              </a:buClr>
              <a:buSzPct val="75000"/>
              <a:buFont typeface="Webdings" pitchFamily="18" charset="2"/>
              <a:buChar char="\"/>
              <a:defRPr sz="2000" b="1">
                <a:solidFill>
                  <a:srgbClr val="51626F"/>
                </a:solidFill>
              </a:defRPr>
            </a:lvl1pPr>
            <a:lvl2pPr marL="742950" indent="-285750">
              <a:buClr>
                <a:schemeClr val="accent4"/>
              </a:buClr>
              <a:buFont typeface="Wingdings" pitchFamily="2" charset="2"/>
              <a:buChar char="§"/>
              <a:defRPr sz="1800"/>
            </a:lvl2pPr>
            <a:lvl3pPr>
              <a:buClr>
                <a:schemeClr val="accent1"/>
              </a:buClr>
              <a:defRPr sz="1600"/>
            </a:lvl3pPr>
            <a:lvl4pPr>
              <a:buClr>
                <a:srgbClr val="999A8F"/>
              </a:buClr>
              <a:defRPr sz="1400"/>
            </a:lvl4pPr>
            <a:lvl5pPr>
              <a:buClr>
                <a:schemeClr val="accent3"/>
              </a:buClr>
              <a:defRPr sz="1200"/>
            </a:lvl5pPr>
            <a:lvl6pPr>
              <a:defRPr sz="1800"/>
            </a:lvl6pPr>
            <a:lvl7pPr>
              <a:defRPr sz="1800"/>
            </a:lvl7pPr>
            <a:lvl8pPr>
              <a:defRPr sz="1800"/>
            </a:lvl8pPr>
            <a:lvl9pPr>
              <a:defRPr sz="1800"/>
            </a:lvl9pPr>
          </a:lstStyle>
          <a:p>
            <a:pPr lvl="0"/>
            <a:r>
              <a:rPr lang="en-US" dirty="0" smtClean="0"/>
              <a:t>Click to edit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191000" y="1200151"/>
            <a:ext cx="3581400" cy="3394472"/>
          </a:xfrm>
        </p:spPr>
        <p:txBody>
          <a:bodyPr lIns="0" tIns="0" rIns="0" bIns="0">
            <a:noAutofit/>
          </a:bodyPr>
          <a:lstStyle>
            <a:lvl1pPr marL="342900" indent="-342900">
              <a:buClr>
                <a:schemeClr val="accent6"/>
              </a:buClr>
              <a:buSzPct val="75000"/>
              <a:buFont typeface="Webdings" pitchFamily="18" charset="2"/>
              <a:buChar char="\"/>
              <a:defRPr sz="2000" b="1">
                <a:solidFill>
                  <a:srgbClr val="51626F"/>
                </a:solidFill>
              </a:defRPr>
            </a:lvl1pPr>
            <a:lvl2pPr marL="742950" indent="-285750">
              <a:buClr>
                <a:schemeClr val="accent4"/>
              </a:buClr>
              <a:buFont typeface="Wingdings" pitchFamily="2" charset="2"/>
              <a:buChar char="§"/>
              <a:defRPr sz="1800"/>
            </a:lvl2pPr>
            <a:lvl3pPr>
              <a:buClr>
                <a:schemeClr val="accent1"/>
              </a:buClr>
              <a:defRPr sz="1600"/>
            </a:lvl3pPr>
            <a:lvl4pPr>
              <a:buClr>
                <a:srgbClr val="999A8F"/>
              </a:buClr>
              <a:defRPr sz="1400"/>
            </a:lvl4pPr>
            <a:lvl5pPr>
              <a:buClr>
                <a:schemeClr val="accent3"/>
              </a:buClr>
              <a:defRPr sz="1200"/>
            </a:lvl5pPr>
            <a:lvl6pPr>
              <a:defRPr sz="1800"/>
            </a:lvl6pPr>
            <a:lvl7pPr>
              <a:defRPr sz="1800"/>
            </a:lvl7pPr>
            <a:lvl8pPr>
              <a:defRPr sz="1800"/>
            </a:lvl8pPr>
            <a:lvl9pPr>
              <a:defRPr sz="1800"/>
            </a:lvl9pPr>
          </a:lstStyle>
          <a:p>
            <a:pPr lvl="0"/>
            <a:r>
              <a:rPr lang="en-US" dirty="0" smtClean="0"/>
              <a:t>Click to edit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p:txBody>
          <a:bodyPr/>
          <a:lstStyle/>
          <a:p>
            <a:fld id="{FA697448-FA31-4949-9864-F7BD87D6893B}" type="slidenum">
              <a:rPr lang="en-US" smtClean="0"/>
              <a:pPr/>
              <a:t>‹#›</a:t>
            </a:fld>
            <a:endParaRPr lang="en-US"/>
          </a:p>
        </p:txBody>
      </p:sp>
      <p:sp>
        <p:nvSpPr>
          <p:cNvPr id="6"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xmlns="" val="141707464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content slide: 2 colums with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151335"/>
            <a:ext cx="3430768" cy="479822"/>
          </a:xfrm>
        </p:spPr>
        <p:txBody>
          <a:bodyPr lIns="0" tIns="0" rIns="0" bIns="0"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a:t>
            </a:r>
          </a:p>
        </p:txBody>
      </p:sp>
      <p:sp>
        <p:nvSpPr>
          <p:cNvPr id="4" name="Content Placeholder 3"/>
          <p:cNvSpPr>
            <a:spLocks noGrp="1"/>
          </p:cNvSpPr>
          <p:nvPr>
            <p:ph sz="half" idx="2" hasCustomPrompt="1"/>
          </p:nvPr>
        </p:nvSpPr>
        <p:spPr>
          <a:xfrm>
            <a:off x="609600" y="1631156"/>
            <a:ext cx="3430768" cy="2963466"/>
          </a:xfrm>
        </p:spPr>
        <p:txBody>
          <a:bodyPr lIns="0" tIns="0" rIns="0" bIns="0">
            <a:noAutofit/>
          </a:bodyPr>
          <a:lstStyle>
            <a:lvl1pPr marL="342900" indent="-342900">
              <a:buClr>
                <a:srgbClr val="007A87"/>
              </a:buClr>
              <a:buSzPct val="75000"/>
              <a:buFont typeface="Webdings" pitchFamily="18" charset="2"/>
              <a:buChar char="\"/>
              <a:defRPr sz="2000" b="1" baseline="0"/>
            </a:lvl1pPr>
            <a:lvl2pPr marL="742950" indent="-285750">
              <a:buClr>
                <a:schemeClr val="accent4"/>
              </a:buClr>
              <a:buFont typeface="Wingdings" pitchFamily="2" charset="2"/>
              <a:buChar char="§"/>
              <a:defRPr sz="1800"/>
            </a:lvl2pPr>
            <a:lvl3pPr>
              <a:buClr>
                <a:schemeClr val="accent1"/>
              </a:buClr>
              <a:defRPr sz="1600"/>
            </a:lvl3pPr>
            <a:lvl4pPr>
              <a:buClr>
                <a:schemeClr val="tx2"/>
              </a:buClr>
              <a:defRPr sz="1400"/>
            </a:lvl4pPr>
            <a:lvl5pPr>
              <a:buClr>
                <a:schemeClr val="accent3"/>
              </a:buClr>
              <a:defRPr sz="1200"/>
            </a:lvl5pPr>
            <a:lvl6pPr>
              <a:defRPr sz="1600"/>
            </a:lvl6pPr>
            <a:lvl7pPr>
              <a:defRPr sz="1600"/>
            </a:lvl7pPr>
            <a:lvl8pPr>
              <a:defRPr sz="1600"/>
            </a:lvl8pPr>
            <a:lvl9pPr>
              <a:defRPr sz="1600"/>
            </a:lvl9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343401" y="1151335"/>
            <a:ext cx="3432115" cy="479822"/>
          </a:xfrm>
        </p:spPr>
        <p:txBody>
          <a:bodyPr lIns="0" tIns="0" rIns="0" bIns="0"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a:t>
            </a:r>
          </a:p>
        </p:txBody>
      </p:sp>
      <p:sp>
        <p:nvSpPr>
          <p:cNvPr id="6" name="Content Placeholder 5"/>
          <p:cNvSpPr>
            <a:spLocks noGrp="1"/>
          </p:cNvSpPr>
          <p:nvPr>
            <p:ph sz="quarter" idx="4" hasCustomPrompt="1"/>
          </p:nvPr>
        </p:nvSpPr>
        <p:spPr>
          <a:xfrm>
            <a:off x="4343401" y="1631156"/>
            <a:ext cx="3432115" cy="2963466"/>
          </a:xfrm>
        </p:spPr>
        <p:txBody>
          <a:bodyPr lIns="0" tIns="0" rIns="0" bIns="0">
            <a:noAutofit/>
          </a:bodyPr>
          <a:lstStyle>
            <a:lvl1pPr marL="342900" indent="-342900">
              <a:buClr>
                <a:srgbClr val="007A87"/>
              </a:buClr>
              <a:buSzPct val="75000"/>
              <a:buFont typeface="Webdings" pitchFamily="18" charset="2"/>
              <a:buChar char="\"/>
              <a:defRPr sz="2000" b="1"/>
            </a:lvl1pPr>
            <a:lvl2pPr marL="742950" indent="-285750">
              <a:buClr>
                <a:schemeClr val="accent4"/>
              </a:buClr>
              <a:buFont typeface="Wingdings" pitchFamily="2" charset="2"/>
              <a:buChar char="§"/>
              <a:defRPr sz="1800"/>
            </a:lvl2pPr>
            <a:lvl3pPr>
              <a:buClr>
                <a:schemeClr val="accent1"/>
              </a:buClr>
              <a:defRPr sz="1600"/>
            </a:lvl3pPr>
            <a:lvl4pPr>
              <a:buClr>
                <a:schemeClr val="tx2"/>
              </a:buClr>
              <a:defRPr sz="1400"/>
            </a:lvl4pPr>
            <a:lvl5pPr>
              <a:buClr>
                <a:schemeClr val="accent3"/>
              </a:buClr>
              <a:defRPr sz="1200"/>
            </a:lvl5pPr>
            <a:lvl6pPr>
              <a:defRPr sz="1600"/>
            </a:lvl6pPr>
            <a:lvl7pPr>
              <a:defRPr sz="1600"/>
            </a:lvl7pPr>
            <a:lvl8pPr>
              <a:defRPr sz="1600"/>
            </a:lvl8pPr>
            <a:lvl9pPr>
              <a:defRPr sz="1600"/>
            </a:lvl9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Slide Number Placeholder 8"/>
          <p:cNvSpPr>
            <a:spLocks noGrp="1"/>
          </p:cNvSpPr>
          <p:nvPr>
            <p:ph type="sldNum" sz="quarter" idx="12"/>
          </p:nvPr>
        </p:nvSpPr>
        <p:spPr/>
        <p:txBody>
          <a:bodyPr/>
          <a:lstStyle/>
          <a:p>
            <a:fld id="{FA697448-FA31-4949-9864-F7BD87D6893B}" type="slidenum">
              <a:rPr lang="en-US" smtClean="0"/>
              <a:pPr/>
              <a:t>‹#›</a:t>
            </a:fld>
            <a:endParaRPr lang="en-US" dirty="0"/>
          </a:p>
        </p:txBody>
      </p:sp>
      <p:sp>
        <p:nvSpPr>
          <p:cNvPr id="8" name="Title 1"/>
          <p:cNvSpPr>
            <a:spLocks noGrp="1"/>
          </p:cNvSpPr>
          <p:nvPr>
            <p:ph type="title" hasCustomPrompt="1"/>
          </p:nvPr>
        </p:nvSpPr>
        <p:spPr>
          <a:xfrm>
            <a:off x="609600" y="171450"/>
            <a:ext cx="8077200" cy="800100"/>
          </a:xfrm>
        </p:spPr>
        <p:txBody>
          <a:bodyPr lIns="0" tIns="0" rIns="0" bIns="0" anchor="t">
            <a:noAutofit/>
          </a:bodyPr>
          <a:lstStyle>
            <a:lvl1pPr>
              <a:defRPr sz="4000">
                <a:solidFill>
                  <a:srgbClr val="007A87"/>
                </a:solidFill>
              </a:defRPr>
            </a:lvl1pPr>
          </a:lstStyle>
          <a:p>
            <a:r>
              <a:rPr lang="en-US" dirty="0" smtClean="0"/>
              <a:t>CLICK TO EDIT</a:t>
            </a:r>
            <a:endParaRPr lang="en-US" dirty="0"/>
          </a:p>
        </p:txBody>
      </p:sp>
    </p:spTree>
    <p:extLst>
      <p:ext uri="{BB962C8B-B14F-4D97-AF65-F5344CB8AC3E}">
        <p14:creationId xmlns:p14="http://schemas.microsoft.com/office/powerpoint/2010/main" xmlns="" val="25461342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content slide: 2 colums with we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CLICK TO EDIT</a:t>
            </a:r>
            <a:endParaRPr lang="en-US" dirty="0"/>
          </a:p>
        </p:txBody>
      </p:sp>
      <p:sp>
        <p:nvSpPr>
          <p:cNvPr id="3" name="Slide Number Placeholder 2"/>
          <p:cNvSpPr>
            <a:spLocks noGrp="1"/>
          </p:cNvSpPr>
          <p:nvPr>
            <p:ph type="sldNum" sz="quarter" idx="10"/>
          </p:nvPr>
        </p:nvSpPr>
        <p:spPr/>
        <p:txBody>
          <a:bodyPr/>
          <a:lstStyle/>
          <a:p>
            <a:fld id="{FA697448-FA31-4949-9864-F7BD87D6893B}" type="slidenum">
              <a:rPr lang="en-US" smtClean="0"/>
              <a:pPr/>
              <a:t>‹#›</a:t>
            </a:fld>
            <a:endParaRPr lang="en-US" dirty="0"/>
          </a:p>
        </p:txBody>
      </p:sp>
      <p:sp>
        <p:nvSpPr>
          <p:cNvPr id="5" name="Content Placeholder 2"/>
          <p:cNvSpPr>
            <a:spLocks noGrp="1"/>
          </p:cNvSpPr>
          <p:nvPr>
            <p:ph idx="1"/>
          </p:nvPr>
        </p:nvSpPr>
        <p:spPr>
          <a:xfrm>
            <a:off x="3575050" y="952500"/>
            <a:ext cx="4197350" cy="3752850"/>
          </a:xfrm>
        </p:spPr>
        <p:txBody>
          <a:bodyPr lIns="0" tIns="0" rIns="0" bIns="0">
            <a:noAutofit/>
          </a:bodyPr>
          <a:lstStyle>
            <a:lvl1pPr marL="342900" indent="-342900">
              <a:buClr>
                <a:srgbClr val="007A87"/>
              </a:buClr>
              <a:buFont typeface="Webdings" pitchFamily="18" charset="2"/>
              <a:buChar char="\"/>
              <a:defRPr sz="2000"/>
            </a:lvl1pPr>
            <a:lvl2pPr marL="742950" indent="-285750">
              <a:buClr>
                <a:schemeClr val="accent4"/>
              </a:buClr>
              <a:buFont typeface="Wingdings" pitchFamily="2" charset="2"/>
              <a:buChar char="§"/>
              <a:defRPr sz="1800"/>
            </a:lvl2pPr>
            <a:lvl3pPr>
              <a:buClr>
                <a:schemeClr val="accent1"/>
              </a:buClr>
              <a:defRPr sz="1600" b="0"/>
            </a:lvl3pPr>
            <a:lvl4pPr>
              <a:buClr>
                <a:schemeClr val="tx2"/>
              </a:buClr>
              <a:defRPr sz="1400"/>
            </a:lvl4pPr>
            <a:lvl5pPr>
              <a:buClr>
                <a:schemeClr val="accent3"/>
              </a:buClr>
              <a:defRPr sz="1200"/>
            </a:lvl5pPr>
            <a:lvl6pPr>
              <a:defRPr sz="2000"/>
            </a:lvl6pPr>
            <a:lvl7pPr>
              <a:defRPr sz="2000"/>
            </a:lvl7pPr>
            <a:lvl8pPr>
              <a:defRPr sz="2000"/>
            </a:lvl8pPr>
            <a:lvl9pPr>
              <a:defRPr sz="2000"/>
            </a:lvl9pPr>
          </a:lstStyle>
          <a:p>
            <a:pPr lvl="0"/>
            <a:r>
              <a:rPr lang="en-US" dirty="0" smtClean="0"/>
              <a:t>Click to edit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Placeholder 3"/>
          <p:cNvSpPr>
            <a:spLocks noGrp="1"/>
          </p:cNvSpPr>
          <p:nvPr>
            <p:ph type="body" sz="half" idx="2"/>
          </p:nvPr>
        </p:nvSpPr>
        <p:spPr>
          <a:xfrm>
            <a:off x="609601" y="1728788"/>
            <a:ext cx="2855913" cy="2957513"/>
          </a:xfrm>
        </p:spPr>
        <p:txBody>
          <a:bodyPr lIns="0" tIns="0" rIns="0" bIns="0">
            <a:noAutofit/>
          </a:bodyPr>
          <a:lstStyle>
            <a:lvl1pPr marL="0" indent="0">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7" name="Text Placeholder 3"/>
          <p:cNvSpPr>
            <a:spLocks noGrp="1"/>
          </p:cNvSpPr>
          <p:nvPr>
            <p:ph type="body" sz="half" idx="11"/>
          </p:nvPr>
        </p:nvSpPr>
        <p:spPr>
          <a:xfrm>
            <a:off x="609600" y="971551"/>
            <a:ext cx="2855913" cy="685800"/>
          </a:xfrm>
        </p:spPr>
        <p:txBody>
          <a:bodyPr lIns="0" tIns="0" rIns="0" bIns="0">
            <a:noAutofit/>
          </a:bodyPr>
          <a:lstStyle>
            <a:lvl1pPr marL="0" indent="0">
              <a:lnSpc>
                <a:spcPts val="2100"/>
              </a:lnSpc>
              <a:buNone/>
              <a:defRPr sz="20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xmlns="" val="345741140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 slid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3600450"/>
            <a:ext cx="7162800" cy="425054"/>
          </a:xfrm>
        </p:spPr>
        <p:txBody>
          <a:bodyPr lIns="0" tIns="0" rIns="0" bIns="0" anchor="b">
            <a:noAutofit/>
          </a:bodyPr>
          <a:lstStyle>
            <a:lvl1pPr algn="l">
              <a:defRPr sz="2400" b="1">
                <a:solidFill>
                  <a:schemeClr val="accent4"/>
                </a:solidFill>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609600" y="171451"/>
            <a:ext cx="7162800" cy="33742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09600" y="4025503"/>
            <a:ext cx="7162800" cy="660797"/>
          </a:xfrm>
        </p:spPr>
        <p:txBody>
          <a:bodyPr lIns="0" tIns="0" rIns="0" bIns="0">
            <a:noAutofit/>
          </a:bodyPr>
          <a:lstStyle>
            <a:lvl1pPr marL="0" indent="0">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7" name="Slide Number Placeholder 6"/>
          <p:cNvSpPr>
            <a:spLocks noGrp="1"/>
          </p:cNvSpPr>
          <p:nvPr>
            <p:ph type="sldNum" sz="quarter" idx="12"/>
          </p:nvPr>
        </p:nvSpPr>
        <p:spPr/>
        <p:txBody>
          <a:bodyPr/>
          <a:lstStyle/>
          <a:p>
            <a:fld id="{FA697448-FA31-4949-9864-F7BD87D6893B}" type="slidenum">
              <a:rPr lang="en-US" smtClean="0"/>
              <a:pPr/>
              <a:t>‹#›</a:t>
            </a:fld>
            <a:endParaRPr lang="en-US" dirty="0"/>
          </a:p>
        </p:txBody>
      </p:sp>
    </p:spTree>
    <p:extLst>
      <p:ext uri="{BB962C8B-B14F-4D97-AF65-F5344CB8AC3E}">
        <p14:creationId xmlns:p14="http://schemas.microsoft.com/office/powerpoint/2010/main" xmlns="" val="284657069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5" cstate="print">
            <a:extLst>
              <a:ext uri="{28A0092B-C50C-407E-A947-70E740481C1C}">
                <a14:useLocalDpi xmlns:a14="http://schemas.microsoft.com/office/drawing/2010/main" xmlns="" val="0"/>
              </a:ext>
            </a:extLst>
          </a:blip>
          <a:stretch>
            <a:fillRect/>
          </a:stretch>
        </p:blipFill>
        <p:spPr>
          <a:xfrm>
            <a:off x="0" y="0"/>
            <a:ext cx="9135879" cy="5143500"/>
          </a:xfrm>
          <a:prstGeom prst="rect">
            <a:avLst/>
          </a:prstGeom>
        </p:spPr>
      </p:pic>
      <p:sp>
        <p:nvSpPr>
          <p:cNvPr id="2" name="Title Placeholder 1"/>
          <p:cNvSpPr>
            <a:spLocks noGrp="1"/>
          </p:cNvSpPr>
          <p:nvPr>
            <p:ph type="title"/>
          </p:nvPr>
        </p:nvSpPr>
        <p:spPr>
          <a:xfrm>
            <a:off x="609600" y="171450"/>
            <a:ext cx="8305800" cy="800100"/>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200151"/>
            <a:ext cx="7162800" cy="3394472"/>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76200" y="4767263"/>
            <a:ext cx="381000" cy="273844"/>
          </a:xfrm>
          <a:prstGeom prst="rect">
            <a:avLst/>
          </a:prstGeom>
        </p:spPr>
        <p:txBody>
          <a:bodyPr vert="horz" lIns="91440" tIns="45720" rIns="91440" bIns="45720" rtlCol="0" anchor="ctr"/>
          <a:lstStyle>
            <a:lvl1pPr algn="r">
              <a:defRPr sz="1200">
                <a:solidFill>
                  <a:schemeClr val="bg1"/>
                </a:solidFill>
              </a:defRPr>
            </a:lvl1pPr>
          </a:lstStyle>
          <a:p>
            <a:fld id="{FA697448-FA31-4949-9864-F7BD87D6893B}" type="slidenum">
              <a:rPr lang="en-US" smtClean="0"/>
              <a:pPr/>
              <a:t>‹#›</a:t>
            </a:fld>
            <a:endParaRPr lang="en-US" dirty="0"/>
          </a:p>
        </p:txBody>
      </p:sp>
      <p:sp>
        <p:nvSpPr>
          <p:cNvPr id="8" name="TextBox 7"/>
          <p:cNvSpPr txBox="1"/>
          <p:nvPr userDrawn="1"/>
        </p:nvSpPr>
        <p:spPr>
          <a:xfrm>
            <a:off x="609600" y="4856262"/>
            <a:ext cx="7162800" cy="153888"/>
          </a:xfrm>
          <a:prstGeom prst="rect">
            <a:avLst/>
          </a:prstGeom>
          <a:noFill/>
        </p:spPr>
        <p:txBody>
          <a:bodyPr wrap="square" lIns="0" tIns="0" rIns="0" bIns="0" rtlCol="0">
            <a:noAutofit/>
          </a:bodyPr>
          <a:lstStyle/>
          <a:p>
            <a:r>
              <a:rPr lang="en-US" sz="800" dirty="0" smtClean="0">
                <a:solidFill>
                  <a:srgbClr val="999A8F"/>
                </a:solidFill>
              </a:rPr>
              <a:t>© 2013 DST Systems, Inc. All rights reserved.</a:t>
            </a:r>
            <a:endParaRPr lang="en-US" sz="800" dirty="0">
              <a:solidFill>
                <a:srgbClr val="999A8F"/>
              </a:solidFill>
            </a:endParaRPr>
          </a:p>
        </p:txBody>
      </p:sp>
    </p:spTree>
    <p:extLst>
      <p:ext uri="{BB962C8B-B14F-4D97-AF65-F5344CB8AC3E}">
        <p14:creationId xmlns:p14="http://schemas.microsoft.com/office/powerpoint/2010/main" xmlns="" val="824450029"/>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9" r:id="rId3"/>
    <p:sldLayoutId id="2147483654" r:id="rId4"/>
    <p:sldLayoutId id="2147483661" r:id="rId5"/>
    <p:sldLayoutId id="2147483650" r:id="rId6"/>
    <p:sldLayoutId id="2147483655" r:id="rId7"/>
    <p:sldLayoutId id="2147483660" r:id="rId8"/>
    <p:sldLayoutId id="2147483665" r:id="rId9"/>
    <p:sldLayoutId id="2147483652" r:id="rId10"/>
    <p:sldLayoutId id="2147483653" r:id="rId11"/>
    <p:sldLayoutId id="2147483664" r:id="rId12"/>
    <p:sldLayoutId id="2147483657" r:id="rId13"/>
  </p:sldLayoutIdLst>
  <p:timing>
    <p:tnLst>
      <p:par>
        <p:cTn id="1" dur="indefinite" restart="never" nodeType="tmRoot"/>
      </p:par>
    </p:tnLst>
  </p:timing>
  <p:hf hdr="0" ftr="0" dt="0"/>
  <p:txStyles>
    <p:titleStyle>
      <a:lvl1pPr algn="l" defTabSz="914400" rtl="0" eaLnBrk="1" latinLnBrk="0" hangingPunct="1">
        <a:spcBef>
          <a:spcPct val="0"/>
        </a:spcBef>
        <a:buNone/>
        <a:defRPr sz="4000" b="1" kern="1200">
          <a:solidFill>
            <a:schemeClr val="accent6"/>
          </a:solidFill>
          <a:latin typeface="+mj-lt"/>
          <a:ea typeface="+mj-ea"/>
          <a:cs typeface="+mj-cs"/>
        </a:defRPr>
      </a:lvl1pPr>
    </p:titleStyle>
    <p:bodyStyle>
      <a:lvl1pPr marL="342900" indent="-342900" algn="l" defTabSz="914400" rtl="0" eaLnBrk="1" latinLnBrk="0" hangingPunct="1">
        <a:spcBef>
          <a:spcPct val="20000"/>
        </a:spcBef>
        <a:buClr>
          <a:schemeClr val="accent6"/>
        </a:buClr>
        <a:buSzPct val="75000"/>
        <a:buFont typeface="Webdings" pitchFamily="18" charset="2"/>
        <a:buChar char="\"/>
        <a:defRPr sz="2000" b="1" kern="1200">
          <a:solidFill>
            <a:srgbClr val="51626F"/>
          </a:solidFill>
          <a:latin typeface="+mn-lt"/>
          <a:ea typeface="+mn-ea"/>
          <a:cs typeface="+mn-cs"/>
        </a:defRPr>
      </a:lvl1pPr>
      <a:lvl2pPr marL="742950" indent="-28575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Clr>
          <a:schemeClr val="accent3"/>
        </a:buClr>
        <a:buFont typeface="Arial"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hyperlink" Target="http://www.cahealthadvocates.org/glossary/index.html" TargetMode="Externa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Deductible</a:t>
            </a:r>
            <a:endParaRPr lang="en-US" sz="4800" dirty="0"/>
          </a:p>
        </p:txBody>
      </p:sp>
      <p:sp>
        <p:nvSpPr>
          <p:cNvPr id="12" name="Subtitle 11"/>
          <p:cNvSpPr>
            <a:spLocks noGrp="1"/>
          </p:cNvSpPr>
          <p:nvPr>
            <p:ph type="subTitle" idx="1"/>
          </p:nvPr>
        </p:nvSpPr>
        <p:spPr/>
        <p:txBody>
          <a:bodyPr/>
          <a:lstStyle/>
          <a:p>
            <a:r>
              <a:rPr lang="en-US" dirty="0" smtClean="0"/>
              <a:t>				</a:t>
            </a:r>
            <a:r>
              <a:rPr lang="en-US" dirty="0" smtClean="0"/>
              <a:t>                           </a:t>
            </a:r>
            <a:r>
              <a:rPr lang="en-US" dirty="0" smtClean="0">
                <a:solidFill>
                  <a:schemeClr val="tx1"/>
                </a:solidFill>
              </a:rPr>
              <a:t> By</a:t>
            </a:r>
            <a:r>
              <a:rPr lang="en-US" dirty="0" smtClean="0">
                <a:solidFill>
                  <a:schemeClr val="tx1"/>
                </a:solidFill>
              </a:rPr>
              <a:t>: Jagadeesh</a:t>
            </a:r>
            <a:endParaRPr lang="en-US" dirty="0">
              <a:solidFill>
                <a:schemeClr val="tx1"/>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369620" y="364392"/>
            <a:ext cx="6062587" cy="2888307"/>
          </a:xfrm>
          <a:prstGeom prst="rect">
            <a:avLst/>
          </a:prstGeom>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xmlns="" val="0"/>
              </a:ext>
            </a:extLst>
          </a:blip>
          <a:srcRect t="43589" r="26451" b="-2565"/>
          <a:stretch/>
        </p:blipFill>
        <p:spPr>
          <a:xfrm>
            <a:off x="7010400" y="0"/>
            <a:ext cx="2133601" cy="2647950"/>
          </a:xfrm>
          <a:prstGeom prst="rect">
            <a:avLst/>
          </a:prstGeom>
        </p:spPr>
      </p:pic>
    </p:spTree>
    <p:extLst>
      <p:ext uri="{BB962C8B-B14F-4D97-AF65-F5344CB8AC3E}">
        <p14:creationId xmlns:p14="http://schemas.microsoft.com/office/powerpoint/2010/main" xmlns="" val="17673449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A697448-FA31-4949-9864-F7BD87D6893B}" type="slidenum">
              <a:rPr lang="en-US" smtClean="0"/>
              <a:pPr/>
              <a:t>2</a:t>
            </a:fld>
            <a:endParaRPr lang="en-US" dirty="0"/>
          </a:p>
        </p:txBody>
      </p:sp>
      <p:sp>
        <p:nvSpPr>
          <p:cNvPr id="9" name="Title 8"/>
          <p:cNvSpPr>
            <a:spLocks noGrp="1"/>
          </p:cNvSpPr>
          <p:nvPr>
            <p:ph type="title"/>
          </p:nvPr>
        </p:nvSpPr>
        <p:spPr/>
        <p:txBody>
          <a:bodyPr/>
          <a:lstStyle/>
          <a:p>
            <a:r>
              <a:rPr lang="en-US" dirty="0" smtClean="0"/>
              <a:t>DISCLAIMER</a:t>
            </a:r>
            <a:endParaRPr lang="en-US" dirty="0"/>
          </a:p>
        </p:txBody>
      </p:sp>
    </p:spTree>
    <p:extLst>
      <p:ext uri="{BB962C8B-B14F-4D97-AF65-F5344CB8AC3E}">
        <p14:creationId xmlns:p14="http://schemas.microsoft.com/office/powerpoint/2010/main" xmlns="" val="28088510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19100"/>
            <a:ext cx="7162800" cy="4724400"/>
          </a:xfrm>
        </p:spPr>
        <p:txBody>
          <a:bodyPr/>
          <a:lstStyle/>
          <a:p>
            <a:pPr>
              <a:buFont typeface="Wingdings" pitchFamily="2" charset="2"/>
              <a:buChar char="q"/>
            </a:pPr>
            <a:r>
              <a:rPr lang="en-US" dirty="0" smtClean="0"/>
              <a:t>Recap of Deductible Session- I</a:t>
            </a:r>
          </a:p>
          <a:p>
            <a:pPr>
              <a:buNone/>
            </a:pPr>
            <a:endParaRPr lang="en-US" dirty="0" smtClean="0"/>
          </a:p>
          <a:p>
            <a:pPr>
              <a:buFont typeface="Wingdings" pitchFamily="2" charset="2"/>
              <a:buChar char="q"/>
            </a:pPr>
            <a:r>
              <a:rPr lang="en-US" dirty="0" smtClean="0"/>
              <a:t>Commercial Deductible</a:t>
            </a:r>
          </a:p>
          <a:p>
            <a:pPr>
              <a:buNone/>
            </a:pPr>
            <a:endParaRPr lang="en-US" dirty="0" smtClean="0"/>
          </a:p>
          <a:p>
            <a:pPr>
              <a:buFont typeface="Wingdings" pitchFamily="2" charset="2"/>
              <a:buChar char="q"/>
            </a:pPr>
            <a:r>
              <a:rPr lang="en-US" dirty="0" smtClean="0"/>
              <a:t>Part-D deductible</a:t>
            </a:r>
          </a:p>
          <a:p>
            <a:pPr>
              <a:buNone/>
            </a:pPr>
            <a:endParaRPr lang="en-US" dirty="0" smtClean="0"/>
          </a:p>
          <a:p>
            <a:pPr>
              <a:buFont typeface="Wingdings" pitchFamily="2" charset="2"/>
              <a:buChar char="q"/>
            </a:pPr>
            <a:r>
              <a:rPr lang="en-US" dirty="0" smtClean="0"/>
              <a:t>SWRP,SPAP, LTC claims</a:t>
            </a:r>
          </a:p>
          <a:p>
            <a:pPr>
              <a:buNone/>
            </a:pPr>
            <a:endParaRPr lang="en-US" dirty="0" smtClean="0"/>
          </a:p>
          <a:p>
            <a:pPr>
              <a:buFont typeface="Wingdings" pitchFamily="2" charset="2"/>
              <a:buChar char="q"/>
            </a:pPr>
            <a:r>
              <a:rPr lang="en-US" dirty="0" smtClean="0"/>
              <a:t>Programs</a:t>
            </a:r>
          </a:p>
          <a:p>
            <a:pPr>
              <a:buFont typeface="Wingdings" pitchFamily="2" charset="2"/>
              <a:buChar char="q"/>
            </a:pPr>
            <a:endParaRPr lang="en-US" dirty="0" smtClean="0"/>
          </a:p>
          <a:p>
            <a:pPr>
              <a:buFont typeface="Wingdings" pitchFamily="2" charset="2"/>
              <a:buChar char="q"/>
            </a:pPr>
            <a:r>
              <a:rPr lang="en-US" dirty="0" smtClean="0"/>
              <a:t>Introduction to </a:t>
            </a:r>
            <a:r>
              <a:rPr lang="en-US" dirty="0" err="1" smtClean="0"/>
              <a:t>BugZilla</a:t>
            </a:r>
            <a:endParaRPr lang="en-US" dirty="0" smtClean="0"/>
          </a:p>
          <a:p>
            <a:pPr>
              <a:buFont typeface="Wingdings" pitchFamily="2" charset="2"/>
              <a:buChar char="q"/>
            </a:pPr>
            <a:endParaRPr lang="en-US" dirty="0" smtClean="0"/>
          </a:p>
          <a:p>
            <a:pPr>
              <a:buFont typeface="Wingdings" pitchFamily="2" charset="2"/>
              <a:buChar char="q"/>
            </a:pPr>
            <a:r>
              <a:rPr lang="en-US" dirty="0" smtClean="0"/>
              <a:t>Quiz</a:t>
            </a:r>
          </a:p>
          <a:p>
            <a:pPr>
              <a:buFont typeface="Wingdings" pitchFamily="2" charset="2"/>
              <a:buChar char="q"/>
            </a:pPr>
            <a:endParaRPr lang="en-US" dirty="0" smtClean="0"/>
          </a:p>
        </p:txBody>
      </p:sp>
      <p:sp>
        <p:nvSpPr>
          <p:cNvPr id="4" name="Slide Number Placeholder 3"/>
          <p:cNvSpPr>
            <a:spLocks noGrp="1"/>
          </p:cNvSpPr>
          <p:nvPr>
            <p:ph type="sldNum" sz="quarter" idx="12"/>
          </p:nvPr>
        </p:nvSpPr>
        <p:spPr/>
        <p:txBody>
          <a:bodyPr/>
          <a:lstStyle/>
          <a:p>
            <a:fld id="{FA697448-FA31-4949-9864-F7BD87D6893B}" type="slidenum">
              <a:rPr lang="en-US" smtClean="0"/>
              <a:pPr/>
              <a:t>3</a:t>
            </a:fld>
            <a:endParaRPr lang="en-US" dirty="0"/>
          </a:p>
        </p:txBody>
      </p:sp>
      <p:sp>
        <p:nvSpPr>
          <p:cNvPr id="7" name="Title 6"/>
          <p:cNvSpPr>
            <a:spLocks noGrp="1"/>
          </p:cNvSpPr>
          <p:nvPr>
            <p:ph type="title"/>
          </p:nvPr>
        </p:nvSpPr>
        <p:spPr>
          <a:xfrm>
            <a:off x="609600" y="0"/>
            <a:ext cx="8077200" cy="800100"/>
          </a:xfrm>
        </p:spPr>
        <p:txBody>
          <a:bodyPr/>
          <a:lstStyle/>
          <a:p>
            <a:pPr algn="ctr"/>
            <a:r>
              <a:rPr lang="en-US" sz="3600" dirty="0" smtClean="0"/>
              <a:t>TOPICS</a:t>
            </a:r>
            <a:endParaRPr lang="en-US" sz="3600" dirty="0"/>
          </a:p>
        </p:txBody>
      </p:sp>
    </p:spTree>
    <p:extLst>
      <p:ext uri="{BB962C8B-B14F-4D97-AF65-F5344CB8AC3E}">
        <p14:creationId xmlns:p14="http://schemas.microsoft.com/office/powerpoint/2010/main" xmlns="" val="2463443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A697448-FA31-4949-9864-F7BD87D6893B}" type="slidenum">
              <a:rPr lang="en-US" smtClean="0"/>
              <a:pPr/>
              <a:t>4</a:t>
            </a:fld>
            <a:endParaRPr lang="en-US" dirty="0"/>
          </a:p>
        </p:txBody>
      </p:sp>
      <p:sp>
        <p:nvSpPr>
          <p:cNvPr id="3" name="Title 2"/>
          <p:cNvSpPr>
            <a:spLocks noGrp="1"/>
          </p:cNvSpPr>
          <p:nvPr>
            <p:ph type="title"/>
          </p:nvPr>
        </p:nvSpPr>
        <p:spPr/>
        <p:txBody>
          <a:bodyPr/>
          <a:lstStyle/>
          <a:p>
            <a:pPr algn="ctr"/>
            <a:r>
              <a:rPr lang="en-US" sz="3600" dirty="0" smtClean="0"/>
              <a:t>Recap of Deductible Session - I</a:t>
            </a:r>
            <a:endParaRPr lang="en-US" sz="3600" dirty="0"/>
          </a:p>
        </p:txBody>
      </p:sp>
      <p:sp>
        <p:nvSpPr>
          <p:cNvPr id="5" name="Content Placeholder 4"/>
          <p:cNvSpPr>
            <a:spLocks noGrp="1"/>
          </p:cNvSpPr>
          <p:nvPr>
            <p:ph sz="half" idx="1"/>
          </p:nvPr>
        </p:nvSpPr>
        <p:spPr>
          <a:xfrm>
            <a:off x="609600" y="1200151"/>
            <a:ext cx="6705600" cy="3394472"/>
          </a:xfrm>
        </p:spPr>
        <p:txBody>
          <a:bodyPr/>
          <a:lstStyle/>
          <a:p>
            <a:r>
              <a:rPr lang="en-US" dirty="0" smtClean="0"/>
              <a:t>What is </a:t>
            </a:r>
            <a:r>
              <a:rPr lang="en-US" dirty="0" err="1" smtClean="0"/>
              <a:t>Copay</a:t>
            </a:r>
            <a:r>
              <a:rPr lang="en-US" dirty="0" smtClean="0"/>
              <a:t> and </a:t>
            </a:r>
            <a:r>
              <a:rPr lang="en-US" dirty="0" err="1" smtClean="0"/>
              <a:t>Coinsurence</a:t>
            </a:r>
            <a:r>
              <a:rPr lang="en-US" dirty="0" smtClean="0"/>
              <a:t>?</a:t>
            </a:r>
          </a:p>
          <a:p>
            <a:endParaRPr lang="en-US" dirty="0" smtClean="0"/>
          </a:p>
          <a:p>
            <a:r>
              <a:rPr lang="en-US" dirty="0" smtClean="0"/>
              <a:t>What is Deductible?</a:t>
            </a:r>
          </a:p>
          <a:p>
            <a:endParaRPr lang="en-US" dirty="0" smtClean="0"/>
          </a:p>
          <a:p>
            <a:r>
              <a:rPr lang="en-US" dirty="0" smtClean="0"/>
              <a:t>Commercial and Part-d Plans</a:t>
            </a:r>
          </a:p>
          <a:p>
            <a:endParaRPr lang="en-US" dirty="0" smtClean="0"/>
          </a:p>
          <a:p>
            <a:r>
              <a:rPr lang="en-US" dirty="0" smtClean="0"/>
              <a:t>Deduct set up</a:t>
            </a:r>
          </a:p>
          <a:p>
            <a:endParaRPr lang="en-US" dirty="0"/>
          </a:p>
        </p:txBody>
      </p:sp>
    </p:spTree>
    <p:extLst>
      <p:ext uri="{BB962C8B-B14F-4D97-AF65-F5344CB8AC3E}">
        <p14:creationId xmlns:p14="http://schemas.microsoft.com/office/powerpoint/2010/main" xmlns="" val="32152163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5</a:t>
            </a:fld>
            <a:endParaRPr lang="en-US" dirty="0"/>
          </a:p>
        </p:txBody>
      </p:sp>
      <p:sp>
        <p:nvSpPr>
          <p:cNvPr id="7" name="Title 6"/>
          <p:cNvSpPr>
            <a:spLocks noGrp="1"/>
          </p:cNvSpPr>
          <p:nvPr>
            <p:ph type="title"/>
          </p:nvPr>
        </p:nvSpPr>
        <p:spPr/>
        <p:txBody>
          <a:bodyPr/>
          <a:lstStyle/>
          <a:p>
            <a:r>
              <a:rPr lang="en-US" dirty="0" smtClean="0"/>
              <a:t>Commercial Deductible Plan</a:t>
            </a:r>
            <a:endParaRPr lang="en-US" dirty="0"/>
          </a:p>
        </p:txBody>
      </p:sp>
      <p:graphicFrame>
        <p:nvGraphicFramePr>
          <p:cNvPr id="8" name="Table 7"/>
          <p:cNvGraphicFramePr>
            <a:graphicFrameLocks noGrp="1"/>
          </p:cNvGraphicFramePr>
          <p:nvPr/>
        </p:nvGraphicFramePr>
        <p:xfrm>
          <a:off x="58674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a:solidFill>
                            <a:srgbClr val="000000"/>
                          </a:solidFill>
                          <a:latin typeface="Calibri"/>
                        </a:rPr>
                        <a:t>DED</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a:solidFill>
                            <a:srgbClr val="000000"/>
                          </a:solidFill>
                          <a:latin typeface="Calibri"/>
                        </a:rPr>
                        <a:t>MOP</a:t>
                      </a: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a:solidFill>
                            <a:srgbClr val="000000"/>
                          </a:solidFill>
                          <a:latin typeface="Calibri"/>
                        </a:rPr>
                        <a:t>MPP</a:t>
                      </a: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76200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7620000" y="20383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76200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76200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7848600" y="1504950"/>
          <a:ext cx="417512" cy="190500"/>
        </p:xfrm>
        <a:graphic>
          <a:graphicData uri="http://schemas.openxmlformats.org/drawingml/2006/table">
            <a:tbl>
              <a:tblPr/>
              <a:tblGrid>
                <a:gridCol w="4175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7772400" y="2190750"/>
          <a:ext cx="1371600" cy="344805"/>
        </p:xfrm>
        <a:graphic>
          <a:graphicData uri="http://schemas.openxmlformats.org/drawingml/2006/table">
            <a:tbl>
              <a:tblPr/>
              <a:tblGrid>
                <a:gridCol w="13716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7772400" y="31051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100% BY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7772400" y="37909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33" name="Right Brace 32"/>
          <p:cNvSpPr/>
          <p:nvPr/>
        </p:nvSpPr>
        <p:spPr>
          <a:xfrm>
            <a:off x="73914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35" name="Table 34"/>
          <p:cNvGraphicFramePr>
            <a:graphicFrameLocks noGrp="1"/>
          </p:cNvGraphicFramePr>
          <p:nvPr/>
        </p:nvGraphicFramePr>
        <p:xfrm>
          <a:off x="685800" y="1428750"/>
          <a:ext cx="3276600" cy="380999"/>
        </p:xfrm>
        <a:graphic>
          <a:graphicData uri="http://schemas.openxmlformats.org/drawingml/2006/table">
            <a:tbl>
              <a:tblPr/>
              <a:tblGrid>
                <a:gridCol w="3276600"/>
              </a:tblGrid>
              <a:tr h="380999">
                <a:tc>
                  <a:txBody>
                    <a:bodyPr/>
                    <a:lstStyle/>
                    <a:p>
                      <a:pPr algn="l" fontAlgn="b"/>
                      <a:r>
                        <a:rPr lang="en-US" sz="1200" kern="1200" baseline="0" dirty="0" smtClean="0">
                          <a:solidFill>
                            <a:schemeClr val="tx1"/>
                          </a:solidFill>
                          <a:latin typeface="+mn-lt"/>
                          <a:ea typeface="+mn-ea"/>
                          <a:cs typeface="+mn-cs"/>
                        </a:rPr>
                        <a:t>The amount of money a member and his/her family must pay before the plan starts to pay </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6" name="Table 35"/>
          <p:cNvGraphicFramePr>
            <a:graphicFrameLocks noGrp="1"/>
          </p:cNvGraphicFramePr>
          <p:nvPr/>
        </p:nvGraphicFramePr>
        <p:xfrm>
          <a:off x="685800" y="2343150"/>
          <a:ext cx="3581400" cy="466725"/>
        </p:xfrm>
        <a:graphic>
          <a:graphicData uri="http://schemas.openxmlformats.org/drawingml/2006/table">
            <a:tbl>
              <a:tblPr/>
              <a:tblGrid>
                <a:gridCol w="3581400"/>
              </a:tblGrid>
              <a:tr h="466725">
                <a:tc>
                  <a:txBody>
                    <a:bodyPr/>
                    <a:lstStyle/>
                    <a:p>
                      <a:pPr algn="l" fontAlgn="b"/>
                      <a:r>
                        <a:rPr lang="en-US" sz="1200" b="0" i="0" u="none" strike="noStrike" dirty="0">
                          <a:solidFill>
                            <a:srgbClr val="000000"/>
                          </a:solidFill>
                          <a:latin typeface="Calibri"/>
                        </a:rPr>
                        <a:t>The maximum amount of money a member and his/her family will have to spend on prescription drug coverage</a:t>
                      </a:r>
                    </a:p>
                  </a:txBody>
                  <a:tcPr marL="9525" marR="9525" marT="9525" marB="0" anchor="b">
                    <a:lnL>
                      <a:noFill/>
                    </a:lnL>
                    <a:lnR>
                      <a:noFill/>
                    </a:lnR>
                    <a:lnT>
                      <a:noFill/>
                    </a:lnT>
                    <a:lnB>
                      <a:noFill/>
                    </a:lnB>
                  </a:tcPr>
                </a:tc>
              </a:tr>
            </a:tbl>
          </a:graphicData>
        </a:graphic>
      </p:graphicFrame>
      <p:graphicFrame>
        <p:nvGraphicFramePr>
          <p:cNvPr id="37" name="Table 36"/>
          <p:cNvGraphicFramePr>
            <a:graphicFrameLocks noGrp="1"/>
          </p:cNvGraphicFramePr>
          <p:nvPr/>
        </p:nvGraphicFramePr>
        <p:xfrm>
          <a:off x="685800" y="3257550"/>
          <a:ext cx="3429000" cy="477202"/>
        </p:xfrm>
        <a:graphic>
          <a:graphicData uri="http://schemas.openxmlformats.org/drawingml/2006/table">
            <a:tbl>
              <a:tblPr/>
              <a:tblGrid>
                <a:gridCol w="3429000"/>
              </a:tblGrid>
              <a:tr h="477202">
                <a:tc>
                  <a:txBody>
                    <a:bodyPr/>
                    <a:lstStyle/>
                    <a:p>
                      <a:pPr algn="l" fontAlgn="b"/>
                      <a:r>
                        <a:rPr lang="en-US" sz="1200" b="0" i="0" u="none" strike="noStrike" dirty="0">
                          <a:solidFill>
                            <a:srgbClr val="000000"/>
                          </a:solidFill>
                          <a:latin typeface="Calibri"/>
                        </a:rPr>
                        <a:t>The maximum amount of money the insurance plan will cover for a member and his/her family</a:t>
                      </a:r>
                    </a:p>
                  </a:txBody>
                  <a:tcPr marL="9525" marR="9525" marT="9525" marB="0" anchor="b">
                    <a:lnL>
                      <a:noFill/>
                    </a:lnL>
                    <a:lnR>
                      <a:noFill/>
                    </a:lnR>
                    <a:lnT>
                      <a:noFill/>
                    </a:lnT>
                    <a:lnB>
                      <a:noFill/>
                    </a:lnB>
                  </a:tcPr>
                </a:tc>
              </a:tr>
            </a:tbl>
          </a:graphicData>
        </a:graphic>
      </p:graphicFrame>
      <p:graphicFrame>
        <p:nvGraphicFramePr>
          <p:cNvPr id="38" name="Table 37"/>
          <p:cNvGraphicFramePr>
            <a:graphicFrameLocks noGrp="1"/>
          </p:cNvGraphicFramePr>
          <p:nvPr/>
        </p:nvGraphicFramePr>
        <p:xfrm>
          <a:off x="609600" y="1123950"/>
          <a:ext cx="1143000" cy="190500"/>
        </p:xfrm>
        <a:graphic>
          <a:graphicData uri="http://schemas.openxmlformats.org/drawingml/2006/table">
            <a:tbl>
              <a:tblPr/>
              <a:tblGrid>
                <a:gridCol w="1143000"/>
              </a:tblGrid>
              <a:tr h="190500">
                <a:tc>
                  <a:txBody>
                    <a:bodyPr/>
                    <a:lstStyle/>
                    <a:p>
                      <a:pPr algn="l" fontAlgn="b"/>
                      <a:r>
                        <a:rPr lang="en-US" sz="1100" b="1" i="0" u="none" strike="noStrike" baseline="0" dirty="0">
                          <a:solidFill>
                            <a:schemeClr val="accent2">
                              <a:lumMod val="75000"/>
                            </a:schemeClr>
                          </a:solidFill>
                          <a:latin typeface="Calibri"/>
                        </a:rPr>
                        <a:t>DED Phase</a:t>
                      </a:r>
                    </a:p>
                  </a:txBody>
                  <a:tcPr marL="9525" marR="9525" marT="9525" marB="0" anchor="b">
                    <a:lnL>
                      <a:noFill/>
                    </a:lnL>
                    <a:lnR>
                      <a:noFill/>
                    </a:lnR>
                    <a:lnT>
                      <a:noFill/>
                    </a:lnT>
                    <a:lnB>
                      <a:noFill/>
                    </a:lnB>
                  </a:tcPr>
                </a:tc>
              </a:tr>
            </a:tbl>
          </a:graphicData>
        </a:graphic>
      </p:graphicFrame>
      <p:graphicFrame>
        <p:nvGraphicFramePr>
          <p:cNvPr id="39" name="Table 38"/>
          <p:cNvGraphicFramePr>
            <a:graphicFrameLocks noGrp="1"/>
          </p:cNvGraphicFramePr>
          <p:nvPr/>
        </p:nvGraphicFramePr>
        <p:xfrm>
          <a:off x="609600" y="2013585"/>
          <a:ext cx="1143000" cy="177165"/>
        </p:xfrm>
        <a:graphic>
          <a:graphicData uri="http://schemas.openxmlformats.org/drawingml/2006/table">
            <a:tbl>
              <a:tblPr/>
              <a:tblGrid>
                <a:gridCol w="1143000"/>
              </a:tblGrid>
              <a:tr h="152400">
                <a:tc>
                  <a:txBody>
                    <a:bodyPr/>
                    <a:lstStyle/>
                    <a:p>
                      <a:pPr marL="0" algn="l" defTabSz="914400" rtl="0" eaLnBrk="1" fontAlgn="b" latinLnBrk="0" hangingPunct="1"/>
                      <a:r>
                        <a:rPr lang="en-US" sz="1100" b="1" i="0" u="none" strike="noStrike" kern="1200" baseline="0" dirty="0">
                          <a:solidFill>
                            <a:schemeClr val="accent2">
                              <a:lumMod val="75000"/>
                            </a:schemeClr>
                          </a:solidFill>
                          <a:latin typeface="Calibri"/>
                          <a:ea typeface="+mn-ea"/>
                          <a:cs typeface="+mn-cs"/>
                        </a:rPr>
                        <a:t>MOP Phase</a:t>
                      </a:r>
                    </a:p>
                  </a:txBody>
                  <a:tcPr marL="9525" marR="9525" marT="9525" marB="0" anchor="b">
                    <a:lnL>
                      <a:noFill/>
                    </a:lnL>
                    <a:lnR>
                      <a:noFill/>
                    </a:lnR>
                    <a:lnT>
                      <a:noFill/>
                    </a:lnT>
                    <a:lnB>
                      <a:noFill/>
                    </a:lnB>
                  </a:tcPr>
                </a:tc>
              </a:tr>
            </a:tbl>
          </a:graphicData>
        </a:graphic>
      </p:graphicFrame>
      <p:graphicFrame>
        <p:nvGraphicFramePr>
          <p:cNvPr id="40" name="Table 39"/>
          <p:cNvGraphicFramePr>
            <a:graphicFrameLocks noGrp="1"/>
          </p:cNvGraphicFramePr>
          <p:nvPr/>
        </p:nvGraphicFramePr>
        <p:xfrm>
          <a:off x="685800" y="3004186"/>
          <a:ext cx="990600" cy="177165"/>
        </p:xfrm>
        <a:graphic>
          <a:graphicData uri="http://schemas.openxmlformats.org/drawingml/2006/table">
            <a:tbl>
              <a:tblPr/>
              <a:tblGrid>
                <a:gridCol w="990600"/>
              </a:tblGrid>
              <a:tr h="152400">
                <a:tc>
                  <a:txBody>
                    <a:bodyPr/>
                    <a:lstStyle/>
                    <a:p>
                      <a:pPr marL="0" algn="l" defTabSz="914400" rtl="0" eaLnBrk="1" fontAlgn="b" latinLnBrk="0" hangingPunct="1"/>
                      <a:r>
                        <a:rPr lang="en-US" sz="1100" b="1" i="0" u="none" strike="noStrike" kern="1200" baseline="0" dirty="0">
                          <a:solidFill>
                            <a:schemeClr val="accent2">
                              <a:lumMod val="75000"/>
                            </a:schemeClr>
                          </a:solidFill>
                          <a:latin typeface="Calibri"/>
                          <a:ea typeface="+mn-ea"/>
                          <a:cs typeface="+mn-cs"/>
                        </a:rPr>
                        <a:t>MPP Phase</a:t>
                      </a:r>
                    </a:p>
                  </a:txBody>
                  <a:tcPr marL="9525" marR="9525" marT="9525" marB="0" anchor="b">
                    <a:lnL>
                      <a:noFill/>
                    </a:lnL>
                    <a:lnR>
                      <a:noFill/>
                    </a:lnR>
                    <a:lnT>
                      <a:noFill/>
                    </a:lnT>
                    <a:lnB>
                      <a:noFill/>
                    </a:lnB>
                  </a:tcPr>
                </a:tc>
              </a:tr>
            </a:tbl>
          </a:graphicData>
        </a:graphic>
      </p:graphicFrame>
      <p:graphicFrame>
        <p:nvGraphicFramePr>
          <p:cNvPr id="41" name="Table 40"/>
          <p:cNvGraphicFramePr>
            <a:graphicFrameLocks noGrp="1"/>
          </p:cNvGraphicFramePr>
          <p:nvPr/>
        </p:nvGraphicFramePr>
        <p:xfrm>
          <a:off x="609600" y="3943350"/>
          <a:ext cx="990600" cy="190500"/>
        </p:xfrm>
        <a:graphic>
          <a:graphicData uri="http://schemas.openxmlformats.org/drawingml/2006/table">
            <a:tbl>
              <a:tblPr/>
              <a:tblGrid>
                <a:gridCol w="990600"/>
              </a:tblGrid>
              <a:tr h="1905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Post MPP </a:t>
                      </a:r>
                      <a:r>
                        <a:rPr lang="en-US" sz="1100" b="1" i="0" u="none" strike="noStrike" kern="1200" baseline="0" dirty="0">
                          <a:solidFill>
                            <a:schemeClr val="accent2">
                              <a:lumMod val="75000"/>
                            </a:schemeClr>
                          </a:solidFill>
                          <a:latin typeface="Calibri"/>
                          <a:ea typeface="+mn-ea"/>
                          <a:cs typeface="+mn-cs"/>
                        </a:rPr>
                        <a:t>Phase</a:t>
                      </a:r>
                    </a:p>
                  </a:txBody>
                  <a:tcPr marL="9525" marR="9525" marT="9525" marB="0" anchor="b">
                    <a:lnL>
                      <a:noFill/>
                    </a:lnL>
                    <a:lnR>
                      <a:noFill/>
                    </a:lnR>
                    <a:lnT>
                      <a:noFill/>
                    </a:lnT>
                    <a:lnB>
                      <a:noFill/>
                    </a:lnB>
                  </a:tcPr>
                </a:tc>
              </a:tr>
            </a:tbl>
          </a:graphicData>
        </a:graphic>
      </p:graphicFrame>
      <p:graphicFrame>
        <p:nvGraphicFramePr>
          <p:cNvPr id="42" name="Table 41"/>
          <p:cNvGraphicFramePr>
            <a:graphicFrameLocks noGrp="1"/>
          </p:cNvGraphicFramePr>
          <p:nvPr/>
        </p:nvGraphicFramePr>
        <p:xfrm>
          <a:off x="533400" y="4324350"/>
          <a:ext cx="3429000" cy="324802"/>
        </p:xfrm>
        <a:graphic>
          <a:graphicData uri="http://schemas.openxmlformats.org/drawingml/2006/table">
            <a:tbl>
              <a:tblPr/>
              <a:tblGrid>
                <a:gridCol w="3429000"/>
              </a:tblGrid>
              <a:tr h="324802">
                <a:tc>
                  <a:txBody>
                    <a:bodyPr/>
                    <a:lstStyle/>
                    <a:p>
                      <a:pPr algn="l" fontAlgn="b"/>
                      <a:r>
                        <a:rPr lang="en-US" sz="1100" b="0" i="0" u="none" strike="noStrike" dirty="0" smtClean="0">
                          <a:solidFill>
                            <a:srgbClr val="000000"/>
                          </a:solidFill>
                          <a:latin typeface="Calibri"/>
                        </a:rPr>
                        <a:t>%</a:t>
                      </a:r>
                      <a:r>
                        <a:rPr lang="en-US" sz="1100" b="0" i="0" u="none" strike="noStrike" baseline="0" dirty="0" smtClean="0">
                          <a:solidFill>
                            <a:srgbClr val="000000"/>
                          </a:solidFill>
                          <a:latin typeface="Calibri"/>
                        </a:rPr>
                        <a:t> of Amount which plan </a:t>
                      </a:r>
                      <a:r>
                        <a:rPr lang="en-US" sz="1200" b="0" i="0" u="none" strike="noStrike" baseline="0" dirty="0" smtClean="0">
                          <a:solidFill>
                            <a:srgbClr val="000000"/>
                          </a:solidFill>
                          <a:latin typeface="Calibri"/>
                        </a:rPr>
                        <a:t>will</a:t>
                      </a:r>
                      <a:r>
                        <a:rPr lang="en-US" sz="1100" b="0" i="0" u="none" strike="noStrike" baseline="0" dirty="0" smtClean="0">
                          <a:solidFill>
                            <a:srgbClr val="000000"/>
                          </a:solidFill>
                          <a:latin typeface="Calibri"/>
                        </a:rPr>
                        <a:t> pay after MPP Phase</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43" name="Table 42"/>
          <p:cNvGraphicFramePr>
            <a:graphicFrameLocks noGrp="1"/>
          </p:cNvGraphicFramePr>
          <p:nvPr/>
        </p:nvGraphicFramePr>
        <p:xfrm>
          <a:off x="609600" y="742950"/>
          <a:ext cx="3886200" cy="481965"/>
        </p:xfrm>
        <a:graphic>
          <a:graphicData uri="http://schemas.openxmlformats.org/drawingml/2006/table">
            <a:tbl>
              <a:tblPr/>
              <a:tblGrid>
                <a:gridCol w="3886200"/>
              </a:tblGrid>
              <a:tr h="304800">
                <a:tc>
                  <a:txBody>
                    <a:bodyPr/>
                    <a:lstStyle/>
                    <a:p>
                      <a:pPr algn="l" fontAlgn="b"/>
                      <a:r>
                        <a:rPr lang="en-US" sz="2000" b="0" i="0" u="none" strike="noStrike" dirty="0">
                          <a:solidFill>
                            <a:srgbClr val="000000"/>
                          </a:solidFill>
                          <a:latin typeface="Calibri"/>
                        </a:rPr>
                        <a:t>Designed by insurance company</a:t>
                      </a:r>
                      <a:r>
                        <a:rPr lang="en-US" sz="1100" b="0" i="0" u="none" strike="noStrike" dirty="0">
                          <a:solidFill>
                            <a:srgbClr val="000000"/>
                          </a:solidFill>
                          <a:latin typeface="Calibri"/>
                        </a:rPr>
                        <a:t/>
                      </a:r>
                      <a:br>
                        <a:rPr lang="en-US" sz="1100" b="0" i="0" u="none" strike="noStrike" dirty="0">
                          <a:solidFill>
                            <a:srgbClr val="000000"/>
                          </a:solidFill>
                          <a:latin typeface="Calibri"/>
                        </a:rPr>
                      </a:b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blinds(horizontal)">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diamond(in)">
                                      <p:cBhvr>
                                        <p:cTn id="32" dur="2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diamond(in)">
                                      <p:cBhvr>
                                        <p:cTn id="37" dur="20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diamond(in)">
                                      <p:cBhvr>
                                        <p:cTn id="42" dur="20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diamond(in)">
                                      <p:cBhvr>
                                        <p:cTn id="47" dur="20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29"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1000" fill="hold"/>
                                        <p:tgtEl>
                                          <p:spTgt spid="8"/>
                                        </p:tgtEl>
                                        <p:attrNameLst>
                                          <p:attrName>ppt_x</p:attrName>
                                        </p:attrNameLst>
                                      </p:cBhvr>
                                      <p:tavLst>
                                        <p:tav tm="0">
                                          <p:val>
                                            <p:strVal val="#ppt_x-.2"/>
                                          </p:val>
                                        </p:tav>
                                        <p:tav tm="100000">
                                          <p:val>
                                            <p:strVal val="#ppt_x"/>
                                          </p:val>
                                        </p:tav>
                                      </p:tavLst>
                                    </p:anim>
                                    <p:anim calcmode="lin" valueType="num">
                                      <p:cBhvr>
                                        <p:cTn id="5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54" dur="10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linds(horizontal)">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blinds(horizontal)">
                                      <p:cBhvr>
                                        <p:cTn id="64" dur="500"/>
                                        <p:tgtEl>
                                          <p:spTgt spid="33"/>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blinds(horizontal)">
                                      <p:cBhvr>
                                        <p:cTn id="69" dur="50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blinds(horizontal)">
                                      <p:cBhvr>
                                        <p:cTn id="74" dur="5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blinds(horizontal)">
                                      <p:cBhvr>
                                        <p:cTn id="79" dur="500"/>
                                        <p:tgtEl>
                                          <p:spTgt spid="19"/>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blinds(horizontal)">
                                      <p:cBhvr>
                                        <p:cTn id="84" dur="5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blinds(horizontal)">
                                      <p:cBhvr>
                                        <p:cTn id="89" dur="500"/>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blinds(horizontal)">
                                      <p:cBhvr>
                                        <p:cTn id="94" dur="500"/>
                                        <p:tgtEl>
                                          <p:spTgt spid="13"/>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blinds(horizontal)">
                                      <p:cBhvr>
                                        <p:cTn id="9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6</a:t>
            </a:fld>
            <a:endParaRPr lang="en-US" dirty="0"/>
          </a:p>
        </p:txBody>
      </p:sp>
      <p:sp>
        <p:nvSpPr>
          <p:cNvPr id="7" name="Title 6"/>
          <p:cNvSpPr>
            <a:spLocks noGrp="1"/>
          </p:cNvSpPr>
          <p:nvPr>
            <p:ph type="title"/>
          </p:nvPr>
        </p:nvSpPr>
        <p:spPr/>
        <p:txBody>
          <a:bodyPr/>
          <a:lstStyle/>
          <a:p>
            <a:r>
              <a:rPr lang="en-US" dirty="0" smtClean="0"/>
              <a:t>Commercial deductible - Plans</a:t>
            </a:r>
            <a:endParaRPr lang="en-US" dirty="0"/>
          </a:p>
        </p:txBody>
      </p:sp>
      <p:graphicFrame>
        <p:nvGraphicFramePr>
          <p:cNvPr id="8" name="Table 7"/>
          <p:cNvGraphicFramePr>
            <a:graphicFrameLocks noGrp="1"/>
          </p:cNvGraphicFramePr>
          <p:nvPr/>
        </p:nvGraphicFramePr>
        <p:xfrm>
          <a:off x="12192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a:solidFill>
                            <a:srgbClr val="000000"/>
                          </a:solidFill>
                          <a:latin typeface="Calibri"/>
                        </a:rPr>
                        <a:t>DED</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a:solidFill>
                            <a:srgbClr val="000000"/>
                          </a:solidFill>
                          <a:latin typeface="Calibri"/>
                        </a:rPr>
                        <a:t>MOP</a:t>
                      </a: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a:solidFill>
                            <a:srgbClr val="000000"/>
                          </a:solidFill>
                          <a:latin typeface="Calibri"/>
                        </a:rPr>
                        <a:t>MPP</a:t>
                      </a: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graphicFrame>
        <p:nvGraphicFramePr>
          <p:cNvPr id="9" name="Table 8"/>
          <p:cNvGraphicFramePr>
            <a:graphicFrameLocks noGrp="1"/>
          </p:cNvGraphicFramePr>
          <p:nvPr/>
        </p:nvGraphicFramePr>
        <p:xfrm>
          <a:off x="55626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a:solidFill>
                            <a:srgbClr val="000000"/>
                          </a:solidFill>
                          <a:latin typeface="Calibri"/>
                        </a:rPr>
                        <a:t>DED&amp;MOP</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a:solidFill>
                            <a:srgbClr val="000000"/>
                          </a:solidFill>
                          <a:latin typeface="Calibri"/>
                        </a:rPr>
                        <a:t>MOP</a:t>
                      </a: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a:solidFill>
                            <a:srgbClr val="000000"/>
                          </a:solidFill>
                          <a:latin typeface="Calibri"/>
                        </a:rPr>
                        <a:t>MPP</a:t>
                      </a: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28194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2819400" y="20383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28956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2819400" y="37909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p:cNvSpPr/>
          <p:nvPr/>
        </p:nvSpPr>
        <p:spPr>
          <a:xfrm>
            <a:off x="7391400" y="2800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Right Brace 15"/>
          <p:cNvSpPr/>
          <p:nvPr/>
        </p:nvSpPr>
        <p:spPr>
          <a:xfrm>
            <a:off x="7391400" y="1276350"/>
            <a:ext cx="76200" cy="1371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Right Brace 16"/>
          <p:cNvSpPr/>
          <p:nvPr/>
        </p:nvSpPr>
        <p:spPr>
          <a:xfrm>
            <a:off x="7391400" y="36385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18" name="Table 17"/>
          <p:cNvGraphicFramePr>
            <a:graphicFrameLocks noGrp="1"/>
          </p:cNvGraphicFramePr>
          <p:nvPr/>
        </p:nvGraphicFramePr>
        <p:xfrm>
          <a:off x="3087688" y="1504950"/>
          <a:ext cx="417512" cy="190500"/>
        </p:xfrm>
        <a:graphic>
          <a:graphicData uri="http://schemas.openxmlformats.org/drawingml/2006/table">
            <a:tbl>
              <a:tblPr/>
              <a:tblGrid>
                <a:gridCol w="4175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2971800" y="2190750"/>
          <a:ext cx="1371600" cy="344805"/>
        </p:xfrm>
        <a:graphic>
          <a:graphicData uri="http://schemas.openxmlformats.org/drawingml/2006/table">
            <a:tbl>
              <a:tblPr/>
              <a:tblGrid>
                <a:gridCol w="13716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3048000" y="2988946"/>
          <a:ext cx="1371600" cy="304800"/>
        </p:xfrm>
        <a:graphic>
          <a:graphicData uri="http://schemas.openxmlformats.org/drawingml/2006/table">
            <a:tbl>
              <a:tblPr/>
              <a:tblGrid>
                <a:gridCol w="1371600"/>
              </a:tblGrid>
              <a:tr h="304800">
                <a:tc>
                  <a:txBody>
                    <a:bodyPr/>
                    <a:lstStyle/>
                    <a:p>
                      <a:pPr algn="l" fontAlgn="b"/>
                      <a:r>
                        <a:rPr lang="en-US" sz="1100" b="0" i="0" u="none" strike="noStrike" dirty="0" smtClean="0">
                          <a:solidFill>
                            <a:srgbClr val="000000"/>
                          </a:solidFill>
                          <a:latin typeface="Calibri"/>
                        </a:rPr>
                        <a:t>100%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3048000" y="39433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2" name="Table 21"/>
          <p:cNvGraphicFramePr>
            <a:graphicFrameLocks noGrp="1"/>
          </p:cNvGraphicFramePr>
          <p:nvPr/>
        </p:nvGraphicFramePr>
        <p:xfrm>
          <a:off x="7772400" y="1581150"/>
          <a:ext cx="341312" cy="190500"/>
        </p:xfrm>
        <a:graphic>
          <a:graphicData uri="http://schemas.openxmlformats.org/drawingml/2006/table">
            <a:tbl>
              <a:tblPr/>
              <a:tblGrid>
                <a:gridCol w="3413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23" name="Right Brace 22"/>
          <p:cNvSpPr/>
          <p:nvPr/>
        </p:nvSpPr>
        <p:spPr>
          <a:xfrm>
            <a:off x="76200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Right Brace 23"/>
          <p:cNvSpPr/>
          <p:nvPr/>
        </p:nvSpPr>
        <p:spPr>
          <a:xfrm>
            <a:off x="7620000" y="19621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25" name="Table 24"/>
          <p:cNvGraphicFramePr>
            <a:graphicFrameLocks noGrp="1"/>
          </p:cNvGraphicFramePr>
          <p:nvPr/>
        </p:nvGraphicFramePr>
        <p:xfrm>
          <a:off x="7772400" y="2190750"/>
          <a:ext cx="1371600" cy="344805"/>
        </p:xfrm>
        <a:graphic>
          <a:graphicData uri="http://schemas.openxmlformats.org/drawingml/2006/table">
            <a:tbl>
              <a:tblPr/>
              <a:tblGrid>
                <a:gridCol w="13716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6" name="Table 25"/>
          <p:cNvGraphicFramePr>
            <a:graphicFrameLocks noGrp="1"/>
          </p:cNvGraphicFramePr>
          <p:nvPr/>
        </p:nvGraphicFramePr>
        <p:xfrm>
          <a:off x="7543800" y="29527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100 %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7" name="Table 26"/>
          <p:cNvGraphicFramePr>
            <a:graphicFrameLocks noGrp="1"/>
          </p:cNvGraphicFramePr>
          <p:nvPr/>
        </p:nvGraphicFramePr>
        <p:xfrm>
          <a:off x="7543800" y="38671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28" name="Right Brace 27"/>
          <p:cNvSpPr/>
          <p:nvPr/>
        </p:nvSpPr>
        <p:spPr>
          <a:xfrm>
            <a:off x="71628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p:cNvSpPr/>
          <p:nvPr/>
        </p:nvSpPr>
        <p:spPr>
          <a:xfrm>
            <a:off x="27432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7</a:t>
            </a:fld>
            <a:endParaRPr lang="en-US" dirty="0"/>
          </a:p>
        </p:txBody>
      </p:sp>
      <p:sp>
        <p:nvSpPr>
          <p:cNvPr id="7" name="Title 6"/>
          <p:cNvSpPr>
            <a:spLocks noGrp="1"/>
          </p:cNvSpPr>
          <p:nvPr>
            <p:ph type="title"/>
          </p:nvPr>
        </p:nvSpPr>
        <p:spPr/>
        <p:txBody>
          <a:bodyPr/>
          <a:lstStyle/>
          <a:p>
            <a:r>
              <a:rPr lang="en-US" dirty="0" smtClean="0"/>
              <a:t>Commercial Example</a:t>
            </a:r>
            <a:endParaRPr lang="en-US" dirty="0"/>
          </a:p>
        </p:txBody>
      </p:sp>
      <p:graphicFrame>
        <p:nvGraphicFramePr>
          <p:cNvPr id="8" name="Table 7"/>
          <p:cNvGraphicFramePr>
            <a:graphicFrameLocks noGrp="1"/>
          </p:cNvGraphicFramePr>
          <p:nvPr/>
        </p:nvGraphicFramePr>
        <p:xfrm>
          <a:off x="6934200" y="1200150"/>
          <a:ext cx="914400" cy="3276604"/>
        </p:xfrm>
        <a:graphic>
          <a:graphicData uri="http://schemas.openxmlformats.org/drawingml/2006/table">
            <a:tbl>
              <a:tblPr/>
              <a:tblGrid>
                <a:gridCol w="914400"/>
              </a:tblGrid>
              <a:tr h="819151">
                <a:tc>
                  <a:txBody>
                    <a:bodyPr/>
                    <a:lstStyle/>
                    <a:p>
                      <a:pPr algn="ctr" fontAlgn="b"/>
                      <a:r>
                        <a:rPr lang="en-US" sz="1100" b="0" i="0" u="none" strike="noStrike" dirty="0">
                          <a:solidFill>
                            <a:srgbClr val="000000"/>
                          </a:solidFill>
                          <a:latin typeface="Calibri"/>
                        </a:rPr>
                        <a:t>DED</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smtClean="0">
                          <a:solidFill>
                            <a:srgbClr val="000000"/>
                          </a:solidFill>
                          <a:latin typeface="Calibri"/>
                        </a:rPr>
                        <a:t>MOP</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smtClean="0">
                          <a:solidFill>
                            <a:srgbClr val="000000"/>
                          </a:solidFill>
                          <a:latin typeface="Calibri"/>
                        </a:rPr>
                        <a:t>MPP</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80772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8077200" y="19621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80772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80772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8305800" y="1504950"/>
          <a:ext cx="381000" cy="190500"/>
        </p:xfrm>
        <a:graphic>
          <a:graphicData uri="http://schemas.openxmlformats.org/drawingml/2006/table">
            <a:tbl>
              <a:tblPr/>
              <a:tblGrid>
                <a:gridCol w="381000"/>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8229600" y="2190750"/>
          <a:ext cx="914400" cy="512445"/>
        </p:xfrm>
        <a:graphic>
          <a:graphicData uri="http://schemas.openxmlformats.org/drawingml/2006/table">
            <a:tbl>
              <a:tblPr/>
              <a:tblGrid>
                <a:gridCol w="9144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8229600" y="3028950"/>
          <a:ext cx="914400" cy="190500"/>
        </p:xfrm>
        <a:graphic>
          <a:graphicData uri="http://schemas.openxmlformats.org/drawingml/2006/table">
            <a:tbl>
              <a:tblPr/>
              <a:tblGrid>
                <a:gridCol w="914400"/>
              </a:tblGrid>
              <a:tr h="190500">
                <a:tc>
                  <a:txBody>
                    <a:bodyPr/>
                    <a:lstStyle/>
                    <a:p>
                      <a:pPr algn="l" fontAlgn="b"/>
                      <a:r>
                        <a:rPr lang="en-US" sz="1100" b="0" i="0" u="none" strike="noStrike" dirty="0" smtClean="0">
                          <a:solidFill>
                            <a:srgbClr val="000000"/>
                          </a:solidFill>
                          <a:latin typeface="Calibri"/>
                        </a:rPr>
                        <a:t>100% BY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8229600" y="3867150"/>
          <a:ext cx="685800" cy="512445"/>
        </p:xfrm>
        <a:graphic>
          <a:graphicData uri="http://schemas.openxmlformats.org/drawingml/2006/table">
            <a:tbl>
              <a:tblPr/>
              <a:tblGrid>
                <a:gridCol w="6858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2" name="Table 31"/>
          <p:cNvGraphicFramePr>
            <a:graphicFrameLocks noGrp="1"/>
          </p:cNvGraphicFramePr>
          <p:nvPr/>
        </p:nvGraphicFramePr>
        <p:xfrm>
          <a:off x="685800" y="819150"/>
          <a:ext cx="838200" cy="1143000"/>
        </p:xfrm>
        <a:graphic>
          <a:graphicData uri="http://schemas.openxmlformats.org/drawingml/2006/table">
            <a:tbl>
              <a:tblPr/>
              <a:tblGrid>
                <a:gridCol w="457200"/>
                <a:gridCol w="381000"/>
              </a:tblGrid>
              <a:tr h="190500">
                <a:tc>
                  <a:txBody>
                    <a:bodyPr/>
                    <a:lstStyle/>
                    <a:p>
                      <a:pPr algn="ctr" fontAlgn="b"/>
                      <a:r>
                        <a:rPr lang="en-US" sz="1100" b="0" i="0" u="none" strike="noStrike" dirty="0">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n-US" sz="1100" b="0" i="0" u="none" strike="noStrike">
                          <a:solidFill>
                            <a:srgbClr val="000000"/>
                          </a:solidFill>
                          <a:latin typeface="Calibri"/>
                        </a:rPr>
                        <a:t>Limit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ctr" rtl="0" fontAlgn="b"/>
                      <a:r>
                        <a:rPr lang="en-US" sz="1100" b="0" i="0" u="none" strike="noStrike" dirty="0">
                          <a:solidFill>
                            <a:srgbClr val="000000"/>
                          </a:solidFill>
                          <a:latin typeface="Calibri"/>
                        </a:rPr>
                        <a:t>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latin typeface="Calibri"/>
                        </a:rPr>
                        <a:t>$100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dirty="0">
                          <a:solidFill>
                            <a:srgbClr val="000000"/>
                          </a:solidFill>
                          <a:latin typeface="Calibri"/>
                        </a:rPr>
                        <a:t>MOP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a:solidFill>
                            <a:srgbClr val="000000"/>
                          </a:solidFill>
                          <a:latin typeface="Calibri"/>
                        </a:rPr>
                        <a:t>$100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a:solidFill>
                            <a:srgbClr val="000000"/>
                          </a:solidFill>
                          <a:latin typeface="Calibri"/>
                        </a:rPr>
                        <a:t>MPP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$500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rtl="0" fontAlgn="b"/>
                      <a:r>
                        <a:rPr lang="en-US" sz="1100" b="0" i="0" u="none" strike="noStrike">
                          <a:solidFill>
                            <a:srgbClr val="000000"/>
                          </a:solidFill>
                          <a:latin typeface="Calibri"/>
                        </a:rPr>
                        <a:t>Post MPP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4" name="Table 13"/>
          <p:cNvGraphicFramePr>
            <a:graphicFrameLocks noGrp="1"/>
          </p:cNvGraphicFramePr>
          <p:nvPr/>
        </p:nvGraphicFramePr>
        <p:xfrm>
          <a:off x="685800" y="2190750"/>
          <a:ext cx="3860800" cy="381000"/>
        </p:xfrm>
        <a:graphic>
          <a:graphicData uri="http://schemas.openxmlformats.org/drawingml/2006/table">
            <a:tbl>
              <a:tblPr/>
              <a:tblGrid>
                <a:gridCol w="609600"/>
                <a:gridCol w="609600"/>
                <a:gridCol w="609600"/>
                <a:gridCol w="609600"/>
                <a:gridCol w="609600"/>
                <a:gridCol w="812800"/>
              </a:tblGrid>
              <a:tr h="190500">
                <a:tc>
                  <a:txBody>
                    <a:bodyPr/>
                    <a:lstStyle/>
                    <a:p>
                      <a:pPr algn="l" fontAlgn="b"/>
                      <a:r>
                        <a:rPr lang="en-US" sz="1100" b="0" i="0" u="none" strike="noStrike" dirty="0">
                          <a:solidFill>
                            <a:srgbClr val="000000"/>
                          </a:solidFill>
                          <a:latin typeface="Calibri"/>
                        </a:rPr>
                        <a:t>Claim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Copay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Plan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member 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l" fontAlgn="b"/>
                      <a:r>
                        <a:rPr lang="en-US" sz="1100" b="0" i="0" u="none" strike="noStrike" dirty="0" smtClean="0">
                          <a:solidFill>
                            <a:srgbClr val="000000"/>
                          </a:solidFill>
                          <a:latin typeface="Calibri"/>
                        </a:rPr>
                        <a:t>Claim 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Calibri"/>
                        </a:rPr>
                        <a:t>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 name="Table 15"/>
          <p:cNvGraphicFramePr>
            <a:graphicFrameLocks noGrp="1"/>
          </p:cNvGraphicFramePr>
          <p:nvPr/>
        </p:nvGraphicFramePr>
        <p:xfrm>
          <a:off x="7162800" y="1352550"/>
          <a:ext cx="355600" cy="344805"/>
        </p:xfrm>
        <a:graphic>
          <a:graphicData uri="http://schemas.openxmlformats.org/drawingml/2006/table">
            <a:tbl>
              <a:tblPr/>
              <a:tblGrid>
                <a:gridCol w="355600"/>
              </a:tblGrid>
              <a:tr h="190500">
                <a:tc>
                  <a:txBody>
                    <a:bodyPr/>
                    <a:lstStyle/>
                    <a:p>
                      <a:pPr algn="r" fontAlgn="b"/>
                      <a:r>
                        <a:rPr lang="en-US" sz="1100" b="0" i="0" u="none" strike="noStrike" dirty="0">
                          <a:solidFill>
                            <a:srgbClr val="000000"/>
                          </a:solidFill>
                          <a:latin typeface="Calibri"/>
                        </a:rPr>
                        <a:t>$50 </a:t>
                      </a:r>
                      <a:endParaRPr lang="en-US" sz="1100" b="0" i="0" u="none" strike="noStrike" dirty="0" smtClean="0">
                        <a:solidFill>
                          <a:srgbClr val="000000"/>
                        </a:solidFill>
                        <a:latin typeface="Calibri"/>
                      </a:endParaRPr>
                    </a:p>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7" name="Table 16"/>
          <p:cNvGraphicFramePr>
            <a:graphicFrameLocks noGrp="1"/>
          </p:cNvGraphicFramePr>
          <p:nvPr/>
        </p:nvGraphicFramePr>
        <p:xfrm>
          <a:off x="1828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a:solidFill>
                            <a:srgbClr val="000000"/>
                          </a:solidFill>
                          <a:latin typeface="Calibri"/>
                        </a:rPr>
                        <a:t>$50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a:solidFill>
                            <a:srgbClr val="000000"/>
                          </a:solidFill>
                          <a:latin typeface="Calibri"/>
                        </a:rPr>
                        <a:t>$100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2" name="Table 21"/>
          <p:cNvGraphicFramePr>
            <a:graphicFrameLocks noGrp="1"/>
          </p:cNvGraphicFramePr>
          <p:nvPr/>
        </p:nvGraphicFramePr>
        <p:xfrm>
          <a:off x="2209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a:solidFill>
                            <a:srgbClr val="000000"/>
                          </a:solidFill>
                          <a:latin typeface="Calibri"/>
                        </a:rPr>
                        <a:t>$100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685800" y="2571750"/>
          <a:ext cx="3860800" cy="190500"/>
        </p:xfrm>
        <a:graphic>
          <a:graphicData uri="http://schemas.openxmlformats.org/drawingml/2006/table">
            <a:tbl>
              <a:tblPr/>
              <a:tblGrid>
                <a:gridCol w="609600"/>
                <a:gridCol w="609600"/>
                <a:gridCol w="609600"/>
                <a:gridCol w="609600"/>
                <a:gridCol w="609600"/>
                <a:gridCol w="812800"/>
              </a:tblGrid>
              <a:tr h="190500">
                <a:tc>
                  <a:txBody>
                    <a:bodyPr/>
                    <a:lstStyle/>
                    <a:p>
                      <a:pPr algn="l" fontAlgn="b"/>
                      <a:r>
                        <a:rPr lang="en-US" sz="1100" b="0" i="0" u="none" strike="noStrike" dirty="0" smtClean="0">
                          <a:solidFill>
                            <a:srgbClr val="000000"/>
                          </a:solidFill>
                          <a:latin typeface="Calibri"/>
                        </a:rPr>
                        <a:t>Claim 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Calibri"/>
                        </a:rPr>
                        <a:t>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685800" y="2800350"/>
          <a:ext cx="3860800" cy="190500"/>
        </p:xfrm>
        <a:graphic>
          <a:graphicData uri="http://schemas.openxmlformats.org/drawingml/2006/table">
            <a:tbl>
              <a:tblPr/>
              <a:tblGrid>
                <a:gridCol w="609600"/>
                <a:gridCol w="609600"/>
                <a:gridCol w="609600"/>
                <a:gridCol w="609600"/>
                <a:gridCol w="685800"/>
                <a:gridCol w="736600"/>
              </a:tblGrid>
              <a:tr h="190500">
                <a:tc>
                  <a:txBody>
                    <a:bodyPr/>
                    <a:lstStyle/>
                    <a:p>
                      <a:pPr algn="l" fontAlgn="b"/>
                      <a:r>
                        <a:rPr lang="en-US" sz="1100" b="0" i="0" u="none" strike="noStrike" dirty="0" smtClean="0">
                          <a:solidFill>
                            <a:srgbClr val="000000"/>
                          </a:solidFill>
                          <a:latin typeface="Calibri"/>
                        </a:rPr>
                        <a:t>Claim </a:t>
                      </a:r>
                      <a:r>
                        <a:rPr lang="en-US" sz="1100" b="0" i="0" u="none" strike="noStrike" dirty="0">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MOP&amp;MPP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2590800" y="742950"/>
          <a:ext cx="381001" cy="1274445"/>
        </p:xfrm>
        <a:graphic>
          <a:graphicData uri="http://schemas.openxmlformats.org/drawingml/2006/table">
            <a:tbl>
              <a:tblPr/>
              <a:tblGrid>
                <a:gridCol w="381001"/>
              </a:tblGrid>
              <a:tr h="381000">
                <a:tc>
                  <a:txBody>
                    <a:bodyPr/>
                    <a:lstStyle/>
                    <a:p>
                      <a:pPr algn="l" rtl="0" fontAlgn="b"/>
                      <a:r>
                        <a:rPr lang="en-US" sz="1100" b="0" i="0" u="none" strike="noStrike" dirty="0">
                          <a:solidFill>
                            <a:srgbClr val="000000"/>
                          </a:solidFill>
                          <a:latin typeface="Calibri"/>
                        </a:rPr>
                        <a:t>Limit After -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a:solidFill>
                            <a:srgbClr val="000000"/>
                          </a:solidFill>
                          <a:latin typeface="Calibri"/>
                        </a:rPr>
                        <a:t>$90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$460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6" name="Table 25"/>
          <p:cNvGraphicFramePr>
            <a:graphicFrameLocks noGrp="1"/>
          </p:cNvGraphicFramePr>
          <p:nvPr/>
        </p:nvGraphicFramePr>
        <p:xfrm>
          <a:off x="2971800" y="738999"/>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$80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$420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4">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 name="Table 27"/>
          <p:cNvGraphicFramePr>
            <a:graphicFrameLocks noGrp="1"/>
          </p:cNvGraphicFramePr>
          <p:nvPr/>
        </p:nvGraphicFramePr>
        <p:xfrm>
          <a:off x="685800" y="3028950"/>
          <a:ext cx="3860800" cy="190500"/>
        </p:xfrm>
        <a:graphic>
          <a:graphicData uri="http://schemas.openxmlformats.org/drawingml/2006/table">
            <a:tbl>
              <a:tblPr/>
              <a:tblGrid>
                <a:gridCol w="609600"/>
                <a:gridCol w="609600"/>
                <a:gridCol w="609600"/>
                <a:gridCol w="609600"/>
                <a:gridCol w="685800"/>
                <a:gridCol w="736600"/>
              </a:tblGrid>
              <a:tr h="190500">
                <a:tc>
                  <a:txBody>
                    <a:bodyPr/>
                    <a:lstStyle/>
                    <a:p>
                      <a:pPr algn="l" fontAlgn="b"/>
                      <a:r>
                        <a:rPr lang="en-US" sz="1100" b="0" i="0" u="none" strike="noStrike" dirty="0" smtClean="0">
                          <a:solidFill>
                            <a:srgbClr val="000000"/>
                          </a:solidFill>
                          <a:latin typeface="Calibri"/>
                        </a:rPr>
                        <a:t>Claim 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MOP&amp;MPP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1981200" y="3257550"/>
          <a:ext cx="609600" cy="190500"/>
        </p:xfrm>
        <a:graphic>
          <a:graphicData uri="http://schemas.openxmlformats.org/drawingml/2006/table">
            <a:tbl>
              <a:tblPr/>
              <a:tblGrid>
                <a:gridCol w="609600"/>
              </a:tblGrid>
              <a:tr h="190500">
                <a:tc>
                  <a:txBody>
                    <a:bodyPr/>
                    <a:lstStyle/>
                    <a:p>
                      <a:pPr algn="l" fontAlgn="b"/>
                      <a:r>
                        <a:rPr lang="en-US" sz="1100" b="0" i="0" u="none" strike="noStrike" dirty="0">
                          <a:solidFill>
                            <a:srgbClr val="000000"/>
                          </a:solidFill>
                          <a:latin typeface="Calibri"/>
                        </a:rPr>
                        <a:t>|</a:t>
                      </a:r>
                    </a:p>
                  </a:txBody>
                  <a:tcPr marL="9525" marR="9525" marT="9525" marB="0" anchor="b">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1981200" y="3486150"/>
          <a:ext cx="457200" cy="190500"/>
        </p:xfrm>
        <a:graphic>
          <a:graphicData uri="http://schemas.openxmlformats.org/drawingml/2006/table">
            <a:tbl>
              <a:tblPr/>
              <a:tblGrid>
                <a:gridCol w="457200"/>
              </a:tblGrid>
              <a:tr h="190500">
                <a:tc>
                  <a:txBody>
                    <a:bodyPr/>
                    <a:lstStyle/>
                    <a:p>
                      <a:pPr algn="l" fontAlgn="b"/>
                      <a:r>
                        <a:rPr lang="en-US" sz="1100" b="0" i="0" u="none" strike="noStrike" dirty="0">
                          <a:solidFill>
                            <a:srgbClr val="000000"/>
                          </a:solidFill>
                          <a:latin typeface="Calibri"/>
                        </a:rPr>
                        <a:t>|</a:t>
                      </a:r>
                    </a:p>
                  </a:txBody>
                  <a:tcPr marL="9525" marR="9525" marT="9525" marB="0" anchor="b">
                    <a:lnL>
                      <a:noFill/>
                    </a:lnL>
                    <a:lnR>
                      <a:noFill/>
                    </a:lnR>
                    <a:lnT>
                      <a:noFill/>
                    </a:lnT>
                    <a:lnB>
                      <a:noFill/>
                    </a:lnB>
                  </a:tcPr>
                </a:tc>
              </a:tr>
            </a:tbl>
          </a:graphicData>
        </a:graphic>
      </p:graphicFrame>
      <p:sp>
        <p:nvSpPr>
          <p:cNvPr id="31" name="Rectangle 30"/>
          <p:cNvSpPr/>
          <p:nvPr/>
        </p:nvSpPr>
        <p:spPr>
          <a:xfrm>
            <a:off x="3657600" y="1276350"/>
            <a:ext cx="127599" cy="369332"/>
          </a:xfrm>
          <a:prstGeom prst="rect">
            <a:avLst/>
          </a:prstGeom>
        </p:spPr>
        <p:txBody>
          <a:bodyPr wrap="square">
            <a:spAutoFit/>
          </a:bodyPr>
          <a:lstStyle/>
          <a:p>
            <a:r>
              <a:rPr lang="en-US" dirty="0" smtClean="0"/>
              <a:t>-</a:t>
            </a:r>
            <a:endParaRPr lang="en-US" dirty="0"/>
          </a:p>
        </p:txBody>
      </p:sp>
      <p:sp>
        <p:nvSpPr>
          <p:cNvPr id="33" name="Rectangle 32"/>
          <p:cNvSpPr/>
          <p:nvPr/>
        </p:nvSpPr>
        <p:spPr>
          <a:xfrm>
            <a:off x="3429000" y="1276350"/>
            <a:ext cx="255198" cy="369332"/>
          </a:xfrm>
          <a:prstGeom prst="rect">
            <a:avLst/>
          </a:prstGeom>
        </p:spPr>
        <p:txBody>
          <a:bodyPr wrap="none">
            <a:spAutoFit/>
          </a:bodyPr>
          <a:lstStyle/>
          <a:p>
            <a:r>
              <a:rPr lang="en-US" dirty="0" smtClean="0"/>
              <a:t>-</a:t>
            </a:r>
            <a:endParaRPr lang="en-US" dirty="0"/>
          </a:p>
        </p:txBody>
      </p:sp>
      <p:graphicFrame>
        <p:nvGraphicFramePr>
          <p:cNvPr id="34" name="Table 33"/>
          <p:cNvGraphicFramePr>
            <a:graphicFrameLocks noGrp="1"/>
          </p:cNvGraphicFramePr>
          <p:nvPr/>
        </p:nvGraphicFramePr>
        <p:xfrm>
          <a:off x="4114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a:solidFill>
                            <a:srgbClr val="000000"/>
                          </a:solidFill>
                          <a:latin typeface="Calibri"/>
                        </a:rPr>
                        <a:t>$100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4495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#13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$50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6" name="Table 35"/>
          <p:cNvGraphicFramePr>
            <a:graphicFrameLocks noGrp="1"/>
          </p:cNvGraphicFramePr>
          <p:nvPr/>
        </p:nvGraphicFramePr>
        <p:xfrm>
          <a:off x="685800" y="3714750"/>
          <a:ext cx="3860800" cy="190500"/>
        </p:xfrm>
        <a:graphic>
          <a:graphicData uri="http://schemas.openxmlformats.org/drawingml/2006/table">
            <a:tbl>
              <a:tblPr/>
              <a:tblGrid>
                <a:gridCol w="609600"/>
                <a:gridCol w="609600"/>
                <a:gridCol w="609600"/>
                <a:gridCol w="609600"/>
                <a:gridCol w="685800"/>
                <a:gridCol w="736600"/>
              </a:tblGrid>
              <a:tr h="190500">
                <a:tc>
                  <a:txBody>
                    <a:bodyPr/>
                    <a:lstStyle/>
                    <a:p>
                      <a:pPr algn="l" fontAlgn="b"/>
                      <a:r>
                        <a:rPr lang="en-US" sz="1100" b="0" i="0" u="none" strike="noStrike" dirty="0" smtClean="0">
                          <a:solidFill>
                            <a:srgbClr val="000000"/>
                          </a:solidFill>
                          <a:latin typeface="Calibri"/>
                        </a:rPr>
                        <a:t>Claim 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MOP&amp;MPP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 name="Table 36"/>
          <p:cNvGraphicFramePr>
            <a:graphicFrameLocks noGrp="1"/>
          </p:cNvGraphicFramePr>
          <p:nvPr/>
        </p:nvGraphicFramePr>
        <p:xfrm>
          <a:off x="711200" y="3943350"/>
          <a:ext cx="3860800" cy="190500"/>
        </p:xfrm>
        <a:graphic>
          <a:graphicData uri="http://schemas.openxmlformats.org/drawingml/2006/table">
            <a:tbl>
              <a:tblPr/>
              <a:tblGrid>
                <a:gridCol w="609600"/>
                <a:gridCol w="609600"/>
                <a:gridCol w="609600"/>
                <a:gridCol w="609600"/>
                <a:gridCol w="685800"/>
                <a:gridCol w="736600"/>
              </a:tblGrid>
              <a:tr h="190500">
                <a:tc>
                  <a:txBody>
                    <a:bodyPr/>
                    <a:lstStyle/>
                    <a:p>
                      <a:pPr algn="l" fontAlgn="b"/>
                      <a:r>
                        <a:rPr lang="en-US" sz="1100" b="0" i="0" u="none" strike="noStrike" dirty="0" smtClean="0">
                          <a:solidFill>
                            <a:srgbClr val="000000"/>
                          </a:solidFill>
                          <a:latin typeface="Calibri"/>
                        </a:rPr>
                        <a:t>Claim 13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8" name="Table 37"/>
          <p:cNvGraphicFramePr>
            <a:graphicFrameLocks noGrp="1"/>
          </p:cNvGraphicFramePr>
          <p:nvPr/>
        </p:nvGraphicFramePr>
        <p:xfrm>
          <a:off x="1752600" y="4171950"/>
          <a:ext cx="609600" cy="190500"/>
        </p:xfrm>
        <a:graphic>
          <a:graphicData uri="http://schemas.openxmlformats.org/drawingml/2006/table">
            <a:tbl>
              <a:tblPr/>
              <a:tblGrid>
                <a:gridCol w="609600"/>
              </a:tblGrid>
              <a:tr h="190500">
                <a:tc>
                  <a:txBody>
                    <a:bodyPr/>
                    <a:lstStyle/>
                    <a:p>
                      <a:pPr algn="l" fontAlgn="b"/>
                      <a:r>
                        <a:rPr lang="en-US" sz="1100" b="0" i="0" u="none" strike="noStrike" dirty="0">
                          <a:solidFill>
                            <a:srgbClr val="000000"/>
                          </a:solidFill>
                          <a:latin typeface="Calibri"/>
                        </a:rPr>
                        <a:t>|</a:t>
                      </a:r>
                    </a:p>
                  </a:txBody>
                  <a:tcPr marL="9525" marR="9525" marT="9525" marB="0" anchor="b">
                    <a:lnL>
                      <a:noFill/>
                    </a:lnL>
                    <a:lnR>
                      <a:noFill/>
                    </a:lnR>
                    <a:lnT>
                      <a:noFill/>
                    </a:lnT>
                    <a:lnB>
                      <a:noFill/>
                    </a:lnB>
                  </a:tcPr>
                </a:tc>
              </a:tr>
            </a:tbl>
          </a:graphicData>
        </a:graphic>
      </p:graphicFrame>
      <p:graphicFrame>
        <p:nvGraphicFramePr>
          <p:cNvPr id="40" name="Table 39"/>
          <p:cNvGraphicFramePr>
            <a:graphicFrameLocks noGrp="1"/>
          </p:cNvGraphicFramePr>
          <p:nvPr/>
        </p:nvGraphicFramePr>
        <p:xfrm>
          <a:off x="711200" y="4400550"/>
          <a:ext cx="3860800" cy="190500"/>
        </p:xfrm>
        <a:graphic>
          <a:graphicData uri="http://schemas.openxmlformats.org/drawingml/2006/table">
            <a:tbl>
              <a:tblPr/>
              <a:tblGrid>
                <a:gridCol w="609600"/>
                <a:gridCol w="609600"/>
                <a:gridCol w="609600"/>
                <a:gridCol w="609600"/>
                <a:gridCol w="609600"/>
                <a:gridCol w="812800"/>
              </a:tblGrid>
              <a:tr h="190500">
                <a:tc>
                  <a:txBody>
                    <a:bodyPr/>
                    <a:lstStyle/>
                    <a:p>
                      <a:pPr algn="l" fontAlgn="b"/>
                      <a:r>
                        <a:rPr lang="en-US" sz="1100" b="0" i="0" u="none" strike="noStrike" dirty="0" smtClean="0">
                          <a:solidFill>
                            <a:srgbClr val="000000"/>
                          </a:solidFill>
                          <a:latin typeface="Calibri"/>
                        </a:rPr>
                        <a:t>Claim</a:t>
                      </a:r>
                      <a:r>
                        <a:rPr lang="en-US" sz="1100" b="0" i="0" u="none" strike="noStrike" baseline="0" dirty="0" smtClean="0">
                          <a:solidFill>
                            <a:srgbClr val="000000"/>
                          </a:solidFill>
                          <a:latin typeface="Calibri"/>
                        </a:rPr>
                        <a:t> 22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 name="Table 40"/>
          <p:cNvGraphicFramePr>
            <a:graphicFrameLocks noGrp="1"/>
          </p:cNvGraphicFramePr>
          <p:nvPr/>
        </p:nvGraphicFramePr>
        <p:xfrm>
          <a:off x="685800" y="4629150"/>
          <a:ext cx="3860800" cy="190500"/>
        </p:xfrm>
        <a:graphic>
          <a:graphicData uri="http://schemas.openxmlformats.org/drawingml/2006/table">
            <a:tbl>
              <a:tblPr/>
              <a:tblGrid>
                <a:gridCol w="609600"/>
                <a:gridCol w="609600"/>
                <a:gridCol w="609600"/>
                <a:gridCol w="609600"/>
                <a:gridCol w="609600"/>
                <a:gridCol w="812800"/>
              </a:tblGrid>
              <a:tr h="190500">
                <a:tc>
                  <a:txBody>
                    <a:bodyPr/>
                    <a:lstStyle/>
                    <a:p>
                      <a:pPr algn="l" fontAlgn="b"/>
                      <a:r>
                        <a:rPr lang="en-US" sz="1100" b="0" i="0" u="none" strike="noStrike" dirty="0" smtClean="0">
                          <a:solidFill>
                            <a:srgbClr val="000000"/>
                          </a:solidFill>
                          <a:latin typeface="Calibri"/>
                        </a:rPr>
                        <a:t>Claim 23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Post</a:t>
                      </a:r>
                      <a:r>
                        <a:rPr lang="en-US" sz="1100" b="0" i="0" u="none" strike="noStrike" baseline="0" dirty="0" smtClean="0">
                          <a:solidFill>
                            <a:srgbClr val="000000"/>
                          </a:solidFill>
                          <a:latin typeface="Calibri"/>
                        </a:rPr>
                        <a:t> 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2" name="Table 41"/>
          <p:cNvGraphicFramePr>
            <a:graphicFrameLocks noGrp="1"/>
          </p:cNvGraphicFramePr>
          <p:nvPr/>
        </p:nvGraphicFramePr>
        <p:xfrm>
          <a:off x="57150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#22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3" name="Table 42"/>
          <p:cNvGraphicFramePr>
            <a:graphicFrameLocks noGrp="1"/>
          </p:cNvGraphicFramePr>
          <p:nvPr/>
        </p:nvGraphicFramePr>
        <p:xfrm>
          <a:off x="60960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#13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4" name="Rectangle 43"/>
          <p:cNvSpPr/>
          <p:nvPr/>
        </p:nvSpPr>
        <p:spPr>
          <a:xfrm>
            <a:off x="5105400" y="1276350"/>
            <a:ext cx="152400" cy="369332"/>
          </a:xfrm>
          <a:prstGeom prst="rect">
            <a:avLst/>
          </a:prstGeom>
        </p:spPr>
        <p:txBody>
          <a:bodyPr wrap="square">
            <a:spAutoFit/>
          </a:bodyPr>
          <a:lstStyle/>
          <a:p>
            <a:r>
              <a:rPr lang="en-US" dirty="0" smtClean="0"/>
              <a:t>-</a:t>
            </a:r>
            <a:endParaRPr lang="en-US" dirty="0"/>
          </a:p>
        </p:txBody>
      </p:sp>
      <p:sp>
        <p:nvSpPr>
          <p:cNvPr id="45" name="Rectangle 44"/>
          <p:cNvSpPr/>
          <p:nvPr/>
        </p:nvSpPr>
        <p:spPr>
          <a:xfrm>
            <a:off x="5334000" y="1276350"/>
            <a:ext cx="127599" cy="369332"/>
          </a:xfrm>
          <a:prstGeom prst="rect">
            <a:avLst/>
          </a:prstGeom>
        </p:spPr>
        <p:txBody>
          <a:bodyPr wrap="square">
            <a:spAutoFit/>
          </a:bodyPr>
          <a:lstStyle/>
          <a:p>
            <a:r>
              <a:rPr lang="en-US" dirty="0" smtClean="0"/>
              <a:t>-</a:t>
            </a:r>
            <a:endParaRPr lang="en-US" dirty="0"/>
          </a:p>
        </p:txBody>
      </p:sp>
      <p:graphicFrame>
        <p:nvGraphicFramePr>
          <p:cNvPr id="46" name="Table 45"/>
          <p:cNvGraphicFramePr>
            <a:graphicFrameLocks noGrp="1"/>
          </p:cNvGraphicFramePr>
          <p:nvPr/>
        </p:nvGraphicFramePr>
        <p:xfrm>
          <a:off x="7010400" y="2266950"/>
          <a:ext cx="609600" cy="344805"/>
        </p:xfrm>
        <a:graphic>
          <a:graphicData uri="http://schemas.openxmlformats.org/drawingml/2006/table">
            <a:tbl>
              <a:tblPr/>
              <a:tblGrid>
                <a:gridCol w="609600"/>
              </a:tblGrid>
              <a:tr h="190500">
                <a:tc>
                  <a:txBody>
                    <a:bodyPr/>
                    <a:lstStyle/>
                    <a:p>
                      <a:pPr algn="l" fontAlgn="b"/>
                      <a:r>
                        <a:rPr lang="en-US" sz="1100" b="0" i="0" u="none" strike="noStrike" dirty="0">
                          <a:solidFill>
                            <a:srgbClr val="000000"/>
                          </a:solidFill>
                          <a:latin typeface="Calibri"/>
                        </a:rPr>
                        <a:t>$10- 10*$10</a:t>
                      </a:r>
                    </a:p>
                  </a:txBody>
                  <a:tcPr marL="9525" marR="9525" marT="9525" marB="0" anchor="b">
                    <a:lnL>
                      <a:noFill/>
                    </a:lnL>
                    <a:lnR>
                      <a:noFill/>
                    </a:lnR>
                    <a:lnT>
                      <a:noFill/>
                    </a:lnT>
                    <a:lnB>
                      <a:noFill/>
                    </a:lnB>
                  </a:tcPr>
                </a:tc>
              </a:tr>
            </a:tbl>
          </a:graphicData>
        </a:graphic>
      </p:graphicFrame>
      <p:graphicFrame>
        <p:nvGraphicFramePr>
          <p:cNvPr id="47" name="Table 46"/>
          <p:cNvGraphicFramePr>
            <a:graphicFrameLocks noGrp="1"/>
          </p:cNvGraphicFramePr>
          <p:nvPr/>
        </p:nvGraphicFramePr>
        <p:xfrm>
          <a:off x="7086600" y="3028950"/>
          <a:ext cx="609600" cy="344805"/>
        </p:xfrm>
        <a:graphic>
          <a:graphicData uri="http://schemas.openxmlformats.org/drawingml/2006/table">
            <a:tbl>
              <a:tblPr/>
              <a:tblGrid>
                <a:gridCol w="609600"/>
              </a:tblGrid>
              <a:tr h="172402">
                <a:tc>
                  <a:txBody>
                    <a:bodyPr/>
                    <a:lstStyle/>
                    <a:p>
                      <a:pPr algn="l" fontAlgn="b"/>
                      <a:r>
                        <a:rPr lang="en-US" sz="1100" b="0" i="0" u="none" strike="noStrike" dirty="0" smtClean="0">
                          <a:solidFill>
                            <a:srgbClr val="000000"/>
                          </a:solidFill>
                          <a:latin typeface="Calibri"/>
                        </a:rPr>
                        <a:t>$</a:t>
                      </a:r>
                      <a:r>
                        <a:rPr lang="en-US" sz="1100" b="0" i="0" u="none" strike="noStrike" baseline="0" dirty="0" smtClean="0">
                          <a:solidFill>
                            <a:srgbClr val="000000"/>
                          </a:solidFill>
                          <a:latin typeface="Calibri"/>
                        </a:rPr>
                        <a:t> 40 * 10 +$50*2</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
        <p:nvSpPr>
          <p:cNvPr id="48" name="Right Brace 47"/>
          <p:cNvSpPr/>
          <p:nvPr/>
        </p:nvSpPr>
        <p:spPr>
          <a:xfrm>
            <a:off x="79248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blinds(horizontal)">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blinds(horizontal)">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linds(horizontal)">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ppt_x"/>
                                          </p:val>
                                        </p:tav>
                                        <p:tav tm="100000">
                                          <p:val>
                                            <p:strVal val="#ppt_x"/>
                                          </p:val>
                                        </p:tav>
                                      </p:tavLst>
                                    </p:anim>
                                    <p:anim calcmode="lin" valueType="num">
                                      <p:cBhvr additive="base">
                                        <p:cTn id="6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checkerboard(across)">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8" presetClass="entr" presetSubtype="16"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diamond(in)">
                                      <p:cBhvr>
                                        <p:cTn id="79" dur="20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5" presetClass="entr" presetSubtype="10" fill="hold"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checkerboard(across)">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500" fill="hold"/>
                                        <p:tgtEl>
                                          <p:spTgt spid="24"/>
                                        </p:tgtEl>
                                        <p:attrNameLst>
                                          <p:attrName>ppt_x</p:attrName>
                                        </p:attrNameLst>
                                      </p:cBhvr>
                                      <p:tavLst>
                                        <p:tav tm="0">
                                          <p:val>
                                            <p:strVal val="#ppt_x"/>
                                          </p:val>
                                        </p:tav>
                                        <p:tav tm="100000">
                                          <p:val>
                                            <p:strVal val="#ppt_x"/>
                                          </p:val>
                                        </p:tav>
                                      </p:tavLst>
                                    </p:anim>
                                    <p:anim calcmode="lin" valueType="num">
                                      <p:cBhvr additive="base">
                                        <p:cTn id="9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5" presetClass="entr" presetSubtype="10" fill="hold"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checkerboard(across)">
                                      <p:cBhvr>
                                        <p:cTn id="95" dur="500"/>
                                        <p:tgtEl>
                                          <p:spTgt spid="25"/>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nodeType="click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additive="base">
                                        <p:cTn id="100" dur="500" fill="hold"/>
                                        <p:tgtEl>
                                          <p:spTgt spid="28"/>
                                        </p:tgtEl>
                                        <p:attrNameLst>
                                          <p:attrName>ppt_x</p:attrName>
                                        </p:attrNameLst>
                                      </p:cBhvr>
                                      <p:tavLst>
                                        <p:tav tm="0">
                                          <p:val>
                                            <p:strVal val="#ppt_x"/>
                                          </p:val>
                                        </p:tav>
                                        <p:tav tm="100000">
                                          <p:val>
                                            <p:strVal val="#ppt_x"/>
                                          </p:val>
                                        </p:tav>
                                      </p:tavLst>
                                    </p:anim>
                                    <p:anim calcmode="lin" valueType="num">
                                      <p:cBhvr additive="base">
                                        <p:cTn id="10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5" presetClass="entr" presetSubtype="10" fill="hold" nodeType="click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checkerboard(across)">
                                      <p:cBhvr>
                                        <p:cTn id="106" dur="500"/>
                                        <p:tgtEl>
                                          <p:spTgt spid="26"/>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nodeType="clickEffect">
                                  <p:stCondLst>
                                    <p:cond delay="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ppt_x</p:attrName>
                                        </p:attrNameLst>
                                      </p:cBhvr>
                                      <p:tavLst>
                                        <p:tav tm="0">
                                          <p:val>
                                            <p:strVal val="#ppt_x"/>
                                          </p:val>
                                        </p:tav>
                                        <p:tav tm="100000">
                                          <p:val>
                                            <p:strVal val="#ppt_x"/>
                                          </p:val>
                                        </p:tav>
                                      </p:tavLst>
                                    </p:anim>
                                    <p:anim calcmode="lin" valueType="num">
                                      <p:cBhvr additive="base">
                                        <p:cTn id="1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5" presetClass="entr" presetSubtype="1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animEffect transition="in" filter="checkerboard(across)">
                                      <p:cBhvr>
                                        <p:cTn id="123" dur="500"/>
                                        <p:tgtEl>
                                          <p:spTgt spid="33"/>
                                        </p:tgtEl>
                                      </p:cBhvr>
                                    </p:animEffect>
                                  </p:childTnLst>
                                </p:cTn>
                              </p:par>
                            </p:childTnLst>
                          </p:cTn>
                        </p:par>
                      </p:childTnLst>
                    </p:cTn>
                  </p:par>
                  <p:par>
                    <p:cTn id="124" fill="hold">
                      <p:stCondLst>
                        <p:cond delay="indefinite"/>
                      </p:stCondLst>
                      <p:childTnLst>
                        <p:par>
                          <p:cTn id="125" fill="hold">
                            <p:stCondLst>
                              <p:cond delay="0"/>
                            </p:stCondLst>
                            <p:childTnLst>
                              <p:par>
                                <p:cTn id="126" presetID="5" presetClass="entr" presetSubtype="10" fill="hold" grpId="0" nodeType="clickEffect">
                                  <p:stCondLst>
                                    <p:cond delay="0"/>
                                  </p:stCondLst>
                                  <p:childTnLst>
                                    <p:set>
                                      <p:cBhvr>
                                        <p:cTn id="127" dur="1" fill="hold">
                                          <p:stCondLst>
                                            <p:cond delay="0"/>
                                          </p:stCondLst>
                                        </p:cTn>
                                        <p:tgtEl>
                                          <p:spTgt spid="31"/>
                                        </p:tgtEl>
                                        <p:attrNameLst>
                                          <p:attrName>style.visibility</p:attrName>
                                        </p:attrNameLst>
                                      </p:cBhvr>
                                      <p:to>
                                        <p:strVal val="visible"/>
                                      </p:to>
                                    </p:set>
                                    <p:animEffect transition="in" filter="checkerboard(across)">
                                      <p:cBhvr>
                                        <p:cTn id="128" dur="500"/>
                                        <p:tgtEl>
                                          <p:spTgt spid="31"/>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8" presetClass="entr" presetSubtype="16" fill="hold" nodeType="click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diamond(in)">
                                      <p:cBhvr>
                                        <p:cTn id="139" dur="20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42" presetID="5" presetClass="entr" presetSubtype="10" fill="hold" nodeType="clickEffect">
                                  <p:stCondLst>
                                    <p:cond delay="0"/>
                                  </p:stCondLst>
                                  <p:childTnLst>
                                    <p:set>
                                      <p:cBhvr>
                                        <p:cTn id="143" dur="1" fill="hold">
                                          <p:stCondLst>
                                            <p:cond delay="0"/>
                                          </p:stCondLst>
                                        </p:cTn>
                                        <p:tgtEl>
                                          <p:spTgt spid="34"/>
                                        </p:tgtEl>
                                        <p:attrNameLst>
                                          <p:attrName>style.visibility</p:attrName>
                                        </p:attrNameLst>
                                      </p:cBhvr>
                                      <p:to>
                                        <p:strVal val="visible"/>
                                      </p:to>
                                    </p:set>
                                    <p:animEffect transition="in" filter="checkerboard(across)">
                                      <p:cBhvr>
                                        <p:cTn id="144" dur="500"/>
                                        <p:tgtEl>
                                          <p:spTgt spid="34"/>
                                        </p:tgtEl>
                                      </p:cBhvr>
                                    </p:animEffect>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nodeType="clickEffect">
                                  <p:stCondLst>
                                    <p:cond delay="0"/>
                                  </p:stCondLst>
                                  <p:childTnLst>
                                    <p:set>
                                      <p:cBhvr>
                                        <p:cTn id="148" dur="1" fill="hold">
                                          <p:stCondLst>
                                            <p:cond delay="0"/>
                                          </p:stCondLst>
                                        </p:cTn>
                                        <p:tgtEl>
                                          <p:spTgt spid="37"/>
                                        </p:tgtEl>
                                        <p:attrNameLst>
                                          <p:attrName>style.visibility</p:attrName>
                                        </p:attrNameLst>
                                      </p:cBhvr>
                                      <p:to>
                                        <p:strVal val="visible"/>
                                      </p:to>
                                    </p:set>
                                    <p:anim calcmode="lin" valueType="num">
                                      <p:cBhvr additive="base">
                                        <p:cTn id="149" dur="500" fill="hold"/>
                                        <p:tgtEl>
                                          <p:spTgt spid="37"/>
                                        </p:tgtEl>
                                        <p:attrNameLst>
                                          <p:attrName>ppt_x</p:attrName>
                                        </p:attrNameLst>
                                      </p:cBhvr>
                                      <p:tavLst>
                                        <p:tav tm="0">
                                          <p:val>
                                            <p:strVal val="#ppt_x"/>
                                          </p:val>
                                        </p:tav>
                                        <p:tav tm="100000">
                                          <p:val>
                                            <p:strVal val="#ppt_x"/>
                                          </p:val>
                                        </p:tav>
                                      </p:tavLst>
                                    </p:anim>
                                    <p:anim calcmode="lin" valueType="num">
                                      <p:cBhvr additive="base">
                                        <p:cTn id="15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5" presetClass="entr" presetSubtype="10" fill="hold" nodeType="clickEffect">
                                  <p:stCondLst>
                                    <p:cond delay="0"/>
                                  </p:stCondLst>
                                  <p:childTnLst>
                                    <p:set>
                                      <p:cBhvr>
                                        <p:cTn id="154" dur="1" fill="hold">
                                          <p:stCondLst>
                                            <p:cond delay="0"/>
                                          </p:stCondLst>
                                        </p:cTn>
                                        <p:tgtEl>
                                          <p:spTgt spid="35"/>
                                        </p:tgtEl>
                                        <p:attrNameLst>
                                          <p:attrName>style.visibility</p:attrName>
                                        </p:attrNameLst>
                                      </p:cBhvr>
                                      <p:to>
                                        <p:strVal val="visible"/>
                                      </p:to>
                                    </p:set>
                                    <p:animEffect transition="in" filter="checkerboard(across)">
                                      <p:cBhvr>
                                        <p:cTn id="155" dur="500"/>
                                        <p:tgtEl>
                                          <p:spTgt spid="35"/>
                                        </p:tgtEl>
                                      </p:cBhvr>
                                    </p:animEffect>
                                  </p:childTnLst>
                                </p:cTn>
                              </p:par>
                            </p:childTnLst>
                          </p:cTn>
                        </p:par>
                      </p:childTnLst>
                    </p:cTn>
                  </p:par>
                  <p:par>
                    <p:cTn id="156" fill="hold">
                      <p:stCondLst>
                        <p:cond delay="indefinite"/>
                      </p:stCondLst>
                      <p:childTnLst>
                        <p:par>
                          <p:cTn id="157" fill="hold">
                            <p:stCondLst>
                              <p:cond delay="0"/>
                            </p:stCondLst>
                            <p:childTnLst>
                              <p:par>
                                <p:cTn id="158" presetID="2" presetClass="entr" presetSubtype="4" fill="hold" nodeType="clickEffect">
                                  <p:stCondLst>
                                    <p:cond delay="0"/>
                                  </p:stCondLst>
                                  <p:childTnLst>
                                    <p:set>
                                      <p:cBhvr>
                                        <p:cTn id="159" dur="1" fill="hold">
                                          <p:stCondLst>
                                            <p:cond delay="0"/>
                                          </p:stCondLst>
                                        </p:cTn>
                                        <p:tgtEl>
                                          <p:spTgt spid="38"/>
                                        </p:tgtEl>
                                        <p:attrNameLst>
                                          <p:attrName>style.visibility</p:attrName>
                                        </p:attrNameLst>
                                      </p:cBhvr>
                                      <p:to>
                                        <p:strVal val="visible"/>
                                      </p:to>
                                    </p:set>
                                    <p:anim calcmode="lin" valueType="num">
                                      <p:cBhvr additive="base">
                                        <p:cTn id="160" dur="500" fill="hold"/>
                                        <p:tgtEl>
                                          <p:spTgt spid="38"/>
                                        </p:tgtEl>
                                        <p:attrNameLst>
                                          <p:attrName>ppt_x</p:attrName>
                                        </p:attrNameLst>
                                      </p:cBhvr>
                                      <p:tavLst>
                                        <p:tav tm="0">
                                          <p:val>
                                            <p:strVal val="#ppt_x"/>
                                          </p:val>
                                        </p:tav>
                                        <p:tav tm="100000">
                                          <p:val>
                                            <p:strVal val="#ppt_x"/>
                                          </p:val>
                                        </p:tav>
                                      </p:tavLst>
                                    </p:anim>
                                    <p:anim calcmode="lin" valueType="num">
                                      <p:cBhvr additive="base">
                                        <p:cTn id="161"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5" presetClass="entr" presetSubtype="10" fill="hold" grpId="0" nodeType="click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checkerboard(across)">
                                      <p:cBhvr>
                                        <p:cTn id="166" dur="500"/>
                                        <p:tgtEl>
                                          <p:spTgt spid="44"/>
                                        </p:tgtEl>
                                      </p:cBhvr>
                                    </p:animEffect>
                                  </p:childTnLst>
                                </p:cTn>
                              </p:par>
                            </p:childTnLst>
                          </p:cTn>
                        </p:par>
                      </p:childTnLst>
                    </p:cTn>
                  </p:par>
                  <p:par>
                    <p:cTn id="167" fill="hold">
                      <p:stCondLst>
                        <p:cond delay="indefinite"/>
                      </p:stCondLst>
                      <p:childTnLst>
                        <p:par>
                          <p:cTn id="168" fill="hold">
                            <p:stCondLst>
                              <p:cond delay="0"/>
                            </p:stCondLst>
                            <p:childTnLst>
                              <p:par>
                                <p:cTn id="169" presetID="5" presetClass="entr" presetSubtype="10" fill="hold" grpId="0" nodeType="clickEffect">
                                  <p:stCondLst>
                                    <p:cond delay="0"/>
                                  </p:stCondLst>
                                  <p:childTnLst>
                                    <p:set>
                                      <p:cBhvr>
                                        <p:cTn id="170" dur="1" fill="hold">
                                          <p:stCondLst>
                                            <p:cond delay="0"/>
                                          </p:stCondLst>
                                        </p:cTn>
                                        <p:tgtEl>
                                          <p:spTgt spid="45"/>
                                        </p:tgtEl>
                                        <p:attrNameLst>
                                          <p:attrName>style.visibility</p:attrName>
                                        </p:attrNameLst>
                                      </p:cBhvr>
                                      <p:to>
                                        <p:strVal val="visible"/>
                                      </p:to>
                                    </p:set>
                                    <p:animEffect transition="in" filter="checkerboard(across)">
                                      <p:cBhvr>
                                        <p:cTn id="171" dur="500"/>
                                        <p:tgtEl>
                                          <p:spTgt spid="45"/>
                                        </p:tgtEl>
                                      </p:cBhvr>
                                    </p:animEffect>
                                  </p:childTnLst>
                                </p:cTn>
                              </p:par>
                            </p:childTnLst>
                          </p:cTn>
                        </p:par>
                      </p:childTnLst>
                    </p:cTn>
                  </p:par>
                  <p:par>
                    <p:cTn id="172" fill="hold">
                      <p:stCondLst>
                        <p:cond delay="indefinite"/>
                      </p:stCondLst>
                      <p:childTnLst>
                        <p:par>
                          <p:cTn id="173" fill="hold">
                            <p:stCondLst>
                              <p:cond delay="0"/>
                            </p:stCondLst>
                            <p:childTnLst>
                              <p:par>
                                <p:cTn id="174" presetID="2" presetClass="entr" presetSubtype="4" fill="hold" nodeType="clickEffect">
                                  <p:stCondLst>
                                    <p:cond delay="0"/>
                                  </p:stCondLst>
                                  <p:childTnLst>
                                    <p:set>
                                      <p:cBhvr>
                                        <p:cTn id="175" dur="1" fill="hold">
                                          <p:stCondLst>
                                            <p:cond delay="0"/>
                                          </p:stCondLst>
                                        </p:cTn>
                                        <p:tgtEl>
                                          <p:spTgt spid="40"/>
                                        </p:tgtEl>
                                        <p:attrNameLst>
                                          <p:attrName>style.visibility</p:attrName>
                                        </p:attrNameLst>
                                      </p:cBhvr>
                                      <p:to>
                                        <p:strVal val="visible"/>
                                      </p:to>
                                    </p:set>
                                    <p:anim calcmode="lin" valueType="num">
                                      <p:cBhvr additive="base">
                                        <p:cTn id="176" dur="500" fill="hold"/>
                                        <p:tgtEl>
                                          <p:spTgt spid="40"/>
                                        </p:tgtEl>
                                        <p:attrNameLst>
                                          <p:attrName>ppt_x</p:attrName>
                                        </p:attrNameLst>
                                      </p:cBhvr>
                                      <p:tavLst>
                                        <p:tav tm="0">
                                          <p:val>
                                            <p:strVal val="#ppt_x"/>
                                          </p:val>
                                        </p:tav>
                                        <p:tav tm="100000">
                                          <p:val>
                                            <p:strVal val="#ppt_x"/>
                                          </p:val>
                                        </p:tav>
                                      </p:tavLst>
                                    </p:anim>
                                    <p:anim calcmode="lin" valueType="num">
                                      <p:cBhvr additive="base">
                                        <p:cTn id="177"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8" presetClass="entr" presetSubtype="16" fill="hold" nodeType="click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diamond(in)">
                                      <p:cBhvr>
                                        <p:cTn id="182" dur="2000"/>
                                        <p:tgtEl>
                                          <p:spTgt spid="47"/>
                                        </p:tgtEl>
                                      </p:cBhvr>
                                    </p:animEffect>
                                  </p:childTnLst>
                                </p:cTn>
                              </p:par>
                            </p:childTnLst>
                          </p:cTn>
                        </p:par>
                      </p:childTnLst>
                    </p:cTn>
                  </p:par>
                  <p:par>
                    <p:cTn id="183" fill="hold">
                      <p:stCondLst>
                        <p:cond delay="indefinite"/>
                      </p:stCondLst>
                      <p:childTnLst>
                        <p:par>
                          <p:cTn id="184" fill="hold">
                            <p:stCondLst>
                              <p:cond delay="0"/>
                            </p:stCondLst>
                            <p:childTnLst>
                              <p:par>
                                <p:cTn id="185" presetID="5" presetClass="entr" presetSubtype="10" fill="hold" nodeType="clickEffect">
                                  <p:stCondLst>
                                    <p:cond delay="0"/>
                                  </p:stCondLst>
                                  <p:childTnLst>
                                    <p:set>
                                      <p:cBhvr>
                                        <p:cTn id="186" dur="1" fill="hold">
                                          <p:stCondLst>
                                            <p:cond delay="0"/>
                                          </p:stCondLst>
                                        </p:cTn>
                                        <p:tgtEl>
                                          <p:spTgt spid="42"/>
                                        </p:tgtEl>
                                        <p:attrNameLst>
                                          <p:attrName>style.visibility</p:attrName>
                                        </p:attrNameLst>
                                      </p:cBhvr>
                                      <p:to>
                                        <p:strVal val="visible"/>
                                      </p:to>
                                    </p:set>
                                    <p:animEffect transition="in" filter="checkerboard(across)">
                                      <p:cBhvr>
                                        <p:cTn id="187" dur="500"/>
                                        <p:tgtEl>
                                          <p:spTgt spid="42"/>
                                        </p:tgtEl>
                                      </p:cBhvr>
                                    </p:animEffect>
                                  </p:childTnLst>
                                </p:cTn>
                              </p:par>
                            </p:childTnLst>
                          </p:cTn>
                        </p:par>
                      </p:childTnLst>
                    </p:cTn>
                  </p:par>
                  <p:par>
                    <p:cTn id="188" fill="hold">
                      <p:stCondLst>
                        <p:cond delay="indefinite"/>
                      </p:stCondLst>
                      <p:childTnLst>
                        <p:par>
                          <p:cTn id="189" fill="hold">
                            <p:stCondLst>
                              <p:cond delay="0"/>
                            </p:stCondLst>
                            <p:childTnLst>
                              <p:par>
                                <p:cTn id="190" presetID="2" presetClass="entr" presetSubtype="4" fill="hold" nodeType="clickEffect">
                                  <p:stCondLst>
                                    <p:cond delay="0"/>
                                  </p:stCondLst>
                                  <p:childTnLst>
                                    <p:set>
                                      <p:cBhvr>
                                        <p:cTn id="191" dur="1" fill="hold">
                                          <p:stCondLst>
                                            <p:cond delay="0"/>
                                          </p:stCondLst>
                                        </p:cTn>
                                        <p:tgtEl>
                                          <p:spTgt spid="41"/>
                                        </p:tgtEl>
                                        <p:attrNameLst>
                                          <p:attrName>style.visibility</p:attrName>
                                        </p:attrNameLst>
                                      </p:cBhvr>
                                      <p:to>
                                        <p:strVal val="visible"/>
                                      </p:to>
                                    </p:set>
                                    <p:anim calcmode="lin" valueType="num">
                                      <p:cBhvr additive="base">
                                        <p:cTn id="192" dur="500" fill="hold"/>
                                        <p:tgtEl>
                                          <p:spTgt spid="41"/>
                                        </p:tgtEl>
                                        <p:attrNameLst>
                                          <p:attrName>ppt_x</p:attrName>
                                        </p:attrNameLst>
                                      </p:cBhvr>
                                      <p:tavLst>
                                        <p:tav tm="0">
                                          <p:val>
                                            <p:strVal val="#ppt_x"/>
                                          </p:val>
                                        </p:tav>
                                        <p:tav tm="100000">
                                          <p:val>
                                            <p:strVal val="#ppt_x"/>
                                          </p:val>
                                        </p:tav>
                                      </p:tavLst>
                                    </p:anim>
                                    <p:anim calcmode="lin" valueType="num">
                                      <p:cBhvr additive="base">
                                        <p:cTn id="193"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94" fill="hold">
                      <p:stCondLst>
                        <p:cond delay="indefinite"/>
                      </p:stCondLst>
                      <p:childTnLst>
                        <p:par>
                          <p:cTn id="195" fill="hold">
                            <p:stCondLst>
                              <p:cond delay="0"/>
                            </p:stCondLst>
                            <p:childTnLst>
                              <p:par>
                                <p:cTn id="196" presetID="5" presetClass="entr" presetSubtype="10" fill="hold" nodeType="clickEffect">
                                  <p:stCondLst>
                                    <p:cond delay="0"/>
                                  </p:stCondLst>
                                  <p:childTnLst>
                                    <p:set>
                                      <p:cBhvr>
                                        <p:cTn id="197" dur="1" fill="hold">
                                          <p:stCondLst>
                                            <p:cond delay="0"/>
                                          </p:stCondLst>
                                        </p:cTn>
                                        <p:tgtEl>
                                          <p:spTgt spid="43"/>
                                        </p:tgtEl>
                                        <p:attrNameLst>
                                          <p:attrName>style.visibility</p:attrName>
                                        </p:attrNameLst>
                                      </p:cBhvr>
                                      <p:to>
                                        <p:strVal val="visible"/>
                                      </p:to>
                                    </p:set>
                                    <p:animEffect transition="in" filter="checkerboard(across)">
                                      <p:cBhvr>
                                        <p:cTn id="19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31" grpId="0"/>
      <p:bldP spid="33" grpId="0"/>
      <p:bldP spid="44" grpId="0"/>
      <p:bldP spid="45" grpId="0"/>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sz="quarter" idx="4"/>
          </p:nvPr>
        </p:nvSpPr>
        <p:spPr>
          <a:xfrm>
            <a:off x="609600" y="819150"/>
            <a:ext cx="8080316" cy="3699272"/>
          </a:xfrm>
        </p:spPr>
        <p:txBody>
          <a:bodyPr/>
          <a:lstStyle/>
          <a:p>
            <a:pPr>
              <a:buNone/>
            </a:pPr>
            <a:r>
              <a:rPr lang="en-US" dirty="0" smtClean="0"/>
              <a:t>-------------- D E D U C T I B L E 1---------- </a:t>
            </a:r>
          </a:p>
          <a:p>
            <a:pPr>
              <a:buNone/>
            </a:pPr>
            <a:r>
              <a:rPr lang="en-US" dirty="0" smtClean="0"/>
              <a:t>DED PLAN IND: G    MSG: DED &amp; PLAN &amp; PCKT      </a:t>
            </a:r>
          </a:p>
          <a:p>
            <a:pPr>
              <a:buNone/>
            </a:pPr>
            <a:r>
              <a:rPr lang="en-US" dirty="0" smtClean="0"/>
              <a:t>DED STATUS..: N      MSG: SPLIT MAX PCKT CALC    </a:t>
            </a:r>
          </a:p>
          <a:p>
            <a:pPr>
              <a:buNone/>
            </a:pPr>
            <a:r>
              <a:rPr lang="en-US" dirty="0" smtClean="0"/>
              <a:t>DED STATUS 2:         MSG:                        </a:t>
            </a:r>
          </a:p>
          <a:p>
            <a:pPr>
              <a:buNone/>
            </a:pPr>
            <a:r>
              <a:rPr lang="en-US" dirty="0" smtClean="0"/>
              <a:t>INGR COST...:    66.67        MBR DED APPL:     10.00 </a:t>
            </a:r>
          </a:p>
          <a:p>
            <a:pPr>
              <a:buNone/>
            </a:pPr>
            <a:r>
              <a:rPr lang="en-US" dirty="0" smtClean="0"/>
              <a:t>DISP FEE....:      .00             PLN DED APPL:     70.00 </a:t>
            </a:r>
          </a:p>
          <a:p>
            <a:pPr>
              <a:buNone/>
            </a:pPr>
            <a:r>
              <a:rPr lang="en-US" dirty="0" smtClean="0"/>
              <a:t>SLS TAX.....:     3.33             DED EXCL AMT:       .00 </a:t>
            </a:r>
          </a:p>
          <a:p>
            <a:pPr>
              <a:buNone/>
            </a:pPr>
            <a:r>
              <a:rPr lang="en-US" dirty="0" smtClean="0"/>
              <a:t>TOT AMT.....:    70.00         DEDBL SYS INDR: Y       </a:t>
            </a:r>
          </a:p>
          <a:p>
            <a:pPr>
              <a:buNone/>
            </a:pPr>
            <a:r>
              <a:rPr lang="en-US" dirty="0" smtClean="0"/>
              <a:t>MEMBER RMB..:          DED PLAN ID.:   TST1    </a:t>
            </a:r>
          </a:p>
          <a:p>
            <a:pPr>
              <a:buNone/>
            </a:pPr>
            <a:r>
              <a:rPr lang="en-US" dirty="0" smtClean="0"/>
              <a:t>     &lt;&lt;&lt;   PF10               PF11   &gt;&gt;&gt;</a:t>
            </a:r>
            <a:endParaRPr lang="en-US" dirty="0"/>
          </a:p>
        </p:txBody>
      </p:sp>
      <p:sp>
        <p:nvSpPr>
          <p:cNvPr id="4" name="Slide Number Placeholder 3"/>
          <p:cNvSpPr>
            <a:spLocks noGrp="1"/>
          </p:cNvSpPr>
          <p:nvPr>
            <p:ph type="sldNum" sz="quarter" idx="12"/>
          </p:nvPr>
        </p:nvSpPr>
        <p:spPr/>
        <p:txBody>
          <a:bodyPr/>
          <a:lstStyle/>
          <a:p>
            <a:fld id="{FA697448-FA31-4949-9864-F7BD87D6893B}" type="slidenum">
              <a:rPr lang="en-US" smtClean="0"/>
              <a:pPr/>
              <a:t>8</a:t>
            </a:fld>
            <a:endParaRPr lang="en-US" dirty="0"/>
          </a:p>
        </p:txBody>
      </p:sp>
      <p:sp>
        <p:nvSpPr>
          <p:cNvPr id="6" name="Title 5"/>
          <p:cNvSpPr>
            <a:spLocks noGrp="1"/>
          </p:cNvSpPr>
          <p:nvPr>
            <p:ph type="title"/>
          </p:nvPr>
        </p:nvSpPr>
        <p:spPr/>
        <p:txBody>
          <a:bodyPr/>
          <a:lstStyle/>
          <a:p>
            <a:r>
              <a:rPr lang="en-US" sz="2000" dirty="0" smtClean="0"/>
              <a:t>DEDUCTIBLE 1 SCREEN</a:t>
            </a:r>
            <a:endParaRPr lang="en-US" sz="2000" dirty="0">
              <a:solidFill>
                <a:srgbClr val="51626F"/>
              </a:solidFill>
              <a:latin typeface="+mn-lt"/>
              <a:ea typeface="+mn-ea"/>
              <a:cs typeface="+mn-cs"/>
            </a:endParaRPr>
          </a:p>
        </p:txBody>
      </p:sp>
      <p:cxnSp>
        <p:nvCxnSpPr>
          <p:cNvPr id="10" name="Straight Arrow Connector 9"/>
          <p:cNvCxnSpPr/>
          <p:nvPr/>
        </p:nvCxnSpPr>
        <p:spPr>
          <a:xfrm flipH="1">
            <a:off x="5181600" y="666750"/>
            <a:ext cx="685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5334000" y="1200150"/>
            <a:ext cx="685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nvGraphicFramePr>
        <p:xfrm>
          <a:off x="5943600" y="209550"/>
          <a:ext cx="1066800" cy="512445"/>
        </p:xfrm>
        <a:graphic>
          <a:graphicData uri="http://schemas.openxmlformats.org/drawingml/2006/table">
            <a:tbl>
              <a:tblPr/>
              <a:tblGrid>
                <a:gridCol w="1066800"/>
              </a:tblGrid>
              <a:tr h="190500">
                <a:tc>
                  <a:txBody>
                    <a:bodyPr/>
                    <a:lstStyle/>
                    <a:p>
                      <a:pPr algn="l" fontAlgn="b"/>
                      <a:r>
                        <a:rPr lang="en-US" sz="1100" b="0" i="0" u="none" strike="noStrike" baseline="0" dirty="0">
                          <a:solidFill>
                            <a:schemeClr val="accent3">
                              <a:lumMod val="75000"/>
                            </a:schemeClr>
                          </a:solidFill>
                          <a:latin typeface="Calibri"/>
                        </a:rPr>
                        <a:t>Status from pricing to Deductible</a:t>
                      </a:r>
                    </a:p>
                  </a:txBody>
                  <a:tcPr marL="9525" marR="9525" marT="9525" marB="0" anchor="b">
                    <a:lnL>
                      <a:noFill/>
                    </a:lnL>
                    <a:lnR>
                      <a:noFill/>
                    </a:lnR>
                    <a:lnT>
                      <a:noFill/>
                    </a:lnT>
                    <a:lnB>
                      <a:noFill/>
                    </a:lnB>
                  </a:tcPr>
                </a:tc>
              </a:tr>
            </a:tbl>
          </a:graphicData>
        </a:graphic>
      </p:graphicFrame>
      <p:graphicFrame>
        <p:nvGraphicFramePr>
          <p:cNvPr id="14" name="Table 13"/>
          <p:cNvGraphicFramePr>
            <a:graphicFrameLocks noGrp="1"/>
          </p:cNvGraphicFramePr>
          <p:nvPr/>
        </p:nvGraphicFramePr>
        <p:xfrm>
          <a:off x="6096000" y="931545"/>
          <a:ext cx="762000" cy="344805"/>
        </p:xfrm>
        <a:graphic>
          <a:graphicData uri="http://schemas.openxmlformats.org/drawingml/2006/table">
            <a:tbl>
              <a:tblPr/>
              <a:tblGrid>
                <a:gridCol w="762000"/>
              </a:tblGrid>
              <a:tr h="304800">
                <a:tc>
                  <a:txBody>
                    <a:bodyPr/>
                    <a:lstStyle/>
                    <a:p>
                      <a:pPr marL="0" algn="l" defTabSz="914400" rtl="0" eaLnBrk="1" fontAlgn="b" latinLnBrk="0" hangingPunct="1"/>
                      <a:r>
                        <a:rPr lang="en-US" sz="1100" b="0" i="0" u="none" strike="noStrike" kern="1200" baseline="0" dirty="0">
                          <a:solidFill>
                            <a:schemeClr val="accent3">
                              <a:lumMod val="75000"/>
                            </a:schemeClr>
                          </a:solidFill>
                          <a:latin typeface="Calibri"/>
                          <a:ea typeface="+mn-ea"/>
                          <a:cs typeface="+mn-cs"/>
                        </a:rPr>
                        <a:t>Status from Deductible</a:t>
                      </a:r>
                    </a:p>
                  </a:txBody>
                  <a:tcPr marL="9525" marR="9525" marT="9525" marB="0" anchor="b">
                    <a:lnL>
                      <a:noFill/>
                    </a:lnL>
                    <a:lnR>
                      <a:noFill/>
                    </a:lnR>
                    <a:lnT>
                      <a:noFill/>
                    </a:lnT>
                    <a:lnB>
                      <a:noFill/>
                    </a:lnB>
                  </a:tcPr>
                </a:tc>
              </a:tr>
            </a:tbl>
          </a:graphicData>
        </a:graphic>
      </p:graphicFrame>
    </p:spTree>
    <p:extLst>
      <p:ext uri="{BB962C8B-B14F-4D97-AF65-F5344CB8AC3E}">
        <p14:creationId xmlns:p14="http://schemas.microsoft.com/office/powerpoint/2010/main" xmlns="" val="51090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checkerboard(across)">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checkerboard(across)">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checkerboard(across)">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checkerboard(across)">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checkerboard(across)">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checkerboard(across)">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checkerboard(across)">
                                      <p:cBhvr>
                                        <p:cTn id="42" dur="500"/>
                                        <p:tgtEl>
                                          <p:spTgt spid="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animEffect transition="in" filter="checkerboard(across)">
                                      <p:cBhvr>
                                        <p:cTn id="47" dur="500"/>
                                        <p:tgtEl>
                                          <p:spTgt spid="1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3">
                                            <p:txEl>
                                              <p:pRg st="9" end="9"/>
                                            </p:txEl>
                                          </p:spTgt>
                                        </p:tgtEl>
                                        <p:attrNameLst>
                                          <p:attrName>style.visibility</p:attrName>
                                        </p:attrNameLst>
                                      </p:cBhvr>
                                      <p:to>
                                        <p:strVal val="visible"/>
                                      </p:to>
                                    </p:set>
                                    <p:animEffect transition="in" filter="checkerboard(across)">
                                      <p:cBhvr>
                                        <p:cTn id="52" dur="500"/>
                                        <p:tgtEl>
                                          <p:spTgt spid="1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blinds(horizontal)">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blinds(horizontal)">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500" fill="hold"/>
                                        <p:tgtEl>
                                          <p:spTgt spid="12"/>
                                        </p:tgtEl>
                                        <p:attrNameLst>
                                          <p:attrName>ppt_x</p:attrName>
                                        </p:attrNameLst>
                                      </p:cBhvr>
                                      <p:tavLst>
                                        <p:tav tm="0">
                                          <p:val>
                                            <p:strVal val="#ppt_x"/>
                                          </p:val>
                                        </p:tav>
                                        <p:tav tm="100000">
                                          <p:val>
                                            <p:strVal val="#ppt_x"/>
                                          </p:val>
                                        </p:tav>
                                      </p:tavLst>
                                    </p:anim>
                                    <p:anim calcmode="lin" valueType="num">
                                      <p:cBhvr additive="base">
                                        <p:cTn id="6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additive="base">
                                        <p:cTn id="73" dur="500" fill="hold"/>
                                        <p:tgtEl>
                                          <p:spTgt spid="14"/>
                                        </p:tgtEl>
                                        <p:attrNameLst>
                                          <p:attrName>ppt_x</p:attrName>
                                        </p:attrNameLst>
                                      </p:cBhvr>
                                      <p:tavLst>
                                        <p:tav tm="0">
                                          <p:val>
                                            <p:strVal val="#ppt_x"/>
                                          </p:val>
                                        </p:tav>
                                        <p:tav tm="100000">
                                          <p:val>
                                            <p:strVal val="#ppt_x"/>
                                          </p:val>
                                        </p:tav>
                                      </p:tavLst>
                                    </p:anim>
                                    <p:anim calcmode="lin" valueType="num">
                                      <p:cBhvr additive="base">
                                        <p:cTn id="7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sz="quarter" idx="4"/>
          </p:nvPr>
        </p:nvSpPr>
        <p:spPr>
          <a:xfrm>
            <a:off x="609600" y="819150"/>
            <a:ext cx="8080316" cy="3699272"/>
          </a:xfrm>
        </p:spPr>
        <p:txBody>
          <a:bodyPr/>
          <a:lstStyle/>
          <a:p>
            <a:pPr>
              <a:buNone/>
            </a:pPr>
            <a:r>
              <a:rPr lang="en-US" dirty="0" smtClean="0"/>
              <a:t>----------D E D U C T I B L E  2-------------- </a:t>
            </a:r>
          </a:p>
          <a:p>
            <a:pPr>
              <a:buNone/>
            </a:pPr>
            <a:r>
              <a:rPr lang="en-US" dirty="0" smtClean="0"/>
              <a:t>ACCUM DEDBL AMT.........:     140.00           </a:t>
            </a:r>
          </a:p>
          <a:p>
            <a:pPr>
              <a:buNone/>
            </a:pPr>
            <a:r>
              <a:rPr lang="en-US" dirty="0" smtClean="0"/>
              <a:t>AMT EXCDG PRDC BNFT MAX.:        .00           </a:t>
            </a:r>
          </a:p>
          <a:p>
            <a:pPr>
              <a:buNone/>
            </a:pPr>
            <a:r>
              <a:rPr lang="en-US" dirty="0" smtClean="0"/>
              <a:t>REMN BNFT AMT...........:      70.00           </a:t>
            </a:r>
          </a:p>
          <a:p>
            <a:pPr>
              <a:buNone/>
            </a:pPr>
            <a:r>
              <a:rPr lang="en-US" dirty="0" smtClean="0"/>
              <a:t>--------CLAIM DEDUCTIBLE AMOUNTS-------------- </a:t>
            </a:r>
          </a:p>
          <a:p>
            <a:pPr>
              <a:buNone/>
            </a:pPr>
            <a:r>
              <a:rPr lang="en-US" dirty="0" smtClean="0"/>
              <a:t> DED SPEC:       .00 DED SPEC EXCLD:       .00 </a:t>
            </a:r>
          </a:p>
          <a:p>
            <a:pPr>
              <a:buNone/>
            </a:pPr>
            <a:r>
              <a:rPr lang="en-US" dirty="0" smtClean="0"/>
              <a:t> MOP SPEC:       .00 MOP SPEC EXCLD:       .00 </a:t>
            </a:r>
          </a:p>
          <a:p>
            <a:pPr>
              <a:buNone/>
            </a:pPr>
            <a:r>
              <a:rPr lang="en-US" dirty="0" smtClean="0"/>
              <a:t> MPP SPEC:     70.00 MPP SPEC EXCLD:       .00 </a:t>
            </a:r>
          </a:p>
          <a:p>
            <a:pPr>
              <a:buNone/>
            </a:pPr>
            <a:r>
              <a:rPr lang="en-US" dirty="0" smtClean="0"/>
              <a:t>                                               </a:t>
            </a:r>
          </a:p>
          <a:p>
            <a:pPr>
              <a:buNone/>
            </a:pPr>
            <a:r>
              <a:rPr lang="en-US" dirty="0" smtClean="0"/>
              <a:t>  &lt;&lt;&lt; PF10     PF11 &gt;&gt;&gt;      PF12:DETAILS </a:t>
            </a:r>
            <a:endParaRPr lang="en-US" dirty="0"/>
          </a:p>
        </p:txBody>
      </p:sp>
      <p:sp>
        <p:nvSpPr>
          <p:cNvPr id="4" name="Slide Number Placeholder 3"/>
          <p:cNvSpPr>
            <a:spLocks noGrp="1"/>
          </p:cNvSpPr>
          <p:nvPr>
            <p:ph type="sldNum" sz="quarter" idx="12"/>
          </p:nvPr>
        </p:nvSpPr>
        <p:spPr/>
        <p:txBody>
          <a:bodyPr/>
          <a:lstStyle/>
          <a:p>
            <a:fld id="{FA697448-FA31-4949-9864-F7BD87D6893B}" type="slidenum">
              <a:rPr lang="en-US" smtClean="0"/>
              <a:pPr/>
              <a:t>9</a:t>
            </a:fld>
            <a:endParaRPr lang="en-US" dirty="0"/>
          </a:p>
        </p:txBody>
      </p:sp>
      <p:sp>
        <p:nvSpPr>
          <p:cNvPr id="6" name="Title 5"/>
          <p:cNvSpPr>
            <a:spLocks noGrp="1"/>
          </p:cNvSpPr>
          <p:nvPr>
            <p:ph type="title"/>
          </p:nvPr>
        </p:nvSpPr>
        <p:spPr>
          <a:xfrm>
            <a:off x="609600" y="209550"/>
            <a:ext cx="8077200" cy="800100"/>
          </a:xfrm>
        </p:spPr>
        <p:txBody>
          <a:bodyPr/>
          <a:lstStyle/>
          <a:p>
            <a:r>
              <a:rPr lang="en-US" sz="2000" dirty="0" smtClean="0"/>
              <a:t>DEDUCTIBLE 2 SCREEN</a:t>
            </a:r>
            <a:endParaRPr lang="en-US" sz="2000" dirty="0">
              <a:solidFill>
                <a:srgbClr val="51626F"/>
              </a:solidFill>
              <a:latin typeface="+mn-lt"/>
              <a:ea typeface="+mn-ea"/>
              <a:cs typeface="+mn-cs"/>
            </a:endParaRPr>
          </a:p>
        </p:txBody>
      </p:sp>
      <p:cxnSp>
        <p:nvCxnSpPr>
          <p:cNvPr id="10" name="Straight Arrow Connector 9"/>
          <p:cNvCxnSpPr/>
          <p:nvPr/>
        </p:nvCxnSpPr>
        <p:spPr>
          <a:xfrm flipH="1">
            <a:off x="4419600" y="590550"/>
            <a:ext cx="685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4343400" y="1962150"/>
            <a:ext cx="10668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nvGraphicFramePr>
        <p:xfrm>
          <a:off x="5181600" y="285750"/>
          <a:ext cx="1066800" cy="344805"/>
        </p:xfrm>
        <a:graphic>
          <a:graphicData uri="http://schemas.openxmlformats.org/drawingml/2006/table">
            <a:tbl>
              <a:tblPr/>
              <a:tblGrid>
                <a:gridCol w="1066800"/>
              </a:tblGrid>
              <a:tr h="190500">
                <a:tc>
                  <a:txBody>
                    <a:bodyPr/>
                    <a:lstStyle/>
                    <a:p>
                      <a:pPr algn="l" fontAlgn="b"/>
                      <a:r>
                        <a:rPr lang="en-US" sz="1100" b="0" i="0" u="none" strike="noStrike" baseline="0" dirty="0" smtClean="0">
                          <a:solidFill>
                            <a:schemeClr val="accent3">
                              <a:lumMod val="75000"/>
                            </a:schemeClr>
                          </a:solidFill>
                          <a:latin typeface="Calibri"/>
                        </a:rPr>
                        <a:t>Remaining amount in DED</a:t>
                      </a:r>
                      <a:endParaRPr lang="en-US" sz="1100" b="0" i="0" u="none" strike="noStrike" baseline="0" dirty="0">
                        <a:solidFill>
                          <a:schemeClr val="accent3">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14" name="Table 13"/>
          <p:cNvGraphicFramePr>
            <a:graphicFrameLocks noGrp="1"/>
          </p:cNvGraphicFramePr>
          <p:nvPr/>
        </p:nvGraphicFramePr>
        <p:xfrm>
          <a:off x="5562600" y="1657350"/>
          <a:ext cx="762000" cy="512445"/>
        </p:xfrm>
        <a:graphic>
          <a:graphicData uri="http://schemas.openxmlformats.org/drawingml/2006/table">
            <a:tbl>
              <a:tblPr/>
              <a:tblGrid>
                <a:gridCol w="762000"/>
              </a:tblGrid>
              <a:tr h="304800">
                <a:tc>
                  <a:txBody>
                    <a:bodyPr/>
                    <a:lstStyle/>
                    <a:p>
                      <a:pPr marL="0" algn="l" defTabSz="914400" rtl="0" eaLnBrk="1" fontAlgn="b" latinLnBrk="0" hangingPunct="1"/>
                      <a:r>
                        <a:rPr lang="en-US" sz="1100" b="0" i="0" u="none" strike="noStrike" kern="1200" baseline="0" dirty="0" smtClean="0">
                          <a:solidFill>
                            <a:schemeClr val="accent3">
                              <a:lumMod val="75000"/>
                            </a:schemeClr>
                          </a:solidFill>
                          <a:latin typeface="Calibri"/>
                          <a:ea typeface="+mn-ea"/>
                          <a:cs typeface="+mn-cs"/>
                        </a:rPr>
                        <a:t>Remaining Amount in MPP</a:t>
                      </a:r>
                      <a:endParaRPr lang="en-US" sz="1100" b="0" i="0" u="none" strike="noStrike" kern="1200" baseline="0" dirty="0">
                        <a:solidFill>
                          <a:schemeClr val="accent3">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15" name="Table 14"/>
          <p:cNvGraphicFramePr>
            <a:graphicFrameLocks noGrp="1"/>
          </p:cNvGraphicFramePr>
          <p:nvPr/>
        </p:nvGraphicFramePr>
        <p:xfrm>
          <a:off x="6172200" y="361950"/>
          <a:ext cx="1219200" cy="1015365"/>
        </p:xfrm>
        <a:graphic>
          <a:graphicData uri="http://schemas.openxmlformats.org/drawingml/2006/table">
            <a:tbl>
              <a:tblPr/>
              <a:tblGrid>
                <a:gridCol w="1219200"/>
              </a:tblGrid>
              <a:tr h="990600">
                <a:tc>
                  <a:txBody>
                    <a:bodyPr/>
                    <a:lstStyle/>
                    <a:p>
                      <a:pPr algn="l" fontAlgn="b"/>
                      <a:r>
                        <a:rPr lang="en-US" sz="1100" b="0" i="0" u="none" strike="noStrike" kern="1200" baseline="0" dirty="0" smtClean="0">
                          <a:solidFill>
                            <a:schemeClr val="accent3">
                              <a:lumMod val="75000"/>
                            </a:schemeClr>
                          </a:solidFill>
                          <a:latin typeface="Calibri"/>
                          <a:ea typeface="+mn-ea"/>
                          <a:cs typeface="+mn-cs"/>
                        </a:rPr>
                        <a:t>Applies to Maximum Paid by Plan (MPP) benefits and is the amount the member pays after reaching the MPP dollar limit</a:t>
                      </a:r>
                      <a:r>
                        <a:rPr lang="en-US" sz="1100" b="0" i="0" u="none" strike="noStrike" dirty="0">
                          <a:solidFill>
                            <a:srgbClr val="000000"/>
                          </a:solidFill>
                          <a:latin typeface="Calibri"/>
                        </a:rPr>
                        <a:t>.</a:t>
                      </a:r>
                    </a:p>
                  </a:txBody>
                  <a:tcPr marL="9525" marR="9525" marT="9525" marB="0" anchor="b">
                    <a:lnL>
                      <a:noFill/>
                    </a:lnL>
                    <a:lnR>
                      <a:noFill/>
                    </a:lnR>
                    <a:lnT>
                      <a:noFill/>
                    </a:lnT>
                    <a:lnB>
                      <a:noFill/>
                    </a:lnB>
                  </a:tcPr>
                </a:tc>
              </a:tr>
            </a:tbl>
          </a:graphicData>
        </a:graphic>
      </p:graphicFrame>
      <p:cxnSp>
        <p:nvCxnSpPr>
          <p:cNvPr id="16" name="Straight Arrow Connector 15"/>
          <p:cNvCxnSpPr/>
          <p:nvPr/>
        </p:nvCxnSpPr>
        <p:spPr>
          <a:xfrm flipH="1">
            <a:off x="4495800" y="895350"/>
            <a:ext cx="16002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1090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checkerboard(across)">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checkerboard(across)">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checkerboard(across)">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checkerboard(across)">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checkerboard(across)">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checkerboard(across)">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checkerboard(across)">
                                      <p:cBhvr>
                                        <p:cTn id="42" dur="500"/>
                                        <p:tgtEl>
                                          <p:spTgt spid="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animEffect transition="in" filter="checkerboard(across)">
                                      <p:cBhvr>
                                        <p:cTn id="47" dur="500"/>
                                        <p:tgtEl>
                                          <p:spTgt spid="1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3">
                                            <p:txEl>
                                              <p:pRg st="9" end="9"/>
                                            </p:txEl>
                                          </p:spTgt>
                                        </p:tgtEl>
                                        <p:attrNameLst>
                                          <p:attrName>style.visibility</p:attrName>
                                        </p:attrNameLst>
                                      </p:cBhvr>
                                      <p:to>
                                        <p:strVal val="visible"/>
                                      </p:to>
                                    </p:set>
                                    <p:animEffect transition="in" filter="checkerboard(across)">
                                      <p:cBhvr>
                                        <p:cTn id="52" dur="500"/>
                                        <p:tgtEl>
                                          <p:spTgt spid="1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blinds(horizontal)">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blinds(horizontal)">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500" fill="hold"/>
                                        <p:tgtEl>
                                          <p:spTgt spid="12"/>
                                        </p:tgtEl>
                                        <p:attrNameLst>
                                          <p:attrName>ppt_x</p:attrName>
                                        </p:attrNameLst>
                                      </p:cBhvr>
                                      <p:tavLst>
                                        <p:tav tm="0">
                                          <p:val>
                                            <p:strVal val="#ppt_x"/>
                                          </p:val>
                                        </p:tav>
                                        <p:tav tm="100000">
                                          <p:val>
                                            <p:strVal val="#ppt_x"/>
                                          </p:val>
                                        </p:tav>
                                      </p:tavLst>
                                    </p:anim>
                                    <p:anim calcmode="lin" valueType="num">
                                      <p:cBhvr additive="base">
                                        <p:cTn id="6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additive="base">
                                        <p:cTn id="73" dur="500" fill="hold"/>
                                        <p:tgtEl>
                                          <p:spTgt spid="14"/>
                                        </p:tgtEl>
                                        <p:attrNameLst>
                                          <p:attrName>ppt_x</p:attrName>
                                        </p:attrNameLst>
                                      </p:cBhvr>
                                      <p:tavLst>
                                        <p:tav tm="0">
                                          <p:val>
                                            <p:strVal val="#ppt_x"/>
                                          </p:val>
                                        </p:tav>
                                        <p:tav tm="100000">
                                          <p:val>
                                            <p:strVal val="#ppt_x"/>
                                          </p:val>
                                        </p:tav>
                                      </p:tavLst>
                                    </p:anim>
                                    <p:anim calcmode="lin" valueType="num">
                                      <p:cBhvr additive="base">
                                        <p:cTn id="7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blinds(horizontal)">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blinds(horizontal)">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additive="base">
                                        <p:cTn id="89" dur="500" fill="hold"/>
                                        <p:tgtEl>
                                          <p:spTgt spid="15"/>
                                        </p:tgtEl>
                                        <p:attrNameLst>
                                          <p:attrName>ppt_x</p:attrName>
                                        </p:attrNameLst>
                                      </p:cBhvr>
                                      <p:tavLst>
                                        <p:tav tm="0">
                                          <p:val>
                                            <p:strVal val="#ppt_x"/>
                                          </p:val>
                                        </p:tav>
                                        <p:tav tm="100000">
                                          <p:val>
                                            <p:strVal val="#ppt_x"/>
                                          </p:val>
                                        </p:tav>
                                      </p:tavLst>
                                    </p:anim>
                                    <p:anim calcmode="lin" valueType="num">
                                      <p:cBhvr additive="base">
                                        <p:cTn id="9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sz="quarter" idx="4"/>
          </p:nvPr>
        </p:nvSpPr>
        <p:spPr>
          <a:xfrm>
            <a:off x="609600" y="819150"/>
            <a:ext cx="8080316" cy="3699272"/>
          </a:xfrm>
        </p:spPr>
        <p:txBody>
          <a:bodyPr/>
          <a:lstStyle/>
          <a:p>
            <a:pPr>
              <a:buNone/>
            </a:pPr>
            <a:r>
              <a:rPr lang="en-US" sz="1600" dirty="0" smtClean="0"/>
              <a:t>==============================&gt; DEDUCTIBLE DETAIL &lt;=========================== </a:t>
            </a:r>
          </a:p>
          <a:p>
            <a:pPr>
              <a:buNone/>
            </a:pPr>
            <a:r>
              <a:rPr lang="en-US" sz="1600" dirty="0" smtClean="0"/>
              <a:t>PLAN MED                   MAIL   BRAND     MEMBER          PLAN              EXCLUDED     PLRO    </a:t>
            </a:r>
          </a:p>
          <a:p>
            <a:pPr>
              <a:buNone/>
            </a:pPr>
            <a:r>
              <a:rPr lang="en-US" sz="1600" dirty="0" smtClean="0"/>
              <a:t>TYPE RX  NETWORK ORDER GENERIC    AMOUNT      </a:t>
            </a:r>
            <a:r>
              <a:rPr lang="en-US" sz="1600" dirty="0" err="1" smtClean="0"/>
              <a:t>AMOUNT</a:t>
            </a:r>
            <a:r>
              <a:rPr lang="en-US" sz="1600" dirty="0" smtClean="0"/>
              <a:t>      </a:t>
            </a:r>
            <a:r>
              <a:rPr lang="en-US" sz="1600" dirty="0" err="1" smtClean="0"/>
              <a:t>AMOUNT</a:t>
            </a:r>
            <a:r>
              <a:rPr lang="en-US" sz="1600" dirty="0" smtClean="0"/>
              <a:t>      </a:t>
            </a:r>
            <a:r>
              <a:rPr lang="en-US" sz="1600" dirty="0" err="1" smtClean="0"/>
              <a:t>AMOUNT</a:t>
            </a:r>
            <a:r>
              <a:rPr lang="en-US" sz="1600" dirty="0" smtClean="0"/>
              <a:t>   </a:t>
            </a:r>
          </a:p>
          <a:p>
            <a:pPr>
              <a:buNone/>
            </a:pPr>
            <a:r>
              <a:rPr lang="en-US" sz="1600" dirty="0" smtClean="0"/>
              <a:t>----     ---     ------- -         ----        -------         -----------        -----------         -----------      ----------- </a:t>
            </a:r>
          </a:p>
          <a:p>
            <a:pPr>
              <a:buNone/>
            </a:pPr>
            <a:r>
              <a:rPr lang="en-US" sz="1600" dirty="0" smtClean="0"/>
              <a:t>MPP   A          </a:t>
            </a:r>
            <a:r>
              <a:rPr lang="en-US" sz="1600" dirty="0" err="1" smtClean="0"/>
              <a:t>A</a:t>
            </a:r>
            <a:r>
              <a:rPr lang="en-US" sz="1600" dirty="0" smtClean="0"/>
              <a:t>                </a:t>
            </a:r>
            <a:r>
              <a:rPr lang="en-US" sz="1600" dirty="0" err="1" smtClean="0"/>
              <a:t>A</a:t>
            </a:r>
            <a:r>
              <a:rPr lang="en-US" sz="1600" dirty="0" smtClean="0"/>
              <a:t>             </a:t>
            </a:r>
            <a:r>
              <a:rPr lang="en-US" sz="1600" dirty="0" err="1" smtClean="0"/>
              <a:t>A</a:t>
            </a:r>
            <a:r>
              <a:rPr lang="en-US" sz="1600" dirty="0" smtClean="0"/>
              <a:t>           0.00                70.00                 0.00             0.00 </a:t>
            </a:r>
          </a:p>
          <a:p>
            <a:pPr>
              <a:buNone/>
            </a:pPr>
            <a:r>
              <a:rPr lang="en-US" dirty="0" smtClean="0"/>
              <a:t> </a:t>
            </a:r>
            <a:endParaRPr lang="en-US" dirty="0"/>
          </a:p>
        </p:txBody>
      </p:sp>
      <p:sp>
        <p:nvSpPr>
          <p:cNvPr id="4" name="Slide Number Placeholder 3"/>
          <p:cNvSpPr>
            <a:spLocks noGrp="1"/>
          </p:cNvSpPr>
          <p:nvPr>
            <p:ph type="sldNum" sz="quarter" idx="12"/>
          </p:nvPr>
        </p:nvSpPr>
        <p:spPr/>
        <p:txBody>
          <a:bodyPr/>
          <a:lstStyle/>
          <a:p>
            <a:fld id="{FA697448-FA31-4949-9864-F7BD87D6893B}" type="slidenum">
              <a:rPr lang="en-US" smtClean="0"/>
              <a:pPr/>
              <a:t>10</a:t>
            </a:fld>
            <a:endParaRPr lang="en-US" dirty="0"/>
          </a:p>
        </p:txBody>
      </p:sp>
      <p:sp>
        <p:nvSpPr>
          <p:cNvPr id="6" name="Title 5"/>
          <p:cNvSpPr>
            <a:spLocks noGrp="1"/>
          </p:cNvSpPr>
          <p:nvPr>
            <p:ph type="title"/>
          </p:nvPr>
        </p:nvSpPr>
        <p:spPr>
          <a:xfrm>
            <a:off x="609600" y="209550"/>
            <a:ext cx="8077200" cy="800100"/>
          </a:xfrm>
        </p:spPr>
        <p:txBody>
          <a:bodyPr/>
          <a:lstStyle/>
          <a:p>
            <a:r>
              <a:rPr lang="en-US" sz="2000" dirty="0" smtClean="0"/>
              <a:t>DEDUCTIBLE 2 SCREEN</a:t>
            </a:r>
            <a:endParaRPr lang="en-US" sz="2000" dirty="0">
              <a:solidFill>
                <a:srgbClr val="51626F"/>
              </a:solidFill>
              <a:latin typeface="+mn-lt"/>
              <a:ea typeface="+mn-ea"/>
              <a:cs typeface="+mn-cs"/>
            </a:endParaRPr>
          </a:p>
        </p:txBody>
      </p:sp>
      <p:cxnSp>
        <p:nvCxnSpPr>
          <p:cNvPr id="10" name="Straight Arrow Connector 9"/>
          <p:cNvCxnSpPr/>
          <p:nvPr/>
        </p:nvCxnSpPr>
        <p:spPr>
          <a:xfrm flipH="1">
            <a:off x="838200" y="742950"/>
            <a:ext cx="3048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7239000" y="514350"/>
            <a:ext cx="3048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nvGraphicFramePr>
        <p:xfrm>
          <a:off x="4114800" y="285750"/>
          <a:ext cx="1066800" cy="190500"/>
        </p:xfrm>
        <a:graphic>
          <a:graphicData uri="http://schemas.openxmlformats.org/drawingml/2006/table">
            <a:tbl>
              <a:tblPr/>
              <a:tblGrid>
                <a:gridCol w="1066800"/>
              </a:tblGrid>
              <a:tr h="190500">
                <a:tc>
                  <a:txBody>
                    <a:bodyPr/>
                    <a:lstStyle/>
                    <a:p>
                      <a:pPr algn="l" fontAlgn="b"/>
                      <a:r>
                        <a:rPr lang="en-US" sz="1100" b="0" i="0" u="none" strike="noStrike" baseline="0" dirty="0" smtClean="0">
                          <a:solidFill>
                            <a:schemeClr val="accent3">
                              <a:lumMod val="75000"/>
                            </a:schemeClr>
                          </a:solidFill>
                          <a:latin typeface="Calibri"/>
                        </a:rPr>
                        <a:t>Member Amount</a:t>
                      </a:r>
                      <a:endParaRPr lang="en-US" sz="1100" b="0" i="0" u="none" strike="noStrike" baseline="0" dirty="0">
                        <a:solidFill>
                          <a:schemeClr val="accent3">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14" name="Table 13"/>
          <p:cNvGraphicFramePr>
            <a:graphicFrameLocks noGrp="1"/>
          </p:cNvGraphicFramePr>
          <p:nvPr/>
        </p:nvGraphicFramePr>
        <p:xfrm>
          <a:off x="5410200" y="133350"/>
          <a:ext cx="762000" cy="304800"/>
        </p:xfrm>
        <a:graphic>
          <a:graphicData uri="http://schemas.openxmlformats.org/drawingml/2006/table">
            <a:tbl>
              <a:tblPr/>
              <a:tblGrid>
                <a:gridCol w="762000"/>
              </a:tblGrid>
              <a:tr h="304800">
                <a:tc>
                  <a:txBody>
                    <a:bodyPr/>
                    <a:lstStyle/>
                    <a:p>
                      <a:pPr marL="0" algn="l" defTabSz="914400" rtl="0" eaLnBrk="1" fontAlgn="b" latinLnBrk="0" hangingPunct="1"/>
                      <a:r>
                        <a:rPr lang="en-US" sz="1100" b="0" i="0" u="none" strike="noStrike" kern="1200" baseline="0" dirty="0" smtClean="0">
                          <a:solidFill>
                            <a:schemeClr val="accent3">
                              <a:lumMod val="75000"/>
                            </a:schemeClr>
                          </a:solidFill>
                          <a:latin typeface="Calibri"/>
                          <a:ea typeface="+mn-ea"/>
                          <a:cs typeface="+mn-cs"/>
                        </a:rPr>
                        <a:t>Plan Amount</a:t>
                      </a:r>
                      <a:endParaRPr lang="en-US" sz="1100" b="0" i="0" u="none" strike="noStrike" kern="1200" baseline="0" dirty="0">
                        <a:solidFill>
                          <a:schemeClr val="accent3">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cxnSp>
        <p:nvCxnSpPr>
          <p:cNvPr id="9" name="Straight Arrow Connector 8"/>
          <p:cNvCxnSpPr/>
          <p:nvPr/>
        </p:nvCxnSpPr>
        <p:spPr>
          <a:xfrm flipH="1">
            <a:off x="4191000" y="590550"/>
            <a:ext cx="2286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1752600" y="819150"/>
            <a:ext cx="3810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5486400" y="438150"/>
            <a:ext cx="762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6477000" y="514350"/>
            <a:ext cx="762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8" name="Table 17"/>
          <p:cNvGraphicFramePr>
            <a:graphicFrameLocks noGrp="1"/>
          </p:cNvGraphicFramePr>
          <p:nvPr/>
        </p:nvGraphicFramePr>
        <p:xfrm>
          <a:off x="838200" y="514350"/>
          <a:ext cx="1066800" cy="190500"/>
        </p:xfrm>
        <a:graphic>
          <a:graphicData uri="http://schemas.openxmlformats.org/drawingml/2006/table">
            <a:tbl>
              <a:tblPr/>
              <a:tblGrid>
                <a:gridCol w="1066800"/>
              </a:tblGrid>
              <a:tr h="190500">
                <a:tc>
                  <a:txBody>
                    <a:bodyPr/>
                    <a:lstStyle/>
                    <a:p>
                      <a:pPr algn="l" fontAlgn="b"/>
                      <a:r>
                        <a:rPr lang="en-US" sz="1100" b="0" i="0" u="none" strike="noStrike" baseline="0" dirty="0" smtClean="0">
                          <a:solidFill>
                            <a:schemeClr val="accent3">
                              <a:lumMod val="75000"/>
                            </a:schemeClr>
                          </a:solidFill>
                          <a:latin typeface="Calibri"/>
                        </a:rPr>
                        <a:t>Deductible Phase</a:t>
                      </a:r>
                      <a:endParaRPr lang="en-US" sz="1100" b="0" i="0" u="none" strike="noStrike" baseline="0" dirty="0">
                        <a:solidFill>
                          <a:schemeClr val="accent3">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2057400" y="438150"/>
          <a:ext cx="1066800" cy="344805"/>
        </p:xfrm>
        <a:graphic>
          <a:graphicData uri="http://schemas.openxmlformats.org/drawingml/2006/table">
            <a:tbl>
              <a:tblPr/>
              <a:tblGrid>
                <a:gridCol w="1066800"/>
              </a:tblGrid>
              <a:tr h="190500">
                <a:tc>
                  <a:txBody>
                    <a:bodyPr/>
                    <a:lstStyle/>
                    <a:p>
                      <a:pPr algn="l" fontAlgn="b"/>
                      <a:r>
                        <a:rPr lang="en-US" sz="1100" b="0" i="0" u="none" strike="noStrike" baseline="0" dirty="0" smtClean="0">
                          <a:solidFill>
                            <a:schemeClr val="accent3">
                              <a:lumMod val="75000"/>
                            </a:schemeClr>
                          </a:solidFill>
                          <a:latin typeface="Calibri"/>
                        </a:rPr>
                        <a:t>Deduct </a:t>
                      </a:r>
                      <a:r>
                        <a:rPr lang="en-US" sz="1100" b="0" i="0" u="none" strike="noStrike" baseline="0" dirty="0" err="1" smtClean="0">
                          <a:solidFill>
                            <a:schemeClr val="accent3">
                              <a:lumMod val="75000"/>
                            </a:schemeClr>
                          </a:solidFill>
                          <a:latin typeface="Calibri"/>
                        </a:rPr>
                        <a:t>Paremeters</a:t>
                      </a:r>
                      <a:r>
                        <a:rPr lang="en-US" sz="1100" b="0" i="0" u="none" strike="noStrike" baseline="0" dirty="0" smtClean="0">
                          <a:solidFill>
                            <a:schemeClr val="accent3">
                              <a:lumMod val="75000"/>
                            </a:schemeClr>
                          </a:solidFill>
                          <a:latin typeface="Calibri"/>
                        </a:rPr>
                        <a:t> </a:t>
                      </a:r>
                      <a:endParaRPr lang="en-US" sz="1100" b="0" i="0" u="none" strike="noStrike" baseline="0" dirty="0">
                        <a:solidFill>
                          <a:schemeClr val="accent3">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22" name="Table 21"/>
          <p:cNvGraphicFramePr>
            <a:graphicFrameLocks noGrp="1"/>
          </p:cNvGraphicFramePr>
          <p:nvPr/>
        </p:nvGraphicFramePr>
        <p:xfrm>
          <a:off x="6324600" y="209550"/>
          <a:ext cx="1066800" cy="190500"/>
        </p:xfrm>
        <a:graphic>
          <a:graphicData uri="http://schemas.openxmlformats.org/drawingml/2006/table">
            <a:tbl>
              <a:tblPr/>
              <a:tblGrid>
                <a:gridCol w="1066800"/>
              </a:tblGrid>
              <a:tr h="190500">
                <a:tc>
                  <a:txBody>
                    <a:bodyPr/>
                    <a:lstStyle/>
                    <a:p>
                      <a:pPr algn="l" fontAlgn="b"/>
                      <a:r>
                        <a:rPr lang="en-US" sz="1100" b="0" i="0" u="none" strike="noStrike" baseline="0" dirty="0" smtClean="0">
                          <a:solidFill>
                            <a:schemeClr val="accent3">
                              <a:lumMod val="75000"/>
                            </a:schemeClr>
                          </a:solidFill>
                          <a:latin typeface="Calibri"/>
                        </a:rPr>
                        <a:t>Excluded Amount</a:t>
                      </a:r>
                      <a:endParaRPr lang="en-US" sz="1100" b="0" i="0" u="none" strike="noStrike" baseline="0" dirty="0">
                        <a:solidFill>
                          <a:schemeClr val="accent3">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7467600" y="285750"/>
          <a:ext cx="1066800" cy="190500"/>
        </p:xfrm>
        <a:graphic>
          <a:graphicData uri="http://schemas.openxmlformats.org/drawingml/2006/table">
            <a:tbl>
              <a:tblPr/>
              <a:tblGrid>
                <a:gridCol w="1066800"/>
              </a:tblGrid>
              <a:tr h="190500">
                <a:tc>
                  <a:txBody>
                    <a:bodyPr/>
                    <a:lstStyle/>
                    <a:p>
                      <a:pPr algn="l" fontAlgn="b"/>
                      <a:r>
                        <a:rPr lang="en-US" sz="1100" b="0" i="0" u="none" strike="noStrike" baseline="0" dirty="0" smtClean="0">
                          <a:solidFill>
                            <a:schemeClr val="accent3">
                              <a:lumMod val="75000"/>
                            </a:schemeClr>
                          </a:solidFill>
                          <a:latin typeface="Calibri"/>
                        </a:rPr>
                        <a:t>PLRO amount</a:t>
                      </a:r>
                      <a:endParaRPr lang="en-US" sz="1100" b="0" i="0" u="none" strike="noStrike" baseline="0" dirty="0">
                        <a:solidFill>
                          <a:schemeClr val="accent3">
                            <a:lumMod val="75000"/>
                          </a:schemeClr>
                        </a:solidFill>
                        <a:latin typeface="Calibri"/>
                      </a:endParaRPr>
                    </a:p>
                  </a:txBody>
                  <a:tcPr marL="9525" marR="9525" marT="9525" marB="0" anchor="b">
                    <a:lnL>
                      <a:noFill/>
                    </a:lnL>
                    <a:lnR>
                      <a:noFill/>
                    </a:lnR>
                    <a:lnT>
                      <a:noFill/>
                    </a:lnT>
                    <a:lnB>
                      <a:noFill/>
                    </a:lnB>
                  </a:tcPr>
                </a:tc>
              </a:tr>
            </a:tbl>
          </a:graphicData>
        </a:graphic>
      </p:graphicFrame>
    </p:spTree>
    <p:extLst>
      <p:ext uri="{BB962C8B-B14F-4D97-AF65-F5344CB8AC3E}">
        <p14:creationId xmlns:p14="http://schemas.microsoft.com/office/powerpoint/2010/main" xmlns="" val="51090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checkerboard(across)">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checkerboard(across)">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checkerboard(across)">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checkerboard(across)">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checkerboard(across)">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linds(horizontal)">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linds(horizontal)">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blinds(horizontal)">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ppt_x"/>
                                          </p:val>
                                        </p:tav>
                                        <p:tav tm="100000">
                                          <p:val>
                                            <p:strVal val="#ppt_x"/>
                                          </p:val>
                                        </p:tav>
                                      </p:tavLst>
                                    </p:anim>
                                    <p:anim calcmode="lin" valueType="num">
                                      <p:cBhvr additive="base">
                                        <p:cTn id="7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additive="base">
                                        <p:cTn id="79" dur="500" fill="hold"/>
                                        <p:tgtEl>
                                          <p:spTgt spid="12"/>
                                        </p:tgtEl>
                                        <p:attrNameLst>
                                          <p:attrName>ppt_x</p:attrName>
                                        </p:attrNameLst>
                                      </p:cBhvr>
                                      <p:tavLst>
                                        <p:tav tm="0">
                                          <p:val>
                                            <p:strVal val="#ppt_x"/>
                                          </p:val>
                                        </p:tav>
                                        <p:tav tm="100000">
                                          <p:val>
                                            <p:strVal val="#ppt_x"/>
                                          </p:val>
                                        </p:tav>
                                      </p:tavLst>
                                    </p:anim>
                                    <p:anim calcmode="lin" valueType="num">
                                      <p:cBhvr additive="base">
                                        <p:cTn id="8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4"/>
                                        </p:tgtEl>
                                        <p:attrNameLst>
                                          <p:attrName>style.visibility</p:attrName>
                                        </p:attrNameLst>
                                      </p:cBhvr>
                                      <p:to>
                                        <p:strVal val="visible"/>
                                      </p:to>
                                    </p:set>
                                    <p:anim calcmode="lin" valueType="num">
                                      <p:cBhvr additive="base">
                                        <p:cTn id="85" dur="500" fill="hold"/>
                                        <p:tgtEl>
                                          <p:spTgt spid="14"/>
                                        </p:tgtEl>
                                        <p:attrNameLst>
                                          <p:attrName>ppt_x</p:attrName>
                                        </p:attrNameLst>
                                      </p:cBhvr>
                                      <p:tavLst>
                                        <p:tav tm="0">
                                          <p:val>
                                            <p:strVal val="#ppt_x"/>
                                          </p:val>
                                        </p:tav>
                                        <p:tav tm="100000">
                                          <p:val>
                                            <p:strVal val="#ppt_x"/>
                                          </p:val>
                                        </p:tav>
                                      </p:tavLst>
                                    </p:anim>
                                    <p:anim calcmode="lin" valueType="num">
                                      <p:cBhvr additive="base">
                                        <p:cTn id="8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additive="base">
                                        <p:cTn id="97" dur="500" fill="hold"/>
                                        <p:tgtEl>
                                          <p:spTgt spid="23"/>
                                        </p:tgtEl>
                                        <p:attrNameLst>
                                          <p:attrName>ppt_x</p:attrName>
                                        </p:attrNameLst>
                                      </p:cBhvr>
                                      <p:tavLst>
                                        <p:tav tm="0">
                                          <p:val>
                                            <p:strVal val="#ppt_x"/>
                                          </p:val>
                                        </p:tav>
                                        <p:tav tm="100000">
                                          <p:val>
                                            <p:strVal val="#ppt_x"/>
                                          </p:val>
                                        </p:tav>
                                      </p:tavLst>
                                    </p:anim>
                                    <p:anim calcmode="lin" valueType="num">
                                      <p:cBhvr additive="base">
                                        <p:cTn id="9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11</a:t>
            </a:fld>
            <a:endParaRPr lang="en-US" dirty="0"/>
          </a:p>
        </p:txBody>
      </p:sp>
      <p:sp>
        <p:nvSpPr>
          <p:cNvPr id="7" name="Title 6"/>
          <p:cNvSpPr>
            <a:spLocks noGrp="1"/>
          </p:cNvSpPr>
          <p:nvPr>
            <p:ph type="title"/>
          </p:nvPr>
        </p:nvSpPr>
        <p:spPr/>
        <p:txBody>
          <a:bodyPr/>
          <a:lstStyle/>
          <a:p>
            <a:r>
              <a:rPr lang="en-US" dirty="0" smtClean="0"/>
              <a:t>Split Claims - Commercial</a:t>
            </a:r>
            <a:endParaRPr lang="en-US" dirty="0"/>
          </a:p>
        </p:txBody>
      </p:sp>
      <p:graphicFrame>
        <p:nvGraphicFramePr>
          <p:cNvPr id="8" name="Table 7"/>
          <p:cNvGraphicFramePr>
            <a:graphicFrameLocks noGrp="1"/>
          </p:cNvGraphicFramePr>
          <p:nvPr/>
        </p:nvGraphicFramePr>
        <p:xfrm>
          <a:off x="6934200" y="1200150"/>
          <a:ext cx="914400" cy="3276604"/>
        </p:xfrm>
        <a:graphic>
          <a:graphicData uri="http://schemas.openxmlformats.org/drawingml/2006/table">
            <a:tbl>
              <a:tblPr/>
              <a:tblGrid>
                <a:gridCol w="914400"/>
              </a:tblGrid>
              <a:tr h="819151">
                <a:tc>
                  <a:txBody>
                    <a:bodyPr/>
                    <a:lstStyle/>
                    <a:p>
                      <a:pPr algn="ctr" fontAlgn="b"/>
                      <a:r>
                        <a:rPr lang="en-US" sz="1100" b="0" i="0" u="none" strike="noStrike" dirty="0">
                          <a:solidFill>
                            <a:srgbClr val="000000"/>
                          </a:solidFill>
                          <a:latin typeface="Calibri"/>
                        </a:rPr>
                        <a:t>DED</a:t>
                      </a: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smtClean="0">
                          <a:solidFill>
                            <a:srgbClr val="000000"/>
                          </a:solidFill>
                          <a:latin typeface="Calibri"/>
                        </a:rPr>
                        <a:t>MOP</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smtClean="0">
                          <a:solidFill>
                            <a:srgbClr val="000000"/>
                          </a:solidFill>
                          <a:latin typeface="Calibri"/>
                        </a:rPr>
                        <a:t>MPP</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a:solidFill>
                            <a:srgbClr val="000000"/>
                          </a:solidFill>
                          <a:latin typeface="Calibri"/>
                        </a:rPr>
                        <a:t>After MPP</a:t>
                      </a: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80772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8077200" y="19621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80772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80772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8305800" y="1504950"/>
          <a:ext cx="381000" cy="190500"/>
        </p:xfrm>
        <a:graphic>
          <a:graphicData uri="http://schemas.openxmlformats.org/drawingml/2006/table">
            <a:tbl>
              <a:tblPr/>
              <a:tblGrid>
                <a:gridCol w="381000"/>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8229600" y="2190750"/>
          <a:ext cx="914400" cy="512445"/>
        </p:xfrm>
        <a:graphic>
          <a:graphicData uri="http://schemas.openxmlformats.org/drawingml/2006/table">
            <a:tbl>
              <a:tblPr/>
              <a:tblGrid>
                <a:gridCol w="914400"/>
              </a:tblGrid>
              <a:tr h="190500">
                <a:tc>
                  <a:txBody>
                    <a:bodyPr/>
                    <a:lstStyle/>
                    <a:p>
                      <a:pPr algn="l" fontAlgn="b"/>
                      <a:r>
                        <a:rPr lang="en-US" sz="1100" b="0" i="0" u="none" strike="noStrike" dirty="0">
                          <a:solidFill>
                            <a:srgbClr val="000000"/>
                          </a:solidFill>
                          <a:latin typeface="Calibri"/>
                        </a:rPr>
                        <a:t>COPAY/COINSURENCE FROM THE PLAN</a:t>
                      </a: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8229600" y="3028950"/>
          <a:ext cx="914400" cy="190500"/>
        </p:xfrm>
        <a:graphic>
          <a:graphicData uri="http://schemas.openxmlformats.org/drawingml/2006/table">
            <a:tbl>
              <a:tblPr/>
              <a:tblGrid>
                <a:gridCol w="914400"/>
              </a:tblGrid>
              <a:tr h="190500">
                <a:tc>
                  <a:txBody>
                    <a:bodyPr/>
                    <a:lstStyle/>
                    <a:p>
                      <a:pPr algn="l" fontAlgn="b"/>
                      <a:r>
                        <a:rPr lang="en-US" sz="1100" b="0" i="0" u="none" strike="noStrike" dirty="0" smtClean="0">
                          <a:solidFill>
                            <a:srgbClr val="000000"/>
                          </a:solidFill>
                          <a:latin typeface="Calibri"/>
                        </a:rPr>
                        <a:t>100% BY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8229600" y="3867150"/>
          <a:ext cx="685800" cy="512445"/>
        </p:xfrm>
        <a:graphic>
          <a:graphicData uri="http://schemas.openxmlformats.org/drawingml/2006/table">
            <a:tbl>
              <a:tblPr/>
              <a:tblGrid>
                <a:gridCol w="685800"/>
              </a:tblGrid>
              <a:tr h="190500">
                <a:tc>
                  <a:txBody>
                    <a:bodyPr/>
                    <a:lstStyle/>
                    <a:p>
                      <a:pPr algn="l" fontAlgn="b"/>
                      <a:r>
                        <a:rPr lang="en-US" sz="1100" b="0" i="0" u="none" strike="noStrike" dirty="0" smtClean="0">
                          <a:solidFill>
                            <a:srgbClr val="000000"/>
                          </a:solidFill>
                          <a:latin typeface="Calibri"/>
                        </a:rPr>
                        <a:t>Percentage</a:t>
                      </a:r>
                      <a:r>
                        <a:rPr lang="en-US" sz="1100" b="0" i="0" u="none" strike="noStrike" baseline="0" dirty="0" smtClean="0">
                          <a:solidFill>
                            <a:srgbClr val="000000"/>
                          </a:solidFill>
                          <a:latin typeface="Calibri"/>
                        </a:rPr>
                        <a:t> defined in the plan</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2" name="Table 31"/>
          <p:cNvGraphicFramePr>
            <a:graphicFrameLocks noGrp="1"/>
          </p:cNvGraphicFramePr>
          <p:nvPr/>
        </p:nvGraphicFramePr>
        <p:xfrm>
          <a:off x="685800" y="819150"/>
          <a:ext cx="838200" cy="1143000"/>
        </p:xfrm>
        <a:graphic>
          <a:graphicData uri="http://schemas.openxmlformats.org/drawingml/2006/table">
            <a:tbl>
              <a:tblPr/>
              <a:tblGrid>
                <a:gridCol w="457200"/>
                <a:gridCol w="381000"/>
              </a:tblGrid>
              <a:tr h="190500">
                <a:tc>
                  <a:txBody>
                    <a:bodyPr/>
                    <a:lstStyle/>
                    <a:p>
                      <a:pPr algn="ctr" fontAlgn="b"/>
                      <a:r>
                        <a:rPr lang="en-US" sz="1100" b="0" i="0" u="none" strike="noStrike" dirty="0">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n-US" sz="1100" b="0" i="0" u="none" strike="noStrike">
                          <a:solidFill>
                            <a:srgbClr val="000000"/>
                          </a:solidFill>
                          <a:latin typeface="Calibri"/>
                        </a:rPr>
                        <a:t>Limit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ctr" rtl="0" fontAlgn="b"/>
                      <a:r>
                        <a:rPr lang="en-US" sz="1100" b="0" i="0" u="none" strike="noStrike" dirty="0">
                          <a:solidFill>
                            <a:srgbClr val="000000"/>
                          </a:solidFill>
                          <a:latin typeface="Calibri"/>
                        </a:rPr>
                        <a:t>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a:solidFill>
                            <a:srgbClr val="000000"/>
                          </a:solidFill>
                          <a:latin typeface="Calibri"/>
                        </a:rPr>
                        <a:t>$</a:t>
                      </a:r>
                      <a:r>
                        <a:rPr lang="en-US" sz="1100" b="0" i="0" u="none" strike="noStrike" dirty="0" smtClean="0">
                          <a:solidFill>
                            <a:srgbClr val="000000"/>
                          </a:solidFill>
                          <a:latin typeface="Calibri"/>
                        </a:rPr>
                        <a:t>120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dirty="0">
                          <a:solidFill>
                            <a:srgbClr val="000000"/>
                          </a:solidFill>
                          <a:latin typeface="Calibri"/>
                        </a:rPr>
                        <a:t>MOP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$75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a:solidFill>
                            <a:srgbClr val="000000"/>
                          </a:solidFill>
                          <a:latin typeface="Calibri"/>
                        </a:rPr>
                        <a:t>MPP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$250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rtl="0" fontAlgn="b"/>
                      <a:r>
                        <a:rPr lang="en-US" sz="1100" b="0" i="0" u="none" strike="noStrike">
                          <a:solidFill>
                            <a:srgbClr val="000000"/>
                          </a:solidFill>
                          <a:latin typeface="Calibri"/>
                        </a:rPr>
                        <a:t>Post MPP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4" name="Table 13"/>
          <p:cNvGraphicFramePr>
            <a:graphicFrameLocks noGrp="1"/>
          </p:cNvGraphicFramePr>
          <p:nvPr/>
        </p:nvGraphicFramePr>
        <p:xfrm>
          <a:off x="685800" y="2190750"/>
          <a:ext cx="4267202" cy="381000"/>
        </p:xfrm>
        <a:graphic>
          <a:graphicData uri="http://schemas.openxmlformats.org/drawingml/2006/table">
            <a:tbl>
              <a:tblPr/>
              <a:tblGrid>
                <a:gridCol w="556592"/>
                <a:gridCol w="556592"/>
                <a:gridCol w="556592"/>
                <a:gridCol w="556592"/>
                <a:gridCol w="556592"/>
                <a:gridCol w="742121"/>
                <a:gridCol w="742121"/>
              </a:tblGrid>
              <a:tr h="190500">
                <a:tc>
                  <a:txBody>
                    <a:bodyPr/>
                    <a:lstStyle/>
                    <a:p>
                      <a:pPr algn="l" fontAlgn="b"/>
                      <a:r>
                        <a:rPr lang="en-US" sz="1100" b="0" i="0" u="none" strike="noStrike" dirty="0">
                          <a:solidFill>
                            <a:srgbClr val="000000"/>
                          </a:solidFill>
                          <a:latin typeface="Calibri"/>
                        </a:rPr>
                        <a:t>Claim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Copay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Plan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a:solidFill>
                            <a:srgbClr val="000000"/>
                          </a:solidFill>
                          <a:latin typeface="Calibri"/>
                        </a:rPr>
                        <a:t>member 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smtClean="0">
                          <a:solidFill>
                            <a:srgbClr val="000000"/>
                          </a:solidFill>
                          <a:latin typeface="Calibri"/>
                        </a:rPr>
                        <a:t>PLAN PAY</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l" fontAlgn="b"/>
                      <a:r>
                        <a:rPr lang="en-US" sz="1100" b="0" i="0" u="none" strike="noStrike" dirty="0" smtClean="0">
                          <a:solidFill>
                            <a:srgbClr val="000000"/>
                          </a:solidFill>
                          <a:latin typeface="Calibri"/>
                        </a:rPr>
                        <a:t>Claim 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Calibri"/>
                        </a:rPr>
                        <a:t>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 name="Table 15"/>
          <p:cNvGraphicFramePr>
            <a:graphicFrameLocks noGrp="1"/>
          </p:cNvGraphicFramePr>
          <p:nvPr/>
        </p:nvGraphicFramePr>
        <p:xfrm>
          <a:off x="7162800" y="1352550"/>
          <a:ext cx="355600" cy="344805"/>
        </p:xfrm>
        <a:graphic>
          <a:graphicData uri="http://schemas.openxmlformats.org/drawingml/2006/table">
            <a:tbl>
              <a:tblPr/>
              <a:tblGrid>
                <a:gridCol w="355600"/>
              </a:tblGrid>
              <a:tr h="190500">
                <a:tc>
                  <a:txBody>
                    <a:bodyPr/>
                    <a:lstStyle/>
                    <a:p>
                      <a:pPr algn="r" fontAlgn="b"/>
                      <a:r>
                        <a:rPr lang="en-US" sz="1100" b="0" i="0" u="none" strike="noStrike" dirty="0">
                          <a:solidFill>
                            <a:srgbClr val="000000"/>
                          </a:solidFill>
                          <a:latin typeface="Calibri"/>
                        </a:rPr>
                        <a:t>$50 </a:t>
                      </a:r>
                      <a:endParaRPr lang="en-US" sz="1100" b="0" i="0" u="none" strike="noStrike" dirty="0" smtClean="0">
                        <a:solidFill>
                          <a:srgbClr val="000000"/>
                        </a:solidFill>
                        <a:latin typeface="Calibri"/>
                      </a:endParaRPr>
                    </a:p>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7" name="Table 16"/>
          <p:cNvGraphicFramePr>
            <a:graphicFrameLocks noGrp="1"/>
          </p:cNvGraphicFramePr>
          <p:nvPr/>
        </p:nvGraphicFramePr>
        <p:xfrm>
          <a:off x="1828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$70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$250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2" name="Table 21"/>
          <p:cNvGraphicFramePr>
            <a:graphicFrameLocks noGrp="1"/>
          </p:cNvGraphicFramePr>
          <p:nvPr/>
        </p:nvGraphicFramePr>
        <p:xfrm>
          <a:off x="2209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$20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$250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685800" y="2571750"/>
          <a:ext cx="4267202" cy="190500"/>
        </p:xfrm>
        <a:graphic>
          <a:graphicData uri="http://schemas.openxmlformats.org/drawingml/2006/table">
            <a:tbl>
              <a:tblPr/>
              <a:tblGrid>
                <a:gridCol w="556592"/>
                <a:gridCol w="556592"/>
                <a:gridCol w="556592"/>
                <a:gridCol w="556592"/>
                <a:gridCol w="556592"/>
                <a:gridCol w="742121"/>
                <a:gridCol w="742121"/>
              </a:tblGrid>
              <a:tr h="190500">
                <a:tc>
                  <a:txBody>
                    <a:bodyPr/>
                    <a:lstStyle/>
                    <a:p>
                      <a:pPr algn="l" fontAlgn="b"/>
                      <a:r>
                        <a:rPr lang="en-US" sz="1100" b="0" i="0" u="none" strike="noStrike" dirty="0" smtClean="0">
                          <a:solidFill>
                            <a:srgbClr val="000000"/>
                          </a:solidFill>
                          <a:latin typeface="Calibri"/>
                        </a:rPr>
                        <a:t>Claim 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Calibri"/>
                        </a:rPr>
                        <a:t>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685800" y="2800350"/>
          <a:ext cx="4267201" cy="190500"/>
        </p:xfrm>
        <a:graphic>
          <a:graphicData uri="http://schemas.openxmlformats.org/drawingml/2006/table">
            <a:tbl>
              <a:tblPr/>
              <a:tblGrid>
                <a:gridCol w="565817"/>
                <a:gridCol w="565817"/>
                <a:gridCol w="565817"/>
                <a:gridCol w="565817"/>
                <a:gridCol w="636543"/>
                <a:gridCol w="683695"/>
                <a:gridCol w="683695"/>
              </a:tblGrid>
              <a:tr h="190500">
                <a:tc>
                  <a:txBody>
                    <a:bodyPr/>
                    <a:lstStyle/>
                    <a:p>
                      <a:pPr algn="l" fontAlgn="b"/>
                      <a:r>
                        <a:rPr lang="en-US" sz="1100" b="0" i="0" u="none" strike="noStrike" dirty="0" smtClean="0">
                          <a:solidFill>
                            <a:srgbClr val="000000"/>
                          </a:solidFill>
                          <a:latin typeface="Calibri"/>
                        </a:rPr>
                        <a:t>Claim </a:t>
                      </a:r>
                      <a:r>
                        <a:rPr lang="en-US" sz="1100" b="0" i="0" u="none" strike="noStrike" dirty="0">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DED&amp;MPP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20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2590800" y="742950"/>
          <a:ext cx="381001" cy="1274445"/>
        </p:xfrm>
        <a:graphic>
          <a:graphicData uri="http://schemas.openxmlformats.org/drawingml/2006/table">
            <a:tbl>
              <a:tblPr/>
              <a:tblGrid>
                <a:gridCol w="381001"/>
              </a:tblGrid>
              <a:tr h="381000">
                <a:tc>
                  <a:txBody>
                    <a:bodyPr/>
                    <a:lstStyle/>
                    <a:p>
                      <a:pPr algn="l" rtl="0" fontAlgn="b"/>
                      <a:r>
                        <a:rPr lang="en-US" sz="1100" b="0" i="0" u="none" strike="noStrike" dirty="0">
                          <a:solidFill>
                            <a:srgbClr val="000000"/>
                          </a:solidFill>
                          <a:latin typeface="Calibri"/>
                        </a:rPr>
                        <a:t>Limit After -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$25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$210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6" name="Table 25"/>
          <p:cNvGraphicFramePr>
            <a:graphicFrameLocks noGrp="1"/>
          </p:cNvGraphicFramePr>
          <p:nvPr/>
        </p:nvGraphicFramePr>
        <p:xfrm>
          <a:off x="2971800" y="738999"/>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$15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$170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4">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 name="Table 27"/>
          <p:cNvGraphicFramePr>
            <a:graphicFrameLocks noGrp="1"/>
          </p:cNvGraphicFramePr>
          <p:nvPr/>
        </p:nvGraphicFramePr>
        <p:xfrm>
          <a:off x="685800" y="3028950"/>
          <a:ext cx="4267201" cy="190500"/>
        </p:xfrm>
        <a:graphic>
          <a:graphicData uri="http://schemas.openxmlformats.org/drawingml/2006/table">
            <a:tbl>
              <a:tblPr/>
              <a:tblGrid>
                <a:gridCol w="565817"/>
                <a:gridCol w="565817"/>
                <a:gridCol w="565817"/>
                <a:gridCol w="565817"/>
                <a:gridCol w="708532"/>
                <a:gridCol w="611706"/>
                <a:gridCol w="683695"/>
              </a:tblGrid>
              <a:tr h="190500">
                <a:tc>
                  <a:txBody>
                    <a:bodyPr/>
                    <a:lstStyle/>
                    <a:p>
                      <a:pPr algn="l" fontAlgn="b"/>
                      <a:r>
                        <a:rPr lang="en-US" sz="1100" b="0" i="0" u="none" strike="noStrike" dirty="0" smtClean="0">
                          <a:solidFill>
                            <a:srgbClr val="000000"/>
                          </a:solidFill>
                          <a:latin typeface="Calibri"/>
                        </a:rPr>
                        <a:t>Claim 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MOP&amp;MPP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1981200" y="3257550"/>
          <a:ext cx="609600" cy="190500"/>
        </p:xfrm>
        <a:graphic>
          <a:graphicData uri="http://schemas.openxmlformats.org/drawingml/2006/table">
            <a:tbl>
              <a:tblPr/>
              <a:tblGrid>
                <a:gridCol w="609600"/>
              </a:tblGrid>
              <a:tr h="190500">
                <a:tc>
                  <a:txBody>
                    <a:bodyPr/>
                    <a:lstStyle/>
                    <a:p>
                      <a:pPr algn="l" fontAlgn="b"/>
                      <a:r>
                        <a:rPr lang="en-US" sz="1100" b="0" i="0" u="none" strike="noStrike" dirty="0">
                          <a:solidFill>
                            <a:srgbClr val="000000"/>
                          </a:solidFill>
                          <a:latin typeface="Calibri"/>
                        </a:rPr>
                        <a:t>|</a:t>
                      </a:r>
                    </a:p>
                  </a:txBody>
                  <a:tcPr marL="9525" marR="9525" marT="9525" marB="0" anchor="b">
                    <a:lnL>
                      <a:noFill/>
                    </a:lnL>
                    <a:lnR>
                      <a:noFill/>
                    </a:lnR>
                    <a:lnT>
                      <a:noFill/>
                    </a:lnT>
                    <a:lnB>
                      <a:noFill/>
                    </a:lnB>
                  </a:tcPr>
                </a:tc>
              </a:tr>
            </a:tbl>
          </a:graphicData>
        </a:graphic>
      </p:graphicFrame>
      <p:graphicFrame>
        <p:nvGraphicFramePr>
          <p:cNvPr id="34" name="Table 33"/>
          <p:cNvGraphicFramePr>
            <a:graphicFrameLocks noGrp="1"/>
          </p:cNvGraphicFramePr>
          <p:nvPr/>
        </p:nvGraphicFramePr>
        <p:xfrm>
          <a:off x="3733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$130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4495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$95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6" name="Table 35"/>
          <p:cNvGraphicFramePr>
            <a:graphicFrameLocks noGrp="1"/>
          </p:cNvGraphicFramePr>
          <p:nvPr/>
        </p:nvGraphicFramePr>
        <p:xfrm>
          <a:off x="685800" y="3714750"/>
          <a:ext cx="4343398" cy="190500"/>
        </p:xfrm>
        <a:graphic>
          <a:graphicData uri="http://schemas.openxmlformats.org/drawingml/2006/table">
            <a:tbl>
              <a:tblPr/>
              <a:tblGrid>
                <a:gridCol w="575920"/>
                <a:gridCol w="575920"/>
                <a:gridCol w="575920"/>
                <a:gridCol w="575920"/>
                <a:gridCol w="744320"/>
                <a:gridCol w="599494"/>
                <a:gridCol w="695904"/>
              </a:tblGrid>
              <a:tr h="190500">
                <a:tc>
                  <a:txBody>
                    <a:bodyPr/>
                    <a:lstStyle/>
                    <a:p>
                      <a:pPr algn="l" fontAlgn="b"/>
                      <a:r>
                        <a:rPr lang="en-US" sz="1100" b="0" i="0" u="none" strike="noStrike" dirty="0" smtClean="0">
                          <a:solidFill>
                            <a:srgbClr val="000000"/>
                          </a:solidFill>
                          <a:latin typeface="Calibri"/>
                        </a:rPr>
                        <a:t>Claim 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MOP&amp;MPP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 name="Table 36"/>
          <p:cNvGraphicFramePr>
            <a:graphicFrameLocks noGrp="1"/>
          </p:cNvGraphicFramePr>
          <p:nvPr/>
        </p:nvGraphicFramePr>
        <p:xfrm>
          <a:off x="685800" y="3943350"/>
          <a:ext cx="4317997" cy="190500"/>
        </p:xfrm>
        <a:graphic>
          <a:graphicData uri="http://schemas.openxmlformats.org/drawingml/2006/table">
            <a:tbl>
              <a:tblPr/>
              <a:tblGrid>
                <a:gridCol w="572552"/>
                <a:gridCol w="572552"/>
                <a:gridCol w="572552"/>
                <a:gridCol w="572552"/>
                <a:gridCol w="656192"/>
                <a:gridCol w="679763"/>
                <a:gridCol w="691834"/>
              </a:tblGrid>
              <a:tr h="190500">
                <a:tc>
                  <a:txBody>
                    <a:bodyPr/>
                    <a:lstStyle/>
                    <a:p>
                      <a:pPr algn="l" fontAlgn="b"/>
                      <a:r>
                        <a:rPr lang="en-US" sz="1100" b="0" i="0" u="none" strike="noStrike" dirty="0" smtClean="0">
                          <a:solidFill>
                            <a:srgbClr val="000000"/>
                          </a:solidFill>
                          <a:latin typeface="Calibri"/>
                        </a:rPr>
                        <a:t>Claim 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685800" y="4171950"/>
          <a:ext cx="4318002" cy="344805"/>
        </p:xfrm>
        <a:graphic>
          <a:graphicData uri="http://schemas.openxmlformats.org/drawingml/2006/table">
            <a:tbl>
              <a:tblPr/>
              <a:tblGrid>
                <a:gridCol w="563218"/>
                <a:gridCol w="563218"/>
                <a:gridCol w="563218"/>
                <a:gridCol w="563218"/>
                <a:gridCol w="563218"/>
                <a:gridCol w="750956"/>
                <a:gridCol w="750956"/>
              </a:tblGrid>
              <a:tr h="190500">
                <a:tc>
                  <a:txBody>
                    <a:bodyPr/>
                    <a:lstStyle/>
                    <a:p>
                      <a:pPr algn="l" fontAlgn="b"/>
                      <a:r>
                        <a:rPr lang="en-US" sz="1100" b="0" i="0" u="none" strike="noStrike" dirty="0" smtClean="0">
                          <a:solidFill>
                            <a:srgbClr val="000000"/>
                          </a:solidFill>
                          <a:latin typeface="Calibri"/>
                        </a:rPr>
                        <a:t>Claim</a:t>
                      </a:r>
                      <a:r>
                        <a:rPr lang="en-US" sz="1100" b="0" i="0" u="none" strike="noStrike" baseline="0" dirty="0" smtClean="0">
                          <a:solidFill>
                            <a:srgbClr val="000000"/>
                          </a:solidFill>
                          <a:latin typeface="Calibri"/>
                        </a:rPr>
                        <a:t> 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MPP&amp;PMPP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 name="Table 40"/>
          <p:cNvGraphicFramePr>
            <a:graphicFrameLocks noGrp="1"/>
          </p:cNvGraphicFramePr>
          <p:nvPr/>
        </p:nvGraphicFramePr>
        <p:xfrm>
          <a:off x="685800" y="4629150"/>
          <a:ext cx="4343401" cy="190500"/>
        </p:xfrm>
        <a:graphic>
          <a:graphicData uri="http://schemas.openxmlformats.org/drawingml/2006/table">
            <a:tbl>
              <a:tblPr/>
              <a:tblGrid>
                <a:gridCol w="566531"/>
                <a:gridCol w="566531"/>
                <a:gridCol w="566531"/>
                <a:gridCol w="566531"/>
                <a:gridCol w="566531"/>
                <a:gridCol w="755373"/>
                <a:gridCol w="755373"/>
              </a:tblGrid>
              <a:tr h="190500">
                <a:tc>
                  <a:txBody>
                    <a:bodyPr/>
                    <a:lstStyle/>
                    <a:p>
                      <a:pPr algn="l" fontAlgn="b"/>
                      <a:r>
                        <a:rPr lang="en-US" sz="1100" b="0" i="0" u="none" strike="noStrike" dirty="0" smtClean="0">
                          <a:solidFill>
                            <a:srgbClr val="000000"/>
                          </a:solidFill>
                          <a:latin typeface="Calibri"/>
                        </a:rPr>
                        <a:t>Claim 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Post</a:t>
                      </a:r>
                      <a:r>
                        <a:rPr lang="en-US" sz="1100" b="0" i="0" u="none" strike="noStrike" baseline="0" dirty="0" smtClean="0">
                          <a:solidFill>
                            <a:srgbClr val="000000"/>
                          </a:solidFill>
                          <a:latin typeface="Calibri"/>
                        </a:rPr>
                        <a:t> MPP</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2" name="Table 41"/>
          <p:cNvGraphicFramePr>
            <a:graphicFrameLocks noGrp="1"/>
          </p:cNvGraphicFramePr>
          <p:nvPr/>
        </p:nvGraphicFramePr>
        <p:xfrm>
          <a:off x="51816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$45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3" name="Table 42"/>
          <p:cNvGraphicFramePr>
            <a:graphicFrameLocks noGrp="1"/>
          </p:cNvGraphicFramePr>
          <p:nvPr/>
        </p:nvGraphicFramePr>
        <p:xfrm>
          <a:off x="60960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8" name="Right Brace 47"/>
          <p:cNvSpPr/>
          <p:nvPr/>
        </p:nvSpPr>
        <p:spPr>
          <a:xfrm>
            <a:off x="7924800" y="2114550"/>
            <a:ext cx="76200" cy="1524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blinds(horizontal)">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blinds(horizontal)">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linds(horizontal)">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ppt_x"/>
                                          </p:val>
                                        </p:tav>
                                        <p:tav tm="100000">
                                          <p:val>
                                            <p:strVal val="#ppt_x"/>
                                          </p:val>
                                        </p:tav>
                                      </p:tavLst>
                                    </p:anim>
                                    <p:anim calcmode="lin" valueType="num">
                                      <p:cBhvr additive="base">
                                        <p:cTn id="6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checkerboard(across)">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8" presetClass="entr" presetSubtype="16"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diamond(in)">
                                      <p:cBhvr>
                                        <p:cTn id="79" dur="20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5" presetClass="entr" presetSubtype="10" fill="hold"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checkerboard(across)">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500" fill="hold"/>
                                        <p:tgtEl>
                                          <p:spTgt spid="24"/>
                                        </p:tgtEl>
                                        <p:attrNameLst>
                                          <p:attrName>ppt_x</p:attrName>
                                        </p:attrNameLst>
                                      </p:cBhvr>
                                      <p:tavLst>
                                        <p:tav tm="0">
                                          <p:val>
                                            <p:strVal val="#ppt_x"/>
                                          </p:val>
                                        </p:tav>
                                        <p:tav tm="100000">
                                          <p:val>
                                            <p:strVal val="#ppt_x"/>
                                          </p:val>
                                        </p:tav>
                                      </p:tavLst>
                                    </p:anim>
                                    <p:anim calcmode="lin" valueType="num">
                                      <p:cBhvr additive="base">
                                        <p:cTn id="9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5" presetClass="entr" presetSubtype="10" fill="hold"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checkerboard(across)">
                                      <p:cBhvr>
                                        <p:cTn id="95" dur="500"/>
                                        <p:tgtEl>
                                          <p:spTgt spid="25"/>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nodeType="click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additive="base">
                                        <p:cTn id="100" dur="500" fill="hold"/>
                                        <p:tgtEl>
                                          <p:spTgt spid="28"/>
                                        </p:tgtEl>
                                        <p:attrNameLst>
                                          <p:attrName>ppt_x</p:attrName>
                                        </p:attrNameLst>
                                      </p:cBhvr>
                                      <p:tavLst>
                                        <p:tav tm="0">
                                          <p:val>
                                            <p:strVal val="#ppt_x"/>
                                          </p:val>
                                        </p:tav>
                                        <p:tav tm="100000">
                                          <p:val>
                                            <p:strVal val="#ppt_x"/>
                                          </p:val>
                                        </p:tav>
                                      </p:tavLst>
                                    </p:anim>
                                    <p:anim calcmode="lin" valueType="num">
                                      <p:cBhvr additive="base">
                                        <p:cTn id="10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5" presetClass="entr" presetSubtype="10" fill="hold" nodeType="click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checkerboard(across)">
                                      <p:cBhvr>
                                        <p:cTn id="106" dur="500"/>
                                        <p:tgtEl>
                                          <p:spTgt spid="26"/>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nodeType="clickEffect">
                                  <p:stCondLst>
                                    <p:cond delay="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ppt_x</p:attrName>
                                        </p:attrNameLst>
                                      </p:cBhvr>
                                      <p:tavLst>
                                        <p:tav tm="0">
                                          <p:val>
                                            <p:strVal val="#ppt_x"/>
                                          </p:val>
                                        </p:tav>
                                        <p:tav tm="100000">
                                          <p:val>
                                            <p:strVal val="#ppt_x"/>
                                          </p:val>
                                        </p:tav>
                                      </p:tavLst>
                                    </p:anim>
                                    <p:anim calcmode="lin" valueType="num">
                                      <p:cBhvr additive="base">
                                        <p:cTn id="1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36"/>
                                        </p:tgtEl>
                                        <p:attrNameLst>
                                          <p:attrName>style.visibility</p:attrName>
                                        </p:attrNameLst>
                                      </p:cBhvr>
                                      <p:to>
                                        <p:strVal val="visible"/>
                                      </p:to>
                                    </p:set>
                                    <p:anim calcmode="lin" valueType="num">
                                      <p:cBhvr additive="base">
                                        <p:cTn id="117" dur="500" fill="hold"/>
                                        <p:tgtEl>
                                          <p:spTgt spid="36"/>
                                        </p:tgtEl>
                                        <p:attrNameLst>
                                          <p:attrName>ppt_x</p:attrName>
                                        </p:attrNameLst>
                                      </p:cBhvr>
                                      <p:tavLst>
                                        <p:tav tm="0">
                                          <p:val>
                                            <p:strVal val="#ppt_x"/>
                                          </p:val>
                                        </p:tav>
                                        <p:tav tm="100000">
                                          <p:val>
                                            <p:strVal val="#ppt_x"/>
                                          </p:val>
                                        </p:tav>
                                      </p:tavLst>
                                    </p:anim>
                                    <p:anim calcmode="lin" valueType="num">
                                      <p:cBhvr additive="base">
                                        <p:cTn id="11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5" presetClass="entr" presetSubtype="10" fill="hold" nodeType="click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checkerboard(across)">
                                      <p:cBhvr>
                                        <p:cTn id="123" dur="500"/>
                                        <p:tgtEl>
                                          <p:spTgt spid="34"/>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37"/>
                                        </p:tgtEl>
                                        <p:attrNameLst>
                                          <p:attrName>style.visibility</p:attrName>
                                        </p:attrNameLst>
                                      </p:cBhvr>
                                      <p:to>
                                        <p:strVal val="visible"/>
                                      </p:to>
                                    </p:set>
                                    <p:anim calcmode="lin" valueType="num">
                                      <p:cBhvr additive="base">
                                        <p:cTn id="128" dur="500" fill="hold"/>
                                        <p:tgtEl>
                                          <p:spTgt spid="37"/>
                                        </p:tgtEl>
                                        <p:attrNameLst>
                                          <p:attrName>ppt_x</p:attrName>
                                        </p:attrNameLst>
                                      </p:cBhvr>
                                      <p:tavLst>
                                        <p:tav tm="0">
                                          <p:val>
                                            <p:strVal val="#ppt_x"/>
                                          </p:val>
                                        </p:tav>
                                        <p:tav tm="100000">
                                          <p:val>
                                            <p:strVal val="#ppt_x"/>
                                          </p:val>
                                        </p:tav>
                                      </p:tavLst>
                                    </p:anim>
                                    <p:anim calcmode="lin" valueType="num">
                                      <p:cBhvr additive="base">
                                        <p:cTn id="12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5" presetClass="entr" presetSubtype="10" fill="hold" nodeType="click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checkerboard(across)">
                                      <p:cBhvr>
                                        <p:cTn id="134" dur="500"/>
                                        <p:tgtEl>
                                          <p:spTgt spid="35"/>
                                        </p:tgtEl>
                                      </p:cBhvr>
                                    </p:animEffect>
                                  </p:childTnLst>
                                </p:cTn>
                              </p:par>
                            </p:childTnLst>
                          </p:cTn>
                        </p:par>
                      </p:childTnLst>
                    </p:cTn>
                  </p:par>
                  <p:par>
                    <p:cTn id="135" fill="hold">
                      <p:stCondLst>
                        <p:cond delay="indefinite"/>
                      </p:stCondLst>
                      <p:childTnLst>
                        <p:par>
                          <p:cTn id="136" fill="hold">
                            <p:stCondLst>
                              <p:cond delay="0"/>
                            </p:stCondLst>
                            <p:childTnLst>
                              <p:par>
                                <p:cTn id="137" presetID="5" presetClass="entr" presetSubtype="10" fill="hold" nodeType="clickEffect">
                                  <p:stCondLst>
                                    <p:cond delay="0"/>
                                  </p:stCondLst>
                                  <p:childTnLst>
                                    <p:set>
                                      <p:cBhvr>
                                        <p:cTn id="138" dur="1" fill="hold">
                                          <p:stCondLst>
                                            <p:cond delay="0"/>
                                          </p:stCondLst>
                                        </p:cTn>
                                        <p:tgtEl>
                                          <p:spTgt spid="42"/>
                                        </p:tgtEl>
                                        <p:attrNameLst>
                                          <p:attrName>style.visibility</p:attrName>
                                        </p:attrNameLst>
                                      </p:cBhvr>
                                      <p:to>
                                        <p:strVal val="visible"/>
                                      </p:to>
                                    </p:set>
                                    <p:animEffect transition="in" filter="checkerboard(across)">
                                      <p:cBhvr>
                                        <p:cTn id="139" dur="500"/>
                                        <p:tgtEl>
                                          <p:spTgt spid="42"/>
                                        </p:tgtEl>
                                      </p:cBhvr>
                                    </p:animEffect>
                                  </p:childTnLst>
                                </p:cTn>
                              </p:par>
                            </p:childTnLst>
                          </p:cTn>
                        </p:par>
                      </p:childTnLst>
                    </p:cTn>
                  </p:par>
                  <p:par>
                    <p:cTn id="140" fill="hold">
                      <p:stCondLst>
                        <p:cond delay="indefinite"/>
                      </p:stCondLst>
                      <p:childTnLst>
                        <p:par>
                          <p:cTn id="141" fill="hold">
                            <p:stCondLst>
                              <p:cond delay="0"/>
                            </p:stCondLst>
                            <p:childTnLst>
                              <p:par>
                                <p:cTn id="142" presetID="2" presetClass="entr" presetSubtype="4" fill="hold" nodeType="clickEffect">
                                  <p:stCondLst>
                                    <p:cond delay="0"/>
                                  </p:stCondLst>
                                  <p:childTnLst>
                                    <p:set>
                                      <p:cBhvr>
                                        <p:cTn id="143" dur="1" fill="hold">
                                          <p:stCondLst>
                                            <p:cond delay="0"/>
                                          </p:stCondLst>
                                        </p:cTn>
                                        <p:tgtEl>
                                          <p:spTgt spid="40"/>
                                        </p:tgtEl>
                                        <p:attrNameLst>
                                          <p:attrName>style.visibility</p:attrName>
                                        </p:attrNameLst>
                                      </p:cBhvr>
                                      <p:to>
                                        <p:strVal val="visible"/>
                                      </p:to>
                                    </p:set>
                                    <p:anim calcmode="lin" valueType="num">
                                      <p:cBhvr additive="base">
                                        <p:cTn id="144" dur="500" fill="hold"/>
                                        <p:tgtEl>
                                          <p:spTgt spid="40"/>
                                        </p:tgtEl>
                                        <p:attrNameLst>
                                          <p:attrName>ppt_x</p:attrName>
                                        </p:attrNameLst>
                                      </p:cBhvr>
                                      <p:tavLst>
                                        <p:tav tm="0">
                                          <p:val>
                                            <p:strVal val="#ppt_x"/>
                                          </p:val>
                                        </p:tav>
                                        <p:tav tm="100000">
                                          <p:val>
                                            <p:strVal val="#ppt_x"/>
                                          </p:val>
                                        </p:tav>
                                      </p:tavLst>
                                    </p:anim>
                                    <p:anim calcmode="lin" valueType="num">
                                      <p:cBhvr additive="base">
                                        <p:cTn id="14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5" presetClass="entr" presetSubtype="10" fill="hold" nodeType="clickEffect">
                                  <p:stCondLst>
                                    <p:cond delay="0"/>
                                  </p:stCondLst>
                                  <p:childTnLst>
                                    <p:set>
                                      <p:cBhvr>
                                        <p:cTn id="149" dur="1" fill="hold">
                                          <p:stCondLst>
                                            <p:cond delay="0"/>
                                          </p:stCondLst>
                                        </p:cTn>
                                        <p:tgtEl>
                                          <p:spTgt spid="43"/>
                                        </p:tgtEl>
                                        <p:attrNameLst>
                                          <p:attrName>style.visibility</p:attrName>
                                        </p:attrNameLst>
                                      </p:cBhvr>
                                      <p:to>
                                        <p:strVal val="visible"/>
                                      </p:to>
                                    </p:set>
                                    <p:animEffect transition="in" filter="checkerboard(across)">
                                      <p:cBhvr>
                                        <p:cTn id="150" dur="500"/>
                                        <p:tgtEl>
                                          <p:spTgt spid="43"/>
                                        </p:tgtEl>
                                      </p:cBhvr>
                                    </p:animEffect>
                                  </p:childTnLst>
                                </p:cTn>
                              </p:par>
                            </p:childTnLst>
                          </p:cTn>
                        </p:par>
                      </p:childTnLst>
                    </p:cTn>
                  </p:par>
                  <p:par>
                    <p:cTn id="151" fill="hold">
                      <p:stCondLst>
                        <p:cond delay="indefinite"/>
                      </p:stCondLst>
                      <p:childTnLst>
                        <p:par>
                          <p:cTn id="152" fill="hold">
                            <p:stCondLst>
                              <p:cond delay="0"/>
                            </p:stCondLst>
                            <p:childTnLst>
                              <p:par>
                                <p:cTn id="153" presetID="2" presetClass="entr" presetSubtype="4" fill="hold" nodeType="clickEffect">
                                  <p:stCondLst>
                                    <p:cond delay="0"/>
                                  </p:stCondLst>
                                  <p:childTnLst>
                                    <p:set>
                                      <p:cBhvr>
                                        <p:cTn id="154" dur="1" fill="hold">
                                          <p:stCondLst>
                                            <p:cond delay="0"/>
                                          </p:stCondLst>
                                        </p:cTn>
                                        <p:tgtEl>
                                          <p:spTgt spid="41"/>
                                        </p:tgtEl>
                                        <p:attrNameLst>
                                          <p:attrName>style.visibility</p:attrName>
                                        </p:attrNameLst>
                                      </p:cBhvr>
                                      <p:to>
                                        <p:strVal val="visible"/>
                                      </p:to>
                                    </p:set>
                                    <p:anim calcmode="lin" valueType="num">
                                      <p:cBhvr additive="base">
                                        <p:cTn id="155" dur="500" fill="hold"/>
                                        <p:tgtEl>
                                          <p:spTgt spid="41"/>
                                        </p:tgtEl>
                                        <p:attrNameLst>
                                          <p:attrName>ppt_x</p:attrName>
                                        </p:attrNameLst>
                                      </p:cBhvr>
                                      <p:tavLst>
                                        <p:tav tm="0">
                                          <p:val>
                                            <p:strVal val="#ppt_x"/>
                                          </p:val>
                                        </p:tav>
                                        <p:tav tm="100000">
                                          <p:val>
                                            <p:strVal val="#ppt_x"/>
                                          </p:val>
                                        </p:tav>
                                      </p:tavLst>
                                    </p:anim>
                                    <p:anim calcmode="lin" valueType="num">
                                      <p:cBhvr additive="base">
                                        <p:cTn id="15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4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12</a:t>
            </a:fld>
            <a:endParaRPr lang="en-US" dirty="0"/>
          </a:p>
        </p:txBody>
      </p:sp>
      <p:sp>
        <p:nvSpPr>
          <p:cNvPr id="7" name="Title 6"/>
          <p:cNvSpPr>
            <a:spLocks noGrp="1"/>
          </p:cNvSpPr>
          <p:nvPr>
            <p:ph type="title"/>
          </p:nvPr>
        </p:nvSpPr>
        <p:spPr/>
        <p:txBody>
          <a:bodyPr/>
          <a:lstStyle/>
          <a:p>
            <a:r>
              <a:rPr lang="en-US" dirty="0" smtClean="0"/>
              <a:t>PART-D Deductible Plan</a:t>
            </a:r>
            <a:endParaRPr lang="en-US" dirty="0"/>
          </a:p>
        </p:txBody>
      </p:sp>
      <p:graphicFrame>
        <p:nvGraphicFramePr>
          <p:cNvPr id="8" name="Table 7"/>
          <p:cNvGraphicFramePr>
            <a:graphicFrameLocks noGrp="1"/>
          </p:cNvGraphicFramePr>
          <p:nvPr/>
        </p:nvGraphicFramePr>
        <p:xfrm>
          <a:off x="5867400" y="1200150"/>
          <a:ext cx="1447800" cy="3276604"/>
        </p:xfrm>
        <a:graphic>
          <a:graphicData uri="http://schemas.openxmlformats.org/drawingml/2006/table">
            <a:tbl>
              <a:tblPr/>
              <a:tblGrid>
                <a:gridCol w="1447800"/>
              </a:tblGrid>
              <a:tr h="819151">
                <a:tc>
                  <a:txBody>
                    <a:bodyPr/>
                    <a:lstStyle/>
                    <a:p>
                      <a:pPr algn="ctr"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76200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7620000" y="20383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76200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76200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7848600" y="1504950"/>
          <a:ext cx="417512" cy="190500"/>
        </p:xfrm>
        <a:graphic>
          <a:graphicData uri="http://schemas.openxmlformats.org/drawingml/2006/table">
            <a:tbl>
              <a:tblPr/>
              <a:tblGrid>
                <a:gridCol w="417512"/>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7772400" y="21907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25%  Member</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7772400" y="3105150"/>
          <a:ext cx="1371600" cy="190500"/>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47.5</a:t>
                      </a:r>
                      <a:r>
                        <a:rPr lang="en-US" sz="1100" b="0" i="0" u="none" strike="noStrike" baseline="0" dirty="0" smtClean="0">
                          <a:solidFill>
                            <a:srgbClr val="000000"/>
                          </a:solidFill>
                          <a:latin typeface="Calibri"/>
                        </a:rPr>
                        <a:t> % or 72% </a:t>
                      </a:r>
                      <a:r>
                        <a:rPr lang="en-US" sz="1100" b="0" i="0" u="none" strike="noStrike" baseline="0" dirty="0" err="1" smtClean="0">
                          <a:solidFill>
                            <a:srgbClr val="000000"/>
                          </a:solidFill>
                          <a:latin typeface="Calibri"/>
                        </a:rPr>
                        <a:t>copay</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7772400" y="3790950"/>
          <a:ext cx="1371600" cy="344805"/>
        </p:xfrm>
        <a:graphic>
          <a:graphicData uri="http://schemas.openxmlformats.org/drawingml/2006/table">
            <a:tbl>
              <a:tblPr/>
              <a:tblGrid>
                <a:gridCol w="1371600"/>
              </a:tblGrid>
              <a:tr h="190500">
                <a:tc>
                  <a:txBody>
                    <a:bodyPr/>
                    <a:lstStyle/>
                    <a:p>
                      <a:pPr algn="l" fontAlgn="b"/>
                      <a:r>
                        <a:rPr lang="en-US" sz="1100" b="0" i="0" u="none" strike="noStrike" dirty="0" smtClean="0">
                          <a:solidFill>
                            <a:srgbClr val="000000"/>
                          </a:solidFill>
                          <a:latin typeface="Calibri"/>
                        </a:rPr>
                        <a:t>5%</a:t>
                      </a:r>
                      <a:r>
                        <a:rPr lang="en-US" sz="1100" b="0" i="0" u="none" strike="noStrike" baseline="0" dirty="0" smtClean="0">
                          <a:solidFill>
                            <a:srgbClr val="000000"/>
                          </a:solidFill>
                          <a:latin typeface="Calibri"/>
                        </a:rPr>
                        <a:t> or $2.55 or $6.35 </a:t>
                      </a:r>
                      <a:r>
                        <a:rPr lang="en-US" sz="1100" b="0" i="0" u="none" strike="noStrike" baseline="0" dirty="0" err="1" smtClean="0">
                          <a:solidFill>
                            <a:srgbClr val="000000"/>
                          </a:solidFill>
                          <a:latin typeface="Calibri"/>
                        </a:rPr>
                        <a:t>copay</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5" name="Table 34"/>
          <p:cNvGraphicFramePr>
            <a:graphicFrameLocks noGrp="1"/>
          </p:cNvGraphicFramePr>
          <p:nvPr/>
        </p:nvGraphicFramePr>
        <p:xfrm>
          <a:off x="685800" y="1428750"/>
          <a:ext cx="3276600" cy="380999"/>
        </p:xfrm>
        <a:graphic>
          <a:graphicData uri="http://schemas.openxmlformats.org/drawingml/2006/table">
            <a:tbl>
              <a:tblPr/>
              <a:tblGrid>
                <a:gridCol w="3276600"/>
              </a:tblGrid>
              <a:tr h="380999">
                <a:tc>
                  <a:txBody>
                    <a:bodyPr/>
                    <a:lstStyle/>
                    <a:p>
                      <a:pPr algn="l" fontAlgn="b"/>
                      <a:r>
                        <a:rPr lang="en-US" sz="1200" kern="1200" baseline="0" dirty="0" smtClean="0">
                          <a:solidFill>
                            <a:schemeClr val="tx1"/>
                          </a:solidFill>
                          <a:latin typeface="+mn-lt"/>
                          <a:ea typeface="+mn-ea"/>
                          <a:cs typeface="+mn-cs"/>
                        </a:rPr>
                        <a:t>The amount of money a Part D member must pay before the plan starts to pay </a:t>
                      </a:r>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6" name="Table 35"/>
          <p:cNvGraphicFramePr>
            <a:graphicFrameLocks noGrp="1"/>
          </p:cNvGraphicFramePr>
          <p:nvPr/>
        </p:nvGraphicFramePr>
        <p:xfrm>
          <a:off x="609600" y="2266950"/>
          <a:ext cx="4114800" cy="314325"/>
        </p:xfrm>
        <a:graphic>
          <a:graphicData uri="http://schemas.openxmlformats.org/drawingml/2006/table">
            <a:tbl>
              <a:tblPr/>
              <a:tblGrid>
                <a:gridCol w="4114800"/>
              </a:tblGrid>
              <a:tr h="314325">
                <a:tc>
                  <a:txBody>
                    <a:bodyPr/>
                    <a:lstStyle/>
                    <a:p>
                      <a:pPr algn="l" fontAlgn="b"/>
                      <a:r>
                        <a:rPr lang="en-US" sz="1200" b="0" i="0" u="none" strike="noStrike" dirty="0" smtClean="0">
                          <a:solidFill>
                            <a:srgbClr val="000000"/>
                          </a:solidFill>
                          <a:latin typeface="Calibri"/>
                        </a:rPr>
                        <a:t>Member cost sharing is 25% until</a:t>
                      </a:r>
                      <a:r>
                        <a:rPr lang="en-US" sz="1200" b="0" i="0" u="none" strike="noStrike" baseline="0" dirty="0" smtClean="0">
                          <a:solidFill>
                            <a:srgbClr val="000000"/>
                          </a:solidFill>
                          <a:latin typeface="Calibri"/>
                        </a:rPr>
                        <a:t> member meet IC limit ( $2,540)</a:t>
                      </a:r>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7" name="Table 36"/>
          <p:cNvGraphicFramePr>
            <a:graphicFrameLocks noGrp="1"/>
          </p:cNvGraphicFramePr>
          <p:nvPr/>
        </p:nvGraphicFramePr>
        <p:xfrm>
          <a:off x="609600" y="3028950"/>
          <a:ext cx="3429000" cy="558165"/>
        </p:xfrm>
        <a:graphic>
          <a:graphicData uri="http://schemas.openxmlformats.org/drawingml/2006/table">
            <a:tbl>
              <a:tblPr/>
              <a:tblGrid>
                <a:gridCol w="3429000"/>
              </a:tblGrid>
              <a:tr h="477202">
                <a:tc>
                  <a:txBody>
                    <a:bodyPr/>
                    <a:lstStyle/>
                    <a:p>
                      <a:pPr algn="l" fontAlgn="b"/>
                      <a:r>
                        <a:rPr lang="en-US" sz="1200" b="0" i="0" u="none" strike="noStrike" dirty="0" smtClean="0">
                          <a:solidFill>
                            <a:srgbClr val="000000"/>
                          </a:solidFill>
                          <a:latin typeface="Calibri"/>
                        </a:rPr>
                        <a:t>Member cost</a:t>
                      </a:r>
                      <a:r>
                        <a:rPr lang="en-US" sz="1200" b="0" i="0" u="none" strike="noStrike" baseline="0" dirty="0" smtClean="0">
                          <a:solidFill>
                            <a:srgbClr val="000000"/>
                          </a:solidFill>
                          <a:latin typeface="Calibri"/>
                        </a:rPr>
                        <a:t> sharing is 47.5% for brand,72% generic drugs until member meets out of pocket threshold($3605)</a:t>
                      </a:r>
                      <a:endParaRPr lang="en-US" sz="12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8" name="Table 37"/>
          <p:cNvGraphicFramePr>
            <a:graphicFrameLocks noGrp="1"/>
          </p:cNvGraphicFramePr>
          <p:nvPr/>
        </p:nvGraphicFramePr>
        <p:xfrm>
          <a:off x="609600" y="1123950"/>
          <a:ext cx="1143000" cy="190500"/>
        </p:xfrm>
        <a:graphic>
          <a:graphicData uri="http://schemas.openxmlformats.org/drawingml/2006/table">
            <a:tbl>
              <a:tblPr/>
              <a:tblGrid>
                <a:gridCol w="1143000"/>
              </a:tblGrid>
              <a:tr h="190500">
                <a:tc>
                  <a:txBody>
                    <a:bodyPr/>
                    <a:lstStyle/>
                    <a:p>
                      <a:pPr algn="l" fontAlgn="b"/>
                      <a:r>
                        <a:rPr lang="en-US" sz="1100" b="1" i="0" u="none" strike="noStrike" baseline="0" dirty="0">
                          <a:solidFill>
                            <a:schemeClr val="accent2">
                              <a:lumMod val="75000"/>
                            </a:schemeClr>
                          </a:solidFill>
                          <a:latin typeface="Calibri"/>
                        </a:rPr>
                        <a:t>DED </a:t>
                      </a:r>
                      <a:r>
                        <a:rPr lang="en-US" sz="1100" b="1" i="0" u="none" strike="noStrike" baseline="0" dirty="0" smtClean="0">
                          <a:solidFill>
                            <a:schemeClr val="accent2">
                              <a:lumMod val="75000"/>
                            </a:schemeClr>
                          </a:solidFill>
                          <a:latin typeface="Calibri"/>
                        </a:rPr>
                        <a:t>Phase(DD1)</a:t>
                      </a:r>
                      <a:endParaRPr lang="en-US" sz="1100" b="1" i="0" u="none" strike="noStrike" baseline="0" dirty="0">
                        <a:solidFill>
                          <a:schemeClr val="accent2">
                            <a:lumMod val="75000"/>
                          </a:schemeClr>
                        </a:solidFill>
                        <a:latin typeface="Calibri"/>
                      </a:endParaRPr>
                    </a:p>
                  </a:txBody>
                  <a:tcPr marL="9525" marR="9525" marT="9525" marB="0" anchor="b">
                    <a:lnL>
                      <a:noFill/>
                    </a:lnL>
                    <a:lnR>
                      <a:noFill/>
                    </a:lnR>
                    <a:lnT>
                      <a:noFill/>
                    </a:lnT>
                    <a:lnB>
                      <a:noFill/>
                    </a:lnB>
                  </a:tcPr>
                </a:tc>
              </a:tr>
            </a:tbl>
          </a:graphicData>
        </a:graphic>
      </p:graphicFrame>
      <p:graphicFrame>
        <p:nvGraphicFramePr>
          <p:cNvPr id="39" name="Table 38"/>
          <p:cNvGraphicFramePr>
            <a:graphicFrameLocks noGrp="1"/>
          </p:cNvGraphicFramePr>
          <p:nvPr/>
        </p:nvGraphicFramePr>
        <p:xfrm>
          <a:off x="609600" y="2013585"/>
          <a:ext cx="1600200" cy="177165"/>
        </p:xfrm>
        <a:graphic>
          <a:graphicData uri="http://schemas.openxmlformats.org/drawingml/2006/table">
            <a:tbl>
              <a:tblPr/>
              <a:tblGrid>
                <a:gridCol w="1600200"/>
              </a:tblGrid>
              <a:tr h="1524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Initial Coverage Phase (IC1)</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0" name="Table 39"/>
          <p:cNvGraphicFramePr>
            <a:graphicFrameLocks noGrp="1"/>
          </p:cNvGraphicFramePr>
          <p:nvPr/>
        </p:nvGraphicFramePr>
        <p:xfrm>
          <a:off x="609600" y="2724150"/>
          <a:ext cx="1676400" cy="177165"/>
        </p:xfrm>
        <a:graphic>
          <a:graphicData uri="http://schemas.openxmlformats.org/drawingml/2006/table">
            <a:tbl>
              <a:tblPr/>
              <a:tblGrid>
                <a:gridCol w="1676400"/>
              </a:tblGrid>
              <a:tr h="1524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Coverage Gap Phase (CG1)</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1" name="Table 40"/>
          <p:cNvGraphicFramePr>
            <a:graphicFrameLocks noGrp="1"/>
          </p:cNvGraphicFramePr>
          <p:nvPr/>
        </p:nvGraphicFramePr>
        <p:xfrm>
          <a:off x="609600" y="3790950"/>
          <a:ext cx="1752600" cy="190500"/>
        </p:xfrm>
        <a:graphic>
          <a:graphicData uri="http://schemas.openxmlformats.org/drawingml/2006/table">
            <a:tbl>
              <a:tblPr/>
              <a:tblGrid>
                <a:gridCol w="1752600"/>
              </a:tblGrid>
              <a:tr h="190500">
                <a:tc>
                  <a:txBody>
                    <a:bodyPr/>
                    <a:lstStyle/>
                    <a:p>
                      <a:pPr marL="0" algn="l" defTabSz="914400" rtl="0" eaLnBrk="1" fontAlgn="b" latinLnBrk="0" hangingPunct="1"/>
                      <a:r>
                        <a:rPr lang="en-US" sz="1100" b="1" i="0" u="none" strike="noStrike" kern="1200" baseline="0" dirty="0" smtClean="0">
                          <a:solidFill>
                            <a:schemeClr val="accent2">
                              <a:lumMod val="75000"/>
                            </a:schemeClr>
                          </a:solidFill>
                          <a:latin typeface="Calibri"/>
                          <a:ea typeface="+mn-ea"/>
                          <a:cs typeface="+mn-cs"/>
                        </a:rPr>
                        <a:t>Catastrophic Phase (CAT)</a:t>
                      </a:r>
                      <a:endParaRPr lang="en-US" sz="1100" b="1" i="0" u="none" strike="noStrike" kern="1200" baseline="0" dirty="0">
                        <a:solidFill>
                          <a:schemeClr val="accent2">
                            <a:lumMod val="75000"/>
                          </a:schemeClr>
                        </a:solidFill>
                        <a:latin typeface="Calibri"/>
                        <a:ea typeface="+mn-ea"/>
                        <a:cs typeface="+mn-cs"/>
                      </a:endParaRPr>
                    </a:p>
                  </a:txBody>
                  <a:tcPr marL="9525" marR="9525" marT="9525" marB="0" anchor="b">
                    <a:lnL>
                      <a:noFill/>
                    </a:lnL>
                    <a:lnR>
                      <a:noFill/>
                    </a:lnR>
                    <a:lnT>
                      <a:noFill/>
                    </a:lnT>
                    <a:lnB>
                      <a:noFill/>
                    </a:lnB>
                  </a:tcPr>
                </a:tc>
              </a:tr>
            </a:tbl>
          </a:graphicData>
        </a:graphic>
      </p:graphicFrame>
      <p:graphicFrame>
        <p:nvGraphicFramePr>
          <p:cNvPr id="42" name="Table 41"/>
          <p:cNvGraphicFramePr>
            <a:graphicFrameLocks noGrp="1"/>
          </p:cNvGraphicFramePr>
          <p:nvPr/>
        </p:nvGraphicFramePr>
        <p:xfrm>
          <a:off x="609600" y="4171950"/>
          <a:ext cx="3429000" cy="344805"/>
        </p:xfrm>
        <a:graphic>
          <a:graphicData uri="http://schemas.openxmlformats.org/drawingml/2006/table">
            <a:tbl>
              <a:tblPr/>
              <a:tblGrid>
                <a:gridCol w="3429000"/>
              </a:tblGrid>
              <a:tr h="248602">
                <a:tc>
                  <a:txBody>
                    <a:bodyPr/>
                    <a:lstStyle/>
                    <a:p>
                      <a:pPr algn="l" fontAlgn="b"/>
                      <a:r>
                        <a:rPr lang="en-US" sz="1100" b="0" i="0" u="none" strike="noStrike" dirty="0" smtClean="0">
                          <a:solidFill>
                            <a:srgbClr val="000000"/>
                          </a:solidFill>
                          <a:latin typeface="Calibri"/>
                        </a:rPr>
                        <a:t>Greater of 5% of drug cost or $2.55</a:t>
                      </a:r>
                      <a:r>
                        <a:rPr lang="en-US" sz="1100" b="0" i="0" u="none" strike="noStrike" baseline="0" dirty="0" smtClean="0">
                          <a:solidFill>
                            <a:srgbClr val="000000"/>
                          </a:solidFill>
                          <a:latin typeface="Calibri"/>
                        </a:rPr>
                        <a:t> for Generic or $6.35 for Brand</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43" name="Table 42"/>
          <p:cNvGraphicFramePr>
            <a:graphicFrameLocks noGrp="1"/>
          </p:cNvGraphicFramePr>
          <p:nvPr/>
        </p:nvGraphicFramePr>
        <p:xfrm>
          <a:off x="609600" y="742950"/>
          <a:ext cx="3886200" cy="481965"/>
        </p:xfrm>
        <a:graphic>
          <a:graphicData uri="http://schemas.openxmlformats.org/drawingml/2006/table">
            <a:tbl>
              <a:tblPr/>
              <a:tblGrid>
                <a:gridCol w="3886200"/>
              </a:tblGrid>
              <a:tr h="304800">
                <a:tc>
                  <a:txBody>
                    <a:bodyPr/>
                    <a:lstStyle/>
                    <a:p>
                      <a:pPr algn="l" fontAlgn="b"/>
                      <a:r>
                        <a:rPr lang="en-US" sz="2000" b="0" i="0" u="none" strike="noStrike" dirty="0" smtClean="0">
                          <a:solidFill>
                            <a:srgbClr val="000000"/>
                          </a:solidFill>
                          <a:latin typeface="Calibri"/>
                        </a:rPr>
                        <a:t>Governed </a:t>
                      </a:r>
                      <a:r>
                        <a:rPr lang="en-US" sz="2000" b="0" i="0" u="none" strike="noStrike" dirty="0">
                          <a:solidFill>
                            <a:srgbClr val="000000"/>
                          </a:solidFill>
                          <a:latin typeface="Calibri"/>
                        </a:rPr>
                        <a:t>by </a:t>
                      </a:r>
                      <a:r>
                        <a:rPr lang="en-US" sz="2000" b="0" i="0" u="none" strike="noStrike" dirty="0" smtClean="0">
                          <a:solidFill>
                            <a:srgbClr val="000000"/>
                          </a:solidFill>
                          <a:latin typeface="Calibri"/>
                        </a:rPr>
                        <a:t>CMS</a:t>
                      </a:r>
                      <a:r>
                        <a:rPr lang="en-US" sz="1100" b="0" i="0" u="none" strike="noStrike" dirty="0">
                          <a:solidFill>
                            <a:srgbClr val="000000"/>
                          </a:solidFill>
                          <a:latin typeface="Calibri"/>
                        </a:rPr>
                        <a:t/>
                      </a:r>
                      <a:br>
                        <a:rPr lang="en-US" sz="1100" b="0" i="0" u="none" strike="noStrike" dirty="0">
                          <a:solidFill>
                            <a:srgbClr val="000000"/>
                          </a:solidFill>
                          <a:latin typeface="Calibri"/>
                        </a:rPr>
                      </a:b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blinds(horizontal)">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diamond(in)">
                                      <p:cBhvr>
                                        <p:cTn id="32" dur="2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diamond(in)">
                                      <p:cBhvr>
                                        <p:cTn id="37" dur="20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diamond(in)">
                                      <p:cBhvr>
                                        <p:cTn id="42" dur="20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diamond(in)">
                                      <p:cBhvr>
                                        <p:cTn id="47" dur="20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29"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1000" fill="hold"/>
                                        <p:tgtEl>
                                          <p:spTgt spid="8"/>
                                        </p:tgtEl>
                                        <p:attrNameLst>
                                          <p:attrName>ppt_x</p:attrName>
                                        </p:attrNameLst>
                                      </p:cBhvr>
                                      <p:tavLst>
                                        <p:tav tm="0">
                                          <p:val>
                                            <p:strVal val="#ppt_x-.2"/>
                                          </p:val>
                                        </p:tav>
                                        <p:tav tm="100000">
                                          <p:val>
                                            <p:strVal val="#ppt_x"/>
                                          </p:val>
                                        </p:tav>
                                      </p:tavLst>
                                    </p:anim>
                                    <p:anim calcmode="lin" valueType="num">
                                      <p:cBhvr>
                                        <p:cTn id="5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54" dur="10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linds(horizontal)">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blinds(horizontal)">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blinds(horizontal)">
                                      <p:cBhvr>
                                        <p:cTn id="69" dur="5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blinds(horizontal)">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blinds(horizontal)">
                                      <p:cBhvr>
                                        <p:cTn id="79" dur="50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blinds(horizontal)">
                                      <p:cBhvr>
                                        <p:cTn id="84" dur="500"/>
                                        <p:tgtEl>
                                          <p:spTgt spid="20"/>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blinds(horizontal)">
                                      <p:cBhvr>
                                        <p:cTn id="89" dur="50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blinds(horizontal)">
                                      <p:cBhvr>
                                        <p:cTn id="9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13</a:t>
            </a:fld>
            <a:endParaRPr lang="en-US" dirty="0"/>
          </a:p>
        </p:txBody>
      </p:sp>
      <p:sp>
        <p:nvSpPr>
          <p:cNvPr id="7" name="Title 6"/>
          <p:cNvSpPr>
            <a:spLocks noGrp="1"/>
          </p:cNvSpPr>
          <p:nvPr>
            <p:ph type="title"/>
          </p:nvPr>
        </p:nvSpPr>
        <p:spPr/>
        <p:txBody>
          <a:bodyPr/>
          <a:lstStyle/>
          <a:p>
            <a:r>
              <a:rPr lang="en-US" dirty="0" smtClean="0"/>
              <a:t>PART-D Deductible Plan	</a:t>
            </a:r>
            <a:endParaRPr lang="en-US" dirty="0"/>
          </a:p>
        </p:txBody>
      </p:sp>
      <p:graphicFrame>
        <p:nvGraphicFramePr>
          <p:cNvPr id="30" name="Table 29"/>
          <p:cNvGraphicFramePr>
            <a:graphicFrameLocks noGrp="1"/>
          </p:cNvGraphicFramePr>
          <p:nvPr/>
        </p:nvGraphicFramePr>
        <p:xfrm>
          <a:off x="838200" y="742950"/>
          <a:ext cx="6629400" cy="4064000"/>
        </p:xfrm>
        <a:graphic>
          <a:graphicData uri="http://schemas.openxmlformats.org/drawingml/2006/table">
            <a:tbl>
              <a:tblPr/>
              <a:tblGrid>
                <a:gridCol w="2917858"/>
                <a:gridCol w="1647725"/>
                <a:gridCol w="2063817"/>
              </a:tblGrid>
              <a:tr h="205422">
                <a:tc>
                  <a:txBody>
                    <a:bodyPr/>
                    <a:lstStyle/>
                    <a:p>
                      <a:pPr algn="l" fontAlgn="b"/>
                      <a:r>
                        <a:rPr lang="en-US" sz="1100" b="1" i="0" u="none" strike="noStrike" dirty="0">
                          <a:solidFill>
                            <a:srgbClr val="000000"/>
                          </a:solidFill>
                          <a:latin typeface="Calibri"/>
                        </a:rPr>
                        <a:t>Standard Part D Coverage for 2014</a:t>
                      </a:r>
                    </a:p>
                  </a:txBody>
                  <a:tcPr marL="9337" marR="9337" marT="9337"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BF8EE2"/>
                      </a:solidFill>
                      <a:prstDash val="solid"/>
                      <a:round/>
                      <a:headEnd type="none" w="med" len="med"/>
                      <a:tailEnd type="none" w="med" len="med"/>
                    </a:lnB>
                    <a:solidFill>
                      <a:srgbClr val="F6F6EE"/>
                    </a:solidFill>
                  </a:tcPr>
                </a:tc>
                <a:tc>
                  <a:txBody>
                    <a:bodyPr/>
                    <a:lstStyle/>
                    <a:p>
                      <a:pPr algn="l" fontAlgn="b"/>
                      <a:r>
                        <a:rPr lang="en-US" sz="1100" b="0" i="0" u="none" strike="noStrike">
                          <a:solidFill>
                            <a:srgbClr val="000000"/>
                          </a:solidFill>
                          <a:latin typeface="Calibri"/>
                        </a:rPr>
                        <a:t> </a:t>
                      </a:r>
                    </a:p>
                  </a:txBody>
                  <a:tcPr marL="9337" marR="9337" marT="9337" marB="0" anchor="b">
                    <a:lnL w="19050" cap="flat" cmpd="sng" algn="ctr">
                      <a:solidFill>
                        <a:srgbClr val="FFFFFF"/>
                      </a:solidFill>
                      <a:prstDash val="solid"/>
                      <a:round/>
                      <a:headEnd type="none" w="med" len="med"/>
                      <a:tailEnd type="none" w="med" len="med"/>
                    </a:lnL>
                    <a:lnR>
                      <a:noFill/>
                    </a:lnR>
                    <a:lnT>
                      <a:noFill/>
                    </a:lnT>
                    <a:lnB w="19050" cap="flat" cmpd="sng" algn="ctr">
                      <a:solidFill>
                        <a:srgbClr val="BF8EE2"/>
                      </a:solidFill>
                      <a:prstDash val="solid"/>
                      <a:round/>
                      <a:headEnd type="none" w="med" len="med"/>
                      <a:tailEnd type="none" w="med" len="med"/>
                    </a:lnB>
                    <a:solidFill>
                      <a:srgbClr val="F6F6EE"/>
                    </a:solidFill>
                  </a:tcPr>
                </a:tc>
                <a:tc>
                  <a:txBody>
                    <a:bodyPr/>
                    <a:lstStyle/>
                    <a:p>
                      <a:pPr algn="l" fontAlgn="b"/>
                      <a:r>
                        <a:rPr lang="en-US" sz="1100" b="0" i="0" u="none" strike="noStrike">
                          <a:solidFill>
                            <a:srgbClr val="000000"/>
                          </a:solidFill>
                          <a:latin typeface="Calibri"/>
                        </a:rPr>
                        <a:t> </a:t>
                      </a:r>
                    </a:p>
                  </a:txBody>
                  <a:tcPr marL="9337" marR="9337" marT="9337" marB="0" anchor="b">
                    <a:lnL>
                      <a:noFill/>
                    </a:lnL>
                    <a:lnR>
                      <a:noFill/>
                    </a:lnR>
                    <a:lnT>
                      <a:noFill/>
                    </a:lnT>
                    <a:lnB w="19050" cap="flat" cmpd="sng" algn="ctr">
                      <a:solidFill>
                        <a:srgbClr val="BF8EE2"/>
                      </a:solidFill>
                      <a:prstDash val="solid"/>
                      <a:round/>
                      <a:headEnd type="none" w="med" len="med"/>
                      <a:tailEnd type="none" w="med" len="med"/>
                    </a:lnB>
                    <a:solidFill>
                      <a:srgbClr val="F6F6EE"/>
                    </a:solidFill>
                  </a:tcPr>
                </a:tc>
              </a:tr>
              <a:tr h="205422">
                <a:tc>
                  <a:txBody>
                    <a:bodyPr/>
                    <a:lstStyle/>
                    <a:p>
                      <a:pPr algn="l" fontAlgn="t"/>
                      <a:r>
                        <a:rPr lang="en-US" sz="1000" b="1" i="0" u="none" strike="noStrike">
                          <a:solidFill>
                            <a:srgbClr val="28241E"/>
                          </a:solidFill>
                          <a:latin typeface="Verdana"/>
                        </a:rPr>
                        <a:t>Coverage</a:t>
                      </a:r>
                    </a:p>
                  </a:txBody>
                  <a:tcPr marL="9337" marR="9337" marT="9337" marB="0">
                    <a:lnL w="12700" cap="flat" cmpd="sng" algn="ctr">
                      <a:solidFill>
                        <a:srgbClr val="BF8EE2"/>
                      </a:solidFill>
                      <a:prstDash val="solid"/>
                      <a:round/>
                      <a:headEnd type="none" w="med" len="med"/>
                      <a:tailEnd type="none" w="med" len="med"/>
                    </a:lnL>
                    <a:lnR>
                      <a:noFill/>
                    </a:lnR>
                    <a:lnT w="1905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1" i="0" u="none" strike="noStrike">
                          <a:solidFill>
                            <a:srgbClr val="28241E"/>
                          </a:solidFill>
                          <a:latin typeface="Verdana"/>
                        </a:rPr>
                        <a:t>Part D Plan Pays</a:t>
                      </a:r>
                    </a:p>
                  </a:txBody>
                  <a:tcPr marL="9337" marR="9337" marT="9337" marB="0">
                    <a:lnL>
                      <a:noFill/>
                    </a:lnL>
                    <a:lnR>
                      <a:noFill/>
                    </a:lnR>
                    <a:lnT w="1905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1" i="0" u="none" strike="noStrike">
                          <a:solidFill>
                            <a:srgbClr val="28241E"/>
                          </a:solidFill>
                          <a:latin typeface="Verdana"/>
                        </a:rPr>
                        <a:t>You Pay</a:t>
                      </a:r>
                    </a:p>
                  </a:txBody>
                  <a:tcPr marL="9337" marR="9337" marT="9337" marB="0">
                    <a:lnL>
                      <a:noFill/>
                    </a:lnL>
                    <a:lnR w="12700" cap="flat" cmpd="sng" algn="ctr">
                      <a:solidFill>
                        <a:srgbClr val="BF8EE2"/>
                      </a:solidFill>
                      <a:prstDash val="solid"/>
                      <a:round/>
                      <a:headEnd type="none" w="med" len="med"/>
                      <a:tailEnd type="none" w="med" len="med"/>
                    </a:lnR>
                    <a:lnT w="1905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196085">
                <a:tc>
                  <a:txBody>
                    <a:bodyPr/>
                    <a:lstStyle/>
                    <a:p>
                      <a:pPr algn="l" fontAlgn="t"/>
                      <a:r>
                        <a:rPr lang="en-US" sz="1000" b="1" i="0" u="none" strike="noStrike">
                          <a:solidFill>
                            <a:srgbClr val="0F0E0C"/>
                          </a:solidFill>
                          <a:latin typeface="Verdana"/>
                        </a:rPr>
                        <a:t>Annual Deductible ($310)</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r" fontAlgn="t"/>
                      <a:r>
                        <a:rPr lang="en-US" sz="1000" b="0" i="0" u="none" strike="noStrike">
                          <a:solidFill>
                            <a:srgbClr val="0F0E0C"/>
                          </a:solidFill>
                          <a:latin typeface="Verdana"/>
                        </a:rPr>
                        <a:t>$0 </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0" i="0" u="none" strike="noStrike">
                          <a:solidFill>
                            <a:srgbClr val="0F0E0C"/>
                          </a:solidFill>
                          <a:latin typeface="Verdana"/>
                        </a:rPr>
                        <a:t>100% ($310)</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326808">
                <a:tc>
                  <a:txBody>
                    <a:bodyPr/>
                    <a:lstStyle/>
                    <a:p>
                      <a:pPr algn="l" fontAlgn="t"/>
                      <a:r>
                        <a:rPr lang="en-US" sz="1000" b="1" i="0" u="none" strike="noStrike">
                          <a:solidFill>
                            <a:srgbClr val="0F0E0C"/>
                          </a:solidFill>
                          <a:latin typeface="Verdana"/>
                        </a:rPr>
                        <a:t>Initial Coverage Period ($2,540)</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0" i="0" u="none" strike="noStrike">
                          <a:solidFill>
                            <a:srgbClr val="0F0E0C"/>
                          </a:solidFill>
                          <a:latin typeface="Verdana"/>
                        </a:rPr>
                        <a:t>75% of $2,540 ($1,905)</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a:txBody>
                    <a:bodyPr/>
                    <a:lstStyle/>
                    <a:p>
                      <a:pPr algn="l" fontAlgn="t"/>
                      <a:r>
                        <a:rPr lang="en-US" sz="1000" b="0" i="0" u="none" strike="noStrike">
                          <a:solidFill>
                            <a:srgbClr val="0F0E0C"/>
                          </a:solidFill>
                          <a:latin typeface="Verdana"/>
                        </a:rPr>
                        <a:t>25% of $2,540 ($635)</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317471">
                <a:tc>
                  <a:txBody>
                    <a:bodyPr/>
                    <a:lstStyle/>
                    <a:p>
                      <a:pPr algn="l" fontAlgn="t"/>
                      <a:r>
                        <a:rPr lang="en-US" sz="1000" b="1" i="0" u="none" strike="noStrike">
                          <a:solidFill>
                            <a:srgbClr val="0F0E0C"/>
                          </a:solidFill>
                          <a:latin typeface="Verdana"/>
                        </a:rPr>
                        <a:t>Coverage Gap (Donut Hole) </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a:noFill/>
                    </a:lnB>
                    <a:solidFill>
                      <a:srgbClr val="F6F6EE"/>
                    </a:solidFill>
                  </a:tcPr>
                </a:tc>
                <a:tc rowSpan="2">
                  <a:txBody>
                    <a:bodyPr/>
                    <a:lstStyle/>
                    <a:p>
                      <a:pPr algn="l" fontAlgn="t"/>
                      <a:r>
                        <a:rPr lang="en-US" sz="1000" b="0" i="0" u="none" strike="noStrike">
                          <a:solidFill>
                            <a:srgbClr val="0F0E0C"/>
                          </a:solidFill>
                          <a:latin typeface="Verdana"/>
                        </a:rPr>
                        <a:t>$0 (For brand named drugs, the 50% discount for brand name drugs comes from drug manufacturers + a 2.5% subsidy, and the 28% subsidy for generic drugs comes from Medicare.)</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rowSpan="2">
                  <a:txBody>
                    <a:bodyPr/>
                    <a:lstStyle/>
                    <a:p>
                      <a:pPr algn="l" fontAlgn="t"/>
                      <a:r>
                        <a:rPr lang="en-US" sz="1000" b="0" i="0" u="none" strike="noStrike" dirty="0">
                          <a:solidFill>
                            <a:srgbClr val="0F0E0C"/>
                          </a:solidFill>
                          <a:latin typeface="Verdana"/>
                        </a:rPr>
                        <a:t>47.50% of covered brand name drugs plus dispensing fee; 72% of covered generic drugs</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1318811">
                <a:tc>
                  <a:txBody>
                    <a:bodyPr/>
                    <a:lstStyle/>
                    <a:p>
                      <a:pPr algn="l" fontAlgn="t"/>
                      <a:r>
                        <a:rPr lang="en-US" sz="1100" b="0" i="0" u="sng" strike="noStrike" dirty="0">
                          <a:solidFill>
                            <a:srgbClr val="0000FF"/>
                          </a:solidFill>
                          <a:latin typeface="Calibri"/>
                          <a:hlinkClick r:id="rId2"/>
                        </a:rPr>
                        <a:t>Once your drug plan and costs exceed $2,850 ($310 + $2,540), you are in the donut hole.</a:t>
                      </a:r>
                      <a:endParaRPr lang="en-US" sz="1100" b="0" i="0" u="sng" strike="noStrike" dirty="0">
                        <a:solidFill>
                          <a:srgbClr val="0000FF"/>
                        </a:solidFill>
                        <a:latin typeface="Calibri"/>
                      </a:endParaRPr>
                    </a:p>
                  </a:txBody>
                  <a:tcPr marL="9337" marR="9337" marT="9337" marB="0">
                    <a:lnL w="12700" cap="flat" cmpd="sng" algn="ctr">
                      <a:solidFill>
                        <a:srgbClr val="BF8EE2"/>
                      </a:solidFill>
                      <a:prstDash val="solid"/>
                      <a:round/>
                      <a:headEnd type="none" w="med" len="med"/>
                      <a:tailEnd type="none" w="med" len="med"/>
                    </a:lnL>
                    <a:lnR>
                      <a:noFill/>
                    </a:lnR>
                    <a:lnT>
                      <a:noFill/>
                    </a:lnT>
                    <a:lnB w="12700" cap="flat" cmpd="sng" algn="ctr">
                      <a:solidFill>
                        <a:srgbClr val="BF8EE2"/>
                      </a:solidFill>
                      <a:prstDash val="solid"/>
                      <a:round/>
                      <a:headEnd type="none" w="med" len="med"/>
                      <a:tailEnd type="none" w="med" len="med"/>
                    </a:lnB>
                    <a:solidFill>
                      <a:srgbClr val="F6F6EE"/>
                    </a:solidFill>
                  </a:tcPr>
                </a:tc>
                <a:tc vMerge="1">
                  <a:txBody>
                    <a:bodyPr/>
                    <a:lstStyle/>
                    <a:p>
                      <a:endParaRPr lang="en-US"/>
                    </a:p>
                  </a:txBody>
                  <a:tcPr/>
                </a:tc>
                <a:tc vMerge="1">
                  <a:txBody>
                    <a:bodyPr/>
                    <a:lstStyle/>
                    <a:p>
                      <a:endParaRPr lang="en-US"/>
                    </a:p>
                  </a:txBody>
                  <a:tcPr/>
                </a:tc>
              </a:tr>
              <a:tr h="186748">
                <a:tc>
                  <a:txBody>
                    <a:bodyPr/>
                    <a:lstStyle/>
                    <a:p>
                      <a:pPr algn="l" fontAlgn="t"/>
                      <a:r>
                        <a:rPr lang="en-US" sz="1000" b="1" i="0" u="none" strike="noStrike">
                          <a:solidFill>
                            <a:srgbClr val="0F0E0C"/>
                          </a:solidFill>
                          <a:latin typeface="Verdana"/>
                        </a:rPr>
                        <a:t>Catastrophic Coverage </a:t>
                      </a:r>
                    </a:p>
                  </a:txBody>
                  <a:tcPr marL="9337" marR="9337" marT="9337" marB="0">
                    <a:lnL w="12700" cap="flat" cmpd="sng" algn="ctr">
                      <a:solidFill>
                        <a:srgbClr val="BF8EE2"/>
                      </a:solidFill>
                      <a:prstDash val="solid"/>
                      <a:round/>
                      <a:headEnd type="none" w="med" len="med"/>
                      <a:tailEnd type="none" w="med" len="med"/>
                    </a:lnL>
                    <a:lnR>
                      <a:noFill/>
                    </a:lnR>
                    <a:lnT w="12700" cap="flat" cmpd="sng" algn="ctr">
                      <a:solidFill>
                        <a:srgbClr val="BF8EE2"/>
                      </a:solidFill>
                      <a:prstDash val="solid"/>
                      <a:round/>
                      <a:headEnd type="none" w="med" len="med"/>
                      <a:tailEnd type="none" w="med" len="med"/>
                    </a:lnT>
                    <a:lnB>
                      <a:noFill/>
                    </a:lnB>
                    <a:solidFill>
                      <a:srgbClr val="F6F6EE"/>
                    </a:solidFill>
                  </a:tcPr>
                </a:tc>
                <a:tc rowSpan="2">
                  <a:txBody>
                    <a:bodyPr/>
                    <a:lstStyle/>
                    <a:p>
                      <a:pPr algn="l" fontAlgn="t"/>
                      <a:r>
                        <a:rPr lang="en-US" sz="1000" b="0" i="0" u="none" strike="noStrike">
                          <a:solidFill>
                            <a:srgbClr val="0F0E0C"/>
                          </a:solidFill>
                          <a:latin typeface="Verdana"/>
                        </a:rPr>
                        <a:t>95% or the drug cost minus the copay</a:t>
                      </a:r>
                    </a:p>
                  </a:txBody>
                  <a:tcPr marL="9337" marR="9337" marT="9337" marB="0">
                    <a:lnL>
                      <a:noFill/>
                    </a:lnL>
                    <a:lnR>
                      <a:noFill/>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c rowSpan="2">
                  <a:txBody>
                    <a:bodyPr/>
                    <a:lstStyle/>
                    <a:p>
                      <a:pPr algn="l" fontAlgn="t"/>
                      <a:r>
                        <a:rPr lang="en-US" sz="1000" b="0" i="0" u="none" strike="noStrike">
                          <a:solidFill>
                            <a:srgbClr val="0F0E0C"/>
                          </a:solidFill>
                          <a:latin typeface="Verdana"/>
                        </a:rPr>
                        <a:t>Greater of 5% of the drug costs or $2.55 for a generic drug or $6.35 for a brand name drug</a:t>
                      </a:r>
                    </a:p>
                  </a:txBody>
                  <a:tcPr marL="9337" marR="9337" marT="9337" marB="0">
                    <a:lnL>
                      <a:noFill/>
                    </a:lnL>
                    <a:lnR w="12700" cap="flat" cmpd="sng" algn="ctr">
                      <a:solidFill>
                        <a:srgbClr val="BF8EE2"/>
                      </a:solidFill>
                      <a:prstDash val="solid"/>
                      <a:round/>
                      <a:headEnd type="none" w="med" len="med"/>
                      <a:tailEnd type="none" w="med" len="med"/>
                    </a:lnR>
                    <a:lnT w="12700" cap="flat" cmpd="sng" algn="ctr">
                      <a:solidFill>
                        <a:srgbClr val="BF8EE2"/>
                      </a:solidFill>
                      <a:prstDash val="solid"/>
                      <a:round/>
                      <a:headEnd type="none" w="med" len="med"/>
                      <a:tailEnd type="none" w="med" len="med"/>
                    </a:lnT>
                    <a:lnB w="12700" cap="flat" cmpd="sng" algn="ctr">
                      <a:solidFill>
                        <a:srgbClr val="BF8EE2"/>
                      </a:solidFill>
                      <a:prstDash val="solid"/>
                      <a:round/>
                      <a:headEnd type="none" w="med" len="med"/>
                      <a:tailEnd type="none" w="med" len="med"/>
                    </a:lnB>
                    <a:solidFill>
                      <a:srgbClr val="F6F6EE"/>
                    </a:solidFill>
                  </a:tcPr>
                </a:tc>
              </a:tr>
              <a:tr h="1307233">
                <a:tc>
                  <a:txBody>
                    <a:bodyPr/>
                    <a:lstStyle/>
                    <a:p>
                      <a:pPr algn="l" fontAlgn="t"/>
                      <a:r>
                        <a:rPr lang="en-US" sz="1000" b="0" i="0" u="none" strike="noStrike" dirty="0">
                          <a:solidFill>
                            <a:srgbClr val="0F0E0C"/>
                          </a:solidFill>
                          <a:latin typeface="Verdana"/>
                        </a:rPr>
                        <a:t>Begins once you've reached your out-of-pocket threshold, which is </a:t>
                      </a:r>
                      <a:r>
                        <a:rPr lang="en-US" sz="1000" b="1" i="0" u="none" strike="noStrike" dirty="0">
                          <a:solidFill>
                            <a:srgbClr val="0F0E0C"/>
                          </a:solidFill>
                          <a:latin typeface="Verdana"/>
                        </a:rPr>
                        <a:t>your total annual drug cost of $4,550 in 2014</a:t>
                      </a:r>
                      <a:r>
                        <a:rPr lang="en-US" sz="1000" b="1" i="1" u="none" strike="noStrike" dirty="0">
                          <a:solidFill>
                            <a:srgbClr val="0F0E0C"/>
                          </a:solidFill>
                          <a:latin typeface="Verdana"/>
                        </a:rPr>
                        <a:t>.</a:t>
                      </a:r>
                      <a:r>
                        <a:rPr lang="en-US" sz="1000" b="0" i="0" u="none" strike="noStrike" dirty="0">
                          <a:solidFill>
                            <a:srgbClr val="0F0E0C"/>
                          </a:solidFill>
                          <a:latin typeface="Verdana"/>
                        </a:rPr>
                        <a:t> ($310 deductible + $635 initial coverage + $3,605 donut hole).</a:t>
                      </a:r>
                      <a:r>
                        <a:rPr lang="en-US" sz="1000" b="0" i="0" u="none" strike="noStrike" baseline="30000" dirty="0">
                          <a:solidFill>
                            <a:srgbClr val="0F0E0C"/>
                          </a:solidFill>
                          <a:latin typeface="Verdana"/>
                        </a:rPr>
                        <a:t>*</a:t>
                      </a:r>
                      <a:endParaRPr lang="en-US" sz="1000" b="0" i="0" u="none" strike="noStrike" dirty="0">
                        <a:solidFill>
                          <a:srgbClr val="0F0E0C"/>
                        </a:solidFill>
                        <a:latin typeface="Verdana"/>
                      </a:endParaRPr>
                    </a:p>
                  </a:txBody>
                  <a:tcPr marL="9337" marR="9337" marT="9337" marB="0">
                    <a:lnL w="12700" cap="flat" cmpd="sng" algn="ctr">
                      <a:solidFill>
                        <a:srgbClr val="BF8EE2"/>
                      </a:solidFill>
                      <a:prstDash val="solid"/>
                      <a:round/>
                      <a:headEnd type="none" w="med" len="med"/>
                      <a:tailEnd type="none" w="med" len="med"/>
                    </a:lnL>
                    <a:lnR>
                      <a:noFill/>
                    </a:lnR>
                    <a:lnT>
                      <a:noFill/>
                    </a:lnT>
                    <a:lnB w="12700" cap="flat" cmpd="sng" algn="ctr">
                      <a:solidFill>
                        <a:srgbClr val="BF8EE2"/>
                      </a:solidFill>
                      <a:prstDash val="solid"/>
                      <a:round/>
                      <a:headEnd type="none" w="med" len="med"/>
                      <a:tailEnd type="none" w="med" len="med"/>
                    </a:lnB>
                    <a:solidFill>
                      <a:srgbClr val="F6F6EE"/>
                    </a:solidFill>
                  </a:tcPr>
                </a:tc>
                <a:tc vMerge="1">
                  <a:txBody>
                    <a:bodyPr/>
                    <a:lstStyle/>
                    <a:p>
                      <a:endParaRPr lang="en-US"/>
                    </a:p>
                  </a:txBody>
                  <a:tcPr/>
                </a:tc>
                <a:tc v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14</a:t>
            </a:fld>
            <a:endParaRPr lang="en-US" dirty="0"/>
          </a:p>
        </p:txBody>
      </p:sp>
      <p:sp>
        <p:nvSpPr>
          <p:cNvPr id="7" name="Title 6"/>
          <p:cNvSpPr>
            <a:spLocks noGrp="1"/>
          </p:cNvSpPr>
          <p:nvPr>
            <p:ph type="title"/>
          </p:nvPr>
        </p:nvSpPr>
        <p:spPr/>
        <p:txBody>
          <a:bodyPr/>
          <a:lstStyle/>
          <a:p>
            <a:r>
              <a:rPr lang="en-US" dirty="0" smtClean="0"/>
              <a:t>Part-D Deduct Example</a:t>
            </a:r>
            <a:endParaRPr lang="en-US" dirty="0"/>
          </a:p>
        </p:txBody>
      </p:sp>
      <p:graphicFrame>
        <p:nvGraphicFramePr>
          <p:cNvPr id="8" name="Table 7"/>
          <p:cNvGraphicFramePr>
            <a:graphicFrameLocks noGrp="1"/>
          </p:cNvGraphicFramePr>
          <p:nvPr/>
        </p:nvGraphicFramePr>
        <p:xfrm>
          <a:off x="6934200" y="1200150"/>
          <a:ext cx="914400" cy="3276604"/>
        </p:xfrm>
        <a:graphic>
          <a:graphicData uri="http://schemas.openxmlformats.org/drawingml/2006/table">
            <a:tbl>
              <a:tblPr/>
              <a:tblGrid>
                <a:gridCol w="914400"/>
              </a:tblGrid>
              <a:tr h="819151">
                <a:tc>
                  <a:txBody>
                    <a:bodyPr/>
                    <a:lstStyle/>
                    <a:p>
                      <a:pPr algn="ctr"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80772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8077200" y="19621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80772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80772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8305800" y="1504950"/>
          <a:ext cx="381000" cy="190500"/>
        </p:xfrm>
        <a:graphic>
          <a:graphicData uri="http://schemas.openxmlformats.org/drawingml/2006/table">
            <a:tbl>
              <a:tblPr/>
              <a:tblGrid>
                <a:gridCol w="381000"/>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8229600" y="2190750"/>
          <a:ext cx="914400" cy="190500"/>
        </p:xfrm>
        <a:graphic>
          <a:graphicData uri="http://schemas.openxmlformats.org/drawingml/2006/table">
            <a:tbl>
              <a:tblPr/>
              <a:tblGrid>
                <a:gridCol w="914400"/>
              </a:tblGrid>
              <a:tr h="190500">
                <a:tc>
                  <a:txBody>
                    <a:bodyPr/>
                    <a:lstStyle/>
                    <a:p>
                      <a:pPr algn="l"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8229600" y="3028950"/>
          <a:ext cx="914400" cy="190500"/>
        </p:xfrm>
        <a:graphic>
          <a:graphicData uri="http://schemas.openxmlformats.org/drawingml/2006/table">
            <a:tbl>
              <a:tblPr/>
              <a:tblGrid>
                <a:gridCol w="914400"/>
              </a:tblGrid>
              <a:tr h="190500">
                <a:tc>
                  <a:txBody>
                    <a:bodyPr/>
                    <a:lstStyle/>
                    <a:p>
                      <a:pPr algn="l" fontAlgn="b"/>
                      <a:r>
                        <a:rPr lang="en-US" sz="1100" b="0" i="0" u="none" strike="noStrike" dirty="0" smtClean="0">
                          <a:solidFill>
                            <a:srgbClr val="000000"/>
                          </a:solidFill>
                          <a:latin typeface="Calibri"/>
                        </a:rPr>
                        <a:t>72% or 47.5%</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8229600" y="3867150"/>
          <a:ext cx="685800" cy="190500"/>
        </p:xfrm>
        <a:graphic>
          <a:graphicData uri="http://schemas.openxmlformats.org/drawingml/2006/table">
            <a:tbl>
              <a:tblPr/>
              <a:tblGrid>
                <a:gridCol w="685800"/>
              </a:tblGrid>
              <a:tr h="190500">
                <a:tc>
                  <a:txBody>
                    <a:bodyPr/>
                    <a:lstStyle/>
                    <a:p>
                      <a:pPr algn="l" fontAlgn="b"/>
                      <a:r>
                        <a:rPr lang="en-US" sz="1100" b="0" i="0" u="none" strike="noStrike" dirty="0" smtClean="0">
                          <a:solidFill>
                            <a:srgbClr val="000000"/>
                          </a:solidFill>
                          <a:latin typeface="Calibri"/>
                        </a:rPr>
                        <a:t>5 %</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2" name="Table 31"/>
          <p:cNvGraphicFramePr>
            <a:graphicFrameLocks noGrp="1"/>
          </p:cNvGraphicFramePr>
          <p:nvPr/>
        </p:nvGraphicFramePr>
        <p:xfrm>
          <a:off x="685800" y="819150"/>
          <a:ext cx="838200" cy="1143000"/>
        </p:xfrm>
        <a:graphic>
          <a:graphicData uri="http://schemas.openxmlformats.org/drawingml/2006/table">
            <a:tbl>
              <a:tblPr/>
              <a:tblGrid>
                <a:gridCol w="457200"/>
                <a:gridCol w="381000"/>
              </a:tblGrid>
              <a:tr h="190500">
                <a:tc>
                  <a:txBody>
                    <a:bodyPr/>
                    <a:lstStyle/>
                    <a:p>
                      <a:pPr algn="ctr" fontAlgn="b"/>
                      <a:r>
                        <a:rPr lang="en-US" sz="1100" b="0" i="0" u="none" strike="noStrike" dirty="0">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n-US" sz="1100" b="0" i="0" u="none" strike="noStrike">
                          <a:solidFill>
                            <a:srgbClr val="000000"/>
                          </a:solidFill>
                          <a:latin typeface="Calibri"/>
                        </a:rPr>
                        <a:t>Limit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ctr" rtl="0"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a:solidFill>
                            <a:srgbClr val="000000"/>
                          </a:solidFill>
                          <a:latin typeface="Calibri"/>
                        </a:rPr>
                        <a:t>$</a:t>
                      </a:r>
                      <a:r>
                        <a:rPr lang="en-US" sz="1100" b="0" i="0" u="none" strike="noStrike" dirty="0" smtClean="0">
                          <a:solidFill>
                            <a:srgbClr val="000000"/>
                          </a:solidFill>
                          <a:latin typeface="Calibri"/>
                        </a:rPr>
                        <a:t>100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$200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$197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rtl="0"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4" name="Table 13"/>
          <p:cNvGraphicFramePr>
            <a:graphicFrameLocks noGrp="1"/>
          </p:cNvGraphicFramePr>
          <p:nvPr/>
        </p:nvGraphicFramePr>
        <p:xfrm>
          <a:off x="685800" y="2190750"/>
          <a:ext cx="4267202" cy="381000"/>
        </p:xfrm>
        <a:graphic>
          <a:graphicData uri="http://schemas.openxmlformats.org/drawingml/2006/table">
            <a:tbl>
              <a:tblPr/>
              <a:tblGrid>
                <a:gridCol w="556592"/>
                <a:gridCol w="556592"/>
                <a:gridCol w="556592"/>
                <a:gridCol w="556592"/>
                <a:gridCol w="556592"/>
                <a:gridCol w="742121"/>
                <a:gridCol w="742121"/>
              </a:tblGrid>
              <a:tr h="190500">
                <a:tc>
                  <a:txBody>
                    <a:bodyPr/>
                    <a:lstStyle/>
                    <a:p>
                      <a:pPr algn="l" fontAlgn="b"/>
                      <a:r>
                        <a:rPr lang="en-US" sz="1100" b="0" i="0" u="none" strike="noStrike" dirty="0">
                          <a:solidFill>
                            <a:srgbClr val="000000"/>
                          </a:solidFill>
                          <a:latin typeface="Calibri"/>
                        </a:rPr>
                        <a:t>Claim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Copay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Plan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a:solidFill>
                            <a:srgbClr val="000000"/>
                          </a:solidFill>
                          <a:latin typeface="Calibri"/>
                        </a:rPr>
                        <a:t>member 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smtClean="0">
                          <a:solidFill>
                            <a:srgbClr val="000000"/>
                          </a:solidFill>
                          <a:latin typeface="Calibri"/>
                        </a:rPr>
                        <a:t>PLAN PAY</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l" fontAlgn="b"/>
                      <a:r>
                        <a:rPr lang="en-US" sz="1100" b="0" i="0" u="none" strike="noStrike" dirty="0" smtClean="0">
                          <a:solidFill>
                            <a:srgbClr val="000000"/>
                          </a:solidFill>
                          <a:latin typeface="Calibri"/>
                        </a:rPr>
                        <a:t>Claim 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 name="Table 15"/>
          <p:cNvGraphicFramePr>
            <a:graphicFrameLocks noGrp="1"/>
          </p:cNvGraphicFramePr>
          <p:nvPr/>
        </p:nvGraphicFramePr>
        <p:xfrm>
          <a:off x="7162800" y="1352550"/>
          <a:ext cx="355600" cy="344805"/>
        </p:xfrm>
        <a:graphic>
          <a:graphicData uri="http://schemas.openxmlformats.org/drawingml/2006/table">
            <a:tbl>
              <a:tblPr/>
              <a:tblGrid>
                <a:gridCol w="355600"/>
              </a:tblGrid>
              <a:tr h="190500">
                <a:tc>
                  <a:txBody>
                    <a:bodyPr/>
                    <a:lstStyle/>
                    <a:p>
                      <a:pPr algn="r" fontAlgn="b"/>
                      <a:r>
                        <a:rPr lang="en-US" sz="1100" b="0" i="0" u="none" strike="noStrike" dirty="0">
                          <a:solidFill>
                            <a:srgbClr val="000000"/>
                          </a:solidFill>
                          <a:latin typeface="Calibri"/>
                        </a:rPr>
                        <a:t>$50 </a:t>
                      </a:r>
                      <a:endParaRPr lang="en-US" sz="1100" b="0" i="0" u="none" strike="noStrike" dirty="0" smtClean="0">
                        <a:solidFill>
                          <a:srgbClr val="000000"/>
                        </a:solidFill>
                        <a:latin typeface="Calibri"/>
                      </a:endParaRPr>
                    </a:p>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7" name="Table 16"/>
          <p:cNvGraphicFramePr>
            <a:graphicFrameLocks noGrp="1"/>
          </p:cNvGraphicFramePr>
          <p:nvPr/>
        </p:nvGraphicFramePr>
        <p:xfrm>
          <a:off x="1828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$50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$147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2" name="Table 21"/>
          <p:cNvGraphicFramePr>
            <a:graphicFrameLocks noGrp="1"/>
          </p:cNvGraphicFramePr>
          <p:nvPr/>
        </p:nvGraphicFramePr>
        <p:xfrm>
          <a:off x="2209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$97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685800" y="2571750"/>
          <a:ext cx="4267202" cy="190500"/>
        </p:xfrm>
        <a:graphic>
          <a:graphicData uri="http://schemas.openxmlformats.org/drawingml/2006/table">
            <a:tbl>
              <a:tblPr/>
              <a:tblGrid>
                <a:gridCol w="556592"/>
                <a:gridCol w="556592"/>
                <a:gridCol w="556592"/>
                <a:gridCol w="556592"/>
                <a:gridCol w="556592"/>
                <a:gridCol w="742121"/>
                <a:gridCol w="742121"/>
              </a:tblGrid>
              <a:tr h="190500">
                <a:tc>
                  <a:txBody>
                    <a:bodyPr/>
                    <a:lstStyle/>
                    <a:p>
                      <a:pPr algn="l" fontAlgn="b"/>
                      <a:r>
                        <a:rPr lang="en-US" sz="1100" b="0" i="0" u="none" strike="noStrike" dirty="0" smtClean="0">
                          <a:solidFill>
                            <a:srgbClr val="000000"/>
                          </a:solidFill>
                          <a:latin typeface="Calibri"/>
                        </a:rPr>
                        <a:t>Claim 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685800" y="2800350"/>
          <a:ext cx="4267201" cy="190500"/>
        </p:xfrm>
        <a:graphic>
          <a:graphicData uri="http://schemas.openxmlformats.org/drawingml/2006/table">
            <a:tbl>
              <a:tblPr/>
              <a:tblGrid>
                <a:gridCol w="565817"/>
                <a:gridCol w="565817"/>
                <a:gridCol w="565817"/>
                <a:gridCol w="565817"/>
                <a:gridCol w="479932"/>
                <a:gridCol w="762000"/>
                <a:gridCol w="762001"/>
              </a:tblGrid>
              <a:tr h="190500">
                <a:tc>
                  <a:txBody>
                    <a:bodyPr/>
                    <a:lstStyle/>
                    <a:p>
                      <a:pPr algn="l" fontAlgn="b"/>
                      <a:r>
                        <a:rPr lang="en-US" sz="1100" b="0" i="0" u="none" strike="noStrike" dirty="0" smtClean="0">
                          <a:solidFill>
                            <a:srgbClr val="000000"/>
                          </a:solidFill>
                          <a:latin typeface="Calibri"/>
                        </a:rPr>
                        <a:t>Claim </a:t>
                      </a:r>
                      <a:r>
                        <a:rPr lang="en-US" sz="1100" b="0" i="0" u="none" strike="noStrike" dirty="0">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37.5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2590800" y="742950"/>
          <a:ext cx="381001" cy="1274445"/>
        </p:xfrm>
        <a:graphic>
          <a:graphicData uri="http://schemas.openxmlformats.org/drawingml/2006/table">
            <a:tbl>
              <a:tblPr/>
              <a:tblGrid>
                <a:gridCol w="381001"/>
              </a:tblGrid>
              <a:tr h="381000">
                <a:tc>
                  <a:txBody>
                    <a:bodyPr/>
                    <a:lstStyle/>
                    <a:p>
                      <a:pPr algn="l" rtl="0" fontAlgn="b"/>
                      <a:r>
                        <a:rPr lang="en-US" sz="1100" b="0" i="0" u="none" strike="noStrike" dirty="0">
                          <a:solidFill>
                            <a:srgbClr val="000000"/>
                          </a:solidFill>
                          <a:latin typeface="Calibri"/>
                        </a:rPr>
                        <a:t>Limit After -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$84.5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6" name="Table 25"/>
          <p:cNvGraphicFramePr>
            <a:graphicFrameLocks noGrp="1"/>
          </p:cNvGraphicFramePr>
          <p:nvPr/>
        </p:nvGraphicFramePr>
        <p:xfrm>
          <a:off x="2971800" y="738999"/>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$72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4">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 name="Table 27"/>
          <p:cNvGraphicFramePr>
            <a:graphicFrameLocks noGrp="1"/>
          </p:cNvGraphicFramePr>
          <p:nvPr/>
        </p:nvGraphicFramePr>
        <p:xfrm>
          <a:off x="685800" y="3028950"/>
          <a:ext cx="4267201" cy="190500"/>
        </p:xfrm>
        <a:graphic>
          <a:graphicData uri="http://schemas.openxmlformats.org/drawingml/2006/table">
            <a:tbl>
              <a:tblPr/>
              <a:tblGrid>
                <a:gridCol w="565817"/>
                <a:gridCol w="565817"/>
                <a:gridCol w="565817"/>
                <a:gridCol w="565817"/>
                <a:gridCol w="479932"/>
                <a:gridCol w="762000"/>
                <a:gridCol w="762001"/>
              </a:tblGrid>
              <a:tr h="190500">
                <a:tc>
                  <a:txBody>
                    <a:bodyPr/>
                    <a:lstStyle/>
                    <a:p>
                      <a:pPr algn="l" fontAlgn="b"/>
                      <a:r>
                        <a:rPr lang="en-US" sz="1100" b="0" i="0" u="none" strike="noStrike" dirty="0" smtClean="0">
                          <a:solidFill>
                            <a:srgbClr val="000000"/>
                          </a:solidFill>
                          <a:latin typeface="Calibri"/>
                        </a:rPr>
                        <a:t>Claim 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37.5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4" name="Table 33"/>
          <p:cNvGraphicFramePr>
            <a:graphicFrameLocks noGrp="1"/>
          </p:cNvGraphicFramePr>
          <p:nvPr/>
        </p:nvGraphicFramePr>
        <p:xfrm>
          <a:off x="3733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$36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4495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6" name="Table 35"/>
          <p:cNvGraphicFramePr>
            <a:graphicFrameLocks noGrp="1"/>
          </p:cNvGraphicFramePr>
          <p:nvPr/>
        </p:nvGraphicFramePr>
        <p:xfrm>
          <a:off x="685800" y="3714750"/>
          <a:ext cx="4343398" cy="190500"/>
        </p:xfrm>
        <a:graphic>
          <a:graphicData uri="http://schemas.openxmlformats.org/drawingml/2006/table">
            <a:tbl>
              <a:tblPr/>
              <a:tblGrid>
                <a:gridCol w="575920"/>
                <a:gridCol w="575920"/>
                <a:gridCol w="575920"/>
                <a:gridCol w="575920"/>
                <a:gridCol w="744320"/>
                <a:gridCol w="599494"/>
                <a:gridCol w="695904"/>
              </a:tblGrid>
              <a:tr h="190500">
                <a:tc>
                  <a:txBody>
                    <a:bodyPr/>
                    <a:lstStyle/>
                    <a:p>
                      <a:pPr algn="l" fontAlgn="b"/>
                      <a:r>
                        <a:rPr lang="en-US" sz="1100" b="0" i="0" u="none" strike="noStrike" dirty="0" smtClean="0">
                          <a:solidFill>
                            <a:srgbClr val="000000"/>
                          </a:solidFill>
                          <a:latin typeface="Calibri"/>
                        </a:rPr>
                        <a:t>Claim 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 name="Table 36"/>
          <p:cNvGraphicFramePr>
            <a:graphicFrameLocks noGrp="1"/>
          </p:cNvGraphicFramePr>
          <p:nvPr/>
        </p:nvGraphicFramePr>
        <p:xfrm>
          <a:off x="685800" y="3943350"/>
          <a:ext cx="4317997" cy="190500"/>
        </p:xfrm>
        <a:graphic>
          <a:graphicData uri="http://schemas.openxmlformats.org/drawingml/2006/table">
            <a:tbl>
              <a:tblPr/>
              <a:tblGrid>
                <a:gridCol w="572552"/>
                <a:gridCol w="572552"/>
                <a:gridCol w="572552"/>
                <a:gridCol w="572552"/>
                <a:gridCol w="656192"/>
                <a:gridCol w="679763"/>
                <a:gridCol w="691834"/>
              </a:tblGrid>
              <a:tr h="190500">
                <a:tc>
                  <a:txBody>
                    <a:bodyPr/>
                    <a:lstStyle/>
                    <a:p>
                      <a:pPr algn="l" fontAlgn="b"/>
                      <a:r>
                        <a:rPr lang="en-US" sz="1100" b="0" i="0" u="none" strike="noStrike" dirty="0" smtClean="0">
                          <a:solidFill>
                            <a:srgbClr val="000000"/>
                          </a:solidFill>
                          <a:latin typeface="Calibri"/>
                        </a:rPr>
                        <a:t>Claim 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685800" y="4171950"/>
          <a:ext cx="4318002" cy="190500"/>
        </p:xfrm>
        <a:graphic>
          <a:graphicData uri="http://schemas.openxmlformats.org/drawingml/2006/table">
            <a:tbl>
              <a:tblPr/>
              <a:tblGrid>
                <a:gridCol w="563218"/>
                <a:gridCol w="563218"/>
                <a:gridCol w="563218"/>
                <a:gridCol w="563218"/>
                <a:gridCol w="563218"/>
                <a:gridCol w="750956"/>
                <a:gridCol w="750956"/>
              </a:tblGrid>
              <a:tr h="190500">
                <a:tc>
                  <a:txBody>
                    <a:bodyPr/>
                    <a:lstStyle/>
                    <a:p>
                      <a:pPr algn="l" fontAlgn="b"/>
                      <a:r>
                        <a:rPr lang="en-US" sz="1100" b="0" i="0" u="none" strike="noStrike" dirty="0" smtClean="0">
                          <a:solidFill>
                            <a:srgbClr val="000000"/>
                          </a:solidFill>
                          <a:latin typeface="Calibri"/>
                        </a:rPr>
                        <a:t>Claim</a:t>
                      </a:r>
                      <a:r>
                        <a:rPr lang="en-US" sz="1100" b="0" i="0" u="none" strike="noStrike" baseline="0" dirty="0" smtClean="0">
                          <a:solidFill>
                            <a:srgbClr val="000000"/>
                          </a:solidFill>
                          <a:latin typeface="Calibri"/>
                        </a:rPr>
                        <a:t> 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$6.35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$43.65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2" name="Table 41"/>
          <p:cNvGraphicFramePr>
            <a:graphicFrameLocks noGrp="1"/>
          </p:cNvGraphicFramePr>
          <p:nvPr/>
        </p:nvGraphicFramePr>
        <p:xfrm>
          <a:off x="51816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linds(horizont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linds(horizontal)">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checkerboard(across)">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8" presetClass="entr" presetSubtype="16" fill="hold"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diamond(in)">
                                      <p:cBhvr>
                                        <p:cTn id="74" dur="20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checkerboard(across)">
                                      <p:cBhvr>
                                        <p:cTn id="79" dur="500"/>
                                        <p:tgtEl>
                                          <p:spTgt spid="22"/>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500" fill="hold"/>
                                        <p:tgtEl>
                                          <p:spTgt spid="24"/>
                                        </p:tgtEl>
                                        <p:attrNameLst>
                                          <p:attrName>ppt_x</p:attrName>
                                        </p:attrNameLst>
                                      </p:cBhvr>
                                      <p:tavLst>
                                        <p:tav tm="0">
                                          <p:val>
                                            <p:strVal val="#ppt_x"/>
                                          </p:val>
                                        </p:tav>
                                        <p:tav tm="100000">
                                          <p:val>
                                            <p:strVal val="#ppt_x"/>
                                          </p:val>
                                        </p:tav>
                                      </p:tavLst>
                                    </p:anim>
                                    <p:anim calcmode="lin" valueType="num">
                                      <p:cBhvr additive="base">
                                        <p:cTn id="8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5" presetClass="entr" presetSubtype="10" fill="hold"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checkerboard(across)">
                                      <p:cBhvr>
                                        <p:cTn id="90"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5" presetClass="entr" presetSubtype="10" fill="hold" nodeType="click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checkerboard(across)">
                                      <p:cBhvr>
                                        <p:cTn id="101" dur="500"/>
                                        <p:tgtEl>
                                          <p:spTgt spid="26"/>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36"/>
                                        </p:tgtEl>
                                        <p:attrNameLst>
                                          <p:attrName>style.visibility</p:attrName>
                                        </p:attrNameLst>
                                      </p:cBhvr>
                                      <p:to>
                                        <p:strVal val="visible"/>
                                      </p:to>
                                    </p:set>
                                    <p:anim calcmode="lin" valueType="num">
                                      <p:cBhvr additive="base">
                                        <p:cTn id="106" dur="500" fill="hold"/>
                                        <p:tgtEl>
                                          <p:spTgt spid="36"/>
                                        </p:tgtEl>
                                        <p:attrNameLst>
                                          <p:attrName>ppt_x</p:attrName>
                                        </p:attrNameLst>
                                      </p:cBhvr>
                                      <p:tavLst>
                                        <p:tav tm="0">
                                          <p:val>
                                            <p:strVal val="#ppt_x"/>
                                          </p:val>
                                        </p:tav>
                                        <p:tav tm="100000">
                                          <p:val>
                                            <p:strVal val="#ppt_x"/>
                                          </p:val>
                                        </p:tav>
                                      </p:tavLst>
                                    </p:anim>
                                    <p:anim calcmode="lin" valueType="num">
                                      <p:cBhvr additive="base">
                                        <p:cTn id="107"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5" presetClass="entr" presetSubtype="10" fill="hold"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checkerboard(across)">
                                      <p:cBhvr>
                                        <p:cTn id="112" dur="500"/>
                                        <p:tgtEl>
                                          <p:spTgt spid="34"/>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37"/>
                                        </p:tgtEl>
                                        <p:attrNameLst>
                                          <p:attrName>style.visibility</p:attrName>
                                        </p:attrNameLst>
                                      </p:cBhvr>
                                      <p:to>
                                        <p:strVal val="visible"/>
                                      </p:to>
                                    </p:set>
                                    <p:anim calcmode="lin" valueType="num">
                                      <p:cBhvr additive="base">
                                        <p:cTn id="117" dur="500" fill="hold"/>
                                        <p:tgtEl>
                                          <p:spTgt spid="37"/>
                                        </p:tgtEl>
                                        <p:attrNameLst>
                                          <p:attrName>ppt_x</p:attrName>
                                        </p:attrNameLst>
                                      </p:cBhvr>
                                      <p:tavLst>
                                        <p:tav tm="0">
                                          <p:val>
                                            <p:strVal val="#ppt_x"/>
                                          </p:val>
                                        </p:tav>
                                        <p:tav tm="100000">
                                          <p:val>
                                            <p:strVal val="#ppt_x"/>
                                          </p:val>
                                        </p:tav>
                                      </p:tavLst>
                                    </p:anim>
                                    <p:anim calcmode="lin" valueType="num">
                                      <p:cBhvr additive="base">
                                        <p:cTn id="11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5" presetClass="entr" presetSubtype="10" fill="hold"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checkerboard(across)">
                                      <p:cBhvr>
                                        <p:cTn id="123" dur="500"/>
                                        <p:tgtEl>
                                          <p:spTgt spid="35"/>
                                        </p:tgtEl>
                                      </p:cBhvr>
                                    </p:animEffect>
                                  </p:childTnLst>
                                </p:cTn>
                              </p:par>
                            </p:childTnLst>
                          </p:cTn>
                        </p:par>
                      </p:childTnLst>
                    </p:cTn>
                  </p:par>
                  <p:par>
                    <p:cTn id="124" fill="hold">
                      <p:stCondLst>
                        <p:cond delay="indefinite"/>
                      </p:stCondLst>
                      <p:childTnLst>
                        <p:par>
                          <p:cTn id="125" fill="hold">
                            <p:stCondLst>
                              <p:cond delay="0"/>
                            </p:stCondLst>
                            <p:childTnLst>
                              <p:par>
                                <p:cTn id="126" presetID="5" presetClass="entr" presetSubtype="10" fill="hold" nodeType="click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checkerboard(across)">
                                      <p:cBhvr>
                                        <p:cTn id="128" dur="500"/>
                                        <p:tgtEl>
                                          <p:spTgt spid="42"/>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0"/>
                                        </p:tgtEl>
                                        <p:attrNameLst>
                                          <p:attrName>style.visibility</p:attrName>
                                        </p:attrNameLst>
                                      </p:cBhvr>
                                      <p:to>
                                        <p:strVal val="visible"/>
                                      </p:to>
                                    </p:set>
                                    <p:anim calcmode="lin" valueType="num">
                                      <p:cBhvr additive="base">
                                        <p:cTn id="133" dur="500" fill="hold"/>
                                        <p:tgtEl>
                                          <p:spTgt spid="40"/>
                                        </p:tgtEl>
                                        <p:attrNameLst>
                                          <p:attrName>ppt_x</p:attrName>
                                        </p:attrNameLst>
                                      </p:cBhvr>
                                      <p:tavLst>
                                        <p:tav tm="0">
                                          <p:val>
                                            <p:strVal val="#ppt_x"/>
                                          </p:val>
                                        </p:tav>
                                        <p:tav tm="100000">
                                          <p:val>
                                            <p:strVal val="#ppt_x"/>
                                          </p:val>
                                        </p:tav>
                                      </p:tavLst>
                                    </p:anim>
                                    <p:anim calcmode="lin" valueType="num">
                                      <p:cBhvr additive="base">
                                        <p:cTn id="13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697448-FA31-4949-9864-F7BD87D6893B}" type="slidenum">
              <a:rPr lang="en-US" smtClean="0"/>
              <a:pPr/>
              <a:t>15</a:t>
            </a:fld>
            <a:endParaRPr lang="en-US" dirty="0"/>
          </a:p>
        </p:txBody>
      </p:sp>
      <p:sp>
        <p:nvSpPr>
          <p:cNvPr id="7" name="Title 6"/>
          <p:cNvSpPr>
            <a:spLocks noGrp="1"/>
          </p:cNvSpPr>
          <p:nvPr>
            <p:ph type="title"/>
          </p:nvPr>
        </p:nvSpPr>
        <p:spPr/>
        <p:txBody>
          <a:bodyPr/>
          <a:lstStyle/>
          <a:p>
            <a:r>
              <a:rPr lang="en-US" dirty="0" smtClean="0"/>
              <a:t>Part-D Split Claim</a:t>
            </a:r>
            <a:endParaRPr lang="en-US" dirty="0"/>
          </a:p>
        </p:txBody>
      </p:sp>
      <p:graphicFrame>
        <p:nvGraphicFramePr>
          <p:cNvPr id="8" name="Table 7"/>
          <p:cNvGraphicFramePr>
            <a:graphicFrameLocks noGrp="1"/>
          </p:cNvGraphicFramePr>
          <p:nvPr/>
        </p:nvGraphicFramePr>
        <p:xfrm>
          <a:off x="6934200" y="1200150"/>
          <a:ext cx="914400" cy="3276604"/>
        </p:xfrm>
        <a:graphic>
          <a:graphicData uri="http://schemas.openxmlformats.org/drawingml/2006/table">
            <a:tbl>
              <a:tblPr/>
              <a:tblGrid>
                <a:gridCol w="914400"/>
              </a:tblGrid>
              <a:tr h="819151">
                <a:tc>
                  <a:txBody>
                    <a:bodyPr/>
                    <a:lstStyle/>
                    <a:p>
                      <a:pPr algn="ctr"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92D050"/>
                    </a:solidFill>
                  </a:tcPr>
                </a:tc>
              </a:tr>
              <a:tr h="819151">
                <a:tc>
                  <a:txBody>
                    <a:bodyPr/>
                    <a:lstStyle/>
                    <a:p>
                      <a:pPr algn="ctr"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E46D0A"/>
                    </a:solidFill>
                  </a:tcPr>
                </a:tc>
              </a:tr>
              <a:tr h="819151">
                <a:tc>
                  <a:txBody>
                    <a:bodyPr/>
                    <a:lstStyle/>
                    <a:p>
                      <a:pPr algn="ctr"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FF0000"/>
                    </a:solidFill>
                  </a:tcPr>
                </a:tc>
              </a:tr>
              <a:tr h="819151">
                <a:tc>
                  <a:txBody>
                    <a:bodyPr/>
                    <a:lstStyle/>
                    <a:p>
                      <a:pPr algn="ctr"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a:noFill/>
                    </a:lnL>
                    <a:lnR>
                      <a:noFill/>
                    </a:lnR>
                    <a:lnT>
                      <a:noFill/>
                    </a:lnT>
                    <a:lnB>
                      <a:noFill/>
                    </a:lnB>
                    <a:solidFill>
                      <a:srgbClr val="C00000"/>
                    </a:solidFill>
                  </a:tcPr>
                </a:tc>
              </a:tr>
            </a:tbl>
          </a:graphicData>
        </a:graphic>
      </p:graphicFrame>
      <p:sp>
        <p:nvSpPr>
          <p:cNvPr id="10" name="Right Brace 9"/>
          <p:cNvSpPr/>
          <p:nvPr/>
        </p:nvSpPr>
        <p:spPr>
          <a:xfrm>
            <a:off x="8077200" y="1276350"/>
            <a:ext cx="76200" cy="685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Right Brace 10"/>
          <p:cNvSpPr/>
          <p:nvPr/>
        </p:nvSpPr>
        <p:spPr>
          <a:xfrm>
            <a:off x="8077200" y="1962150"/>
            <a:ext cx="76200"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8077200" y="2876550"/>
            <a:ext cx="45719" cy="762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p:cNvSpPr/>
          <p:nvPr/>
        </p:nvSpPr>
        <p:spPr>
          <a:xfrm>
            <a:off x="8077200" y="3714750"/>
            <a:ext cx="45719"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nvGraphicFramePr>
        <p:xfrm>
          <a:off x="8305800" y="1504950"/>
          <a:ext cx="381000" cy="190500"/>
        </p:xfrm>
        <a:graphic>
          <a:graphicData uri="http://schemas.openxmlformats.org/drawingml/2006/table">
            <a:tbl>
              <a:tblPr/>
              <a:tblGrid>
                <a:gridCol w="381000"/>
              </a:tblGrid>
              <a:tr h="190500">
                <a:tc>
                  <a:txBody>
                    <a:bodyPr/>
                    <a:lstStyle/>
                    <a:p>
                      <a:pPr algn="r" fontAlgn="b"/>
                      <a:r>
                        <a:rPr lang="en-US" sz="1100" b="0" i="0" u="none" strike="noStrike" dirty="0" smtClean="0">
                          <a:solidFill>
                            <a:srgbClr val="000000"/>
                          </a:solidFill>
                          <a:latin typeface="Calibri"/>
                        </a:rPr>
                        <a:t>100%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9" name="Table 18"/>
          <p:cNvGraphicFramePr>
            <a:graphicFrameLocks noGrp="1"/>
          </p:cNvGraphicFramePr>
          <p:nvPr/>
        </p:nvGraphicFramePr>
        <p:xfrm>
          <a:off x="8229600" y="2190750"/>
          <a:ext cx="914400" cy="190500"/>
        </p:xfrm>
        <a:graphic>
          <a:graphicData uri="http://schemas.openxmlformats.org/drawingml/2006/table">
            <a:tbl>
              <a:tblPr/>
              <a:tblGrid>
                <a:gridCol w="914400"/>
              </a:tblGrid>
              <a:tr h="190500">
                <a:tc>
                  <a:txBody>
                    <a:bodyPr/>
                    <a:lstStyle/>
                    <a:p>
                      <a:pPr algn="l"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0" name="Table 19"/>
          <p:cNvGraphicFramePr>
            <a:graphicFrameLocks noGrp="1"/>
          </p:cNvGraphicFramePr>
          <p:nvPr/>
        </p:nvGraphicFramePr>
        <p:xfrm>
          <a:off x="8229600" y="3028950"/>
          <a:ext cx="914400" cy="190500"/>
        </p:xfrm>
        <a:graphic>
          <a:graphicData uri="http://schemas.openxmlformats.org/drawingml/2006/table">
            <a:tbl>
              <a:tblPr/>
              <a:tblGrid>
                <a:gridCol w="914400"/>
              </a:tblGrid>
              <a:tr h="190500">
                <a:tc>
                  <a:txBody>
                    <a:bodyPr/>
                    <a:lstStyle/>
                    <a:p>
                      <a:pPr algn="l" fontAlgn="b"/>
                      <a:r>
                        <a:rPr lang="en-US" sz="1100" b="0" i="0" u="none" strike="noStrike" dirty="0" smtClean="0">
                          <a:solidFill>
                            <a:srgbClr val="000000"/>
                          </a:solidFill>
                          <a:latin typeface="Calibri"/>
                        </a:rPr>
                        <a:t>72% or 47.5%</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8229600" y="3867150"/>
          <a:ext cx="685800" cy="190500"/>
        </p:xfrm>
        <a:graphic>
          <a:graphicData uri="http://schemas.openxmlformats.org/drawingml/2006/table">
            <a:tbl>
              <a:tblPr/>
              <a:tblGrid>
                <a:gridCol w="685800"/>
              </a:tblGrid>
              <a:tr h="190500">
                <a:tc>
                  <a:txBody>
                    <a:bodyPr/>
                    <a:lstStyle/>
                    <a:p>
                      <a:pPr algn="l" fontAlgn="b"/>
                      <a:r>
                        <a:rPr lang="en-US" sz="1100" b="0" i="0" u="none" strike="noStrike" dirty="0" smtClean="0">
                          <a:solidFill>
                            <a:srgbClr val="000000"/>
                          </a:solidFill>
                          <a:latin typeface="Calibri"/>
                        </a:rPr>
                        <a:t>5 %</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32" name="Table 31"/>
          <p:cNvGraphicFramePr>
            <a:graphicFrameLocks noGrp="1"/>
          </p:cNvGraphicFramePr>
          <p:nvPr/>
        </p:nvGraphicFramePr>
        <p:xfrm>
          <a:off x="685800" y="819150"/>
          <a:ext cx="838200" cy="1143000"/>
        </p:xfrm>
        <a:graphic>
          <a:graphicData uri="http://schemas.openxmlformats.org/drawingml/2006/table">
            <a:tbl>
              <a:tblPr/>
              <a:tblGrid>
                <a:gridCol w="457200"/>
                <a:gridCol w="381000"/>
              </a:tblGrid>
              <a:tr h="190500">
                <a:tc>
                  <a:txBody>
                    <a:bodyPr/>
                    <a:lstStyle/>
                    <a:p>
                      <a:pPr algn="ctr" fontAlgn="b"/>
                      <a:r>
                        <a:rPr lang="en-US" sz="1100" b="0" i="0" u="none" strike="noStrike" dirty="0">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n-US" sz="1100" b="0" i="0" u="none" strike="noStrike">
                          <a:solidFill>
                            <a:srgbClr val="000000"/>
                          </a:solidFill>
                          <a:latin typeface="Calibri"/>
                        </a:rPr>
                        <a:t>Limit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ctr" rtl="0"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$100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$220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rtl="0"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dirty="0" smtClean="0">
                          <a:solidFill>
                            <a:srgbClr val="000000"/>
                          </a:solidFill>
                          <a:latin typeface="Calibri"/>
                        </a:rPr>
                        <a:t>$175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rtl="0"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4" name="Table 13"/>
          <p:cNvGraphicFramePr>
            <a:graphicFrameLocks noGrp="1"/>
          </p:cNvGraphicFramePr>
          <p:nvPr/>
        </p:nvGraphicFramePr>
        <p:xfrm>
          <a:off x="685800" y="2190750"/>
          <a:ext cx="4267202" cy="381000"/>
        </p:xfrm>
        <a:graphic>
          <a:graphicData uri="http://schemas.openxmlformats.org/drawingml/2006/table">
            <a:tbl>
              <a:tblPr/>
              <a:tblGrid>
                <a:gridCol w="556592"/>
                <a:gridCol w="556592"/>
                <a:gridCol w="556592"/>
                <a:gridCol w="556592"/>
                <a:gridCol w="556592"/>
                <a:gridCol w="742121"/>
                <a:gridCol w="742121"/>
              </a:tblGrid>
              <a:tr h="190500">
                <a:tc>
                  <a:txBody>
                    <a:bodyPr/>
                    <a:lstStyle/>
                    <a:p>
                      <a:pPr algn="l" fontAlgn="b"/>
                      <a:r>
                        <a:rPr lang="en-US" sz="1100" b="0" i="0" u="none" strike="noStrike" dirty="0">
                          <a:solidFill>
                            <a:srgbClr val="000000"/>
                          </a:solidFill>
                          <a:latin typeface="Calibri"/>
                        </a:rPr>
                        <a:t>Claim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a:solidFill>
                            <a:srgbClr val="000000"/>
                          </a:solidFill>
                          <a:latin typeface="Calibri"/>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Copay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a:solidFill>
                            <a:srgbClr val="000000"/>
                          </a:solidFill>
                          <a:latin typeface="Calibri"/>
                        </a:rPr>
                        <a:t>Plan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a:solidFill>
                            <a:srgbClr val="000000"/>
                          </a:solidFill>
                          <a:latin typeface="Calibri"/>
                        </a:rPr>
                        <a:t>Phase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a:solidFill>
                            <a:srgbClr val="000000"/>
                          </a:solidFill>
                          <a:latin typeface="Calibri"/>
                        </a:rPr>
                        <a:t>member Pay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l" fontAlgn="b"/>
                      <a:r>
                        <a:rPr lang="en-US" sz="1100" b="0" i="0" u="none" strike="noStrike" dirty="0" smtClean="0">
                          <a:solidFill>
                            <a:srgbClr val="000000"/>
                          </a:solidFill>
                          <a:latin typeface="Calibri"/>
                        </a:rPr>
                        <a:t>PLAN PAY</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l" fontAlgn="b"/>
                      <a:r>
                        <a:rPr lang="en-US" sz="1100" b="0" i="0" u="none" strike="noStrike" dirty="0" smtClean="0">
                          <a:solidFill>
                            <a:srgbClr val="000000"/>
                          </a:solidFill>
                          <a:latin typeface="Calibri"/>
                        </a:rPr>
                        <a:t>Claim 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 name="Table 15"/>
          <p:cNvGraphicFramePr>
            <a:graphicFrameLocks noGrp="1"/>
          </p:cNvGraphicFramePr>
          <p:nvPr/>
        </p:nvGraphicFramePr>
        <p:xfrm>
          <a:off x="7162800" y="1352550"/>
          <a:ext cx="355600" cy="344805"/>
        </p:xfrm>
        <a:graphic>
          <a:graphicData uri="http://schemas.openxmlformats.org/drawingml/2006/table">
            <a:tbl>
              <a:tblPr/>
              <a:tblGrid>
                <a:gridCol w="355600"/>
              </a:tblGrid>
              <a:tr h="190500">
                <a:tc>
                  <a:txBody>
                    <a:bodyPr/>
                    <a:lstStyle/>
                    <a:p>
                      <a:pPr algn="r" fontAlgn="b"/>
                      <a:r>
                        <a:rPr lang="en-US" sz="1100" b="0" i="0" u="none" strike="noStrike" dirty="0">
                          <a:solidFill>
                            <a:srgbClr val="000000"/>
                          </a:solidFill>
                          <a:latin typeface="Calibri"/>
                        </a:rPr>
                        <a:t>$50 </a:t>
                      </a:r>
                      <a:endParaRPr lang="en-US" sz="1100" b="0" i="0" u="none" strike="noStrike" dirty="0" smtClean="0">
                        <a:solidFill>
                          <a:srgbClr val="000000"/>
                        </a:solidFill>
                        <a:latin typeface="Calibri"/>
                      </a:endParaRPr>
                    </a:p>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17" name="Table 16"/>
          <p:cNvGraphicFramePr>
            <a:graphicFrameLocks noGrp="1"/>
          </p:cNvGraphicFramePr>
          <p:nvPr/>
        </p:nvGraphicFramePr>
        <p:xfrm>
          <a:off x="1828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$60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$180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$135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2" name="Table 21"/>
          <p:cNvGraphicFramePr>
            <a:graphicFrameLocks noGrp="1"/>
          </p:cNvGraphicFramePr>
          <p:nvPr/>
        </p:nvGraphicFramePr>
        <p:xfrm>
          <a:off x="2209800" y="742950"/>
          <a:ext cx="381000" cy="1274445"/>
        </p:xfrm>
        <a:graphic>
          <a:graphicData uri="http://schemas.openxmlformats.org/drawingml/2006/table">
            <a:tbl>
              <a:tblPr/>
              <a:tblGrid>
                <a:gridCol w="381000"/>
              </a:tblGrid>
              <a:tr h="381000">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$20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$95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685800" y="2571750"/>
          <a:ext cx="4267202" cy="190500"/>
        </p:xfrm>
        <a:graphic>
          <a:graphicData uri="http://schemas.openxmlformats.org/drawingml/2006/table">
            <a:tbl>
              <a:tblPr/>
              <a:tblGrid>
                <a:gridCol w="556592"/>
                <a:gridCol w="556592"/>
                <a:gridCol w="556592"/>
                <a:gridCol w="556592"/>
                <a:gridCol w="556592"/>
                <a:gridCol w="742121"/>
                <a:gridCol w="742121"/>
              </a:tblGrid>
              <a:tr h="190500">
                <a:tc>
                  <a:txBody>
                    <a:bodyPr/>
                    <a:lstStyle/>
                    <a:p>
                      <a:pPr algn="l" fontAlgn="b"/>
                      <a:r>
                        <a:rPr lang="en-US" sz="1100" b="0" i="0" u="none" strike="noStrike" dirty="0" smtClean="0">
                          <a:solidFill>
                            <a:srgbClr val="000000"/>
                          </a:solidFill>
                          <a:latin typeface="Calibri"/>
                        </a:rPr>
                        <a:t>Claim 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DD1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685800" y="2800350"/>
          <a:ext cx="4267201" cy="190500"/>
        </p:xfrm>
        <a:graphic>
          <a:graphicData uri="http://schemas.openxmlformats.org/drawingml/2006/table">
            <a:tbl>
              <a:tblPr/>
              <a:tblGrid>
                <a:gridCol w="565817"/>
                <a:gridCol w="565817"/>
                <a:gridCol w="565817"/>
                <a:gridCol w="565817"/>
                <a:gridCol w="556132"/>
                <a:gridCol w="685800"/>
                <a:gridCol w="762001"/>
              </a:tblGrid>
              <a:tr h="190500">
                <a:tc>
                  <a:txBody>
                    <a:bodyPr/>
                    <a:lstStyle/>
                    <a:p>
                      <a:pPr algn="l" fontAlgn="b"/>
                      <a:r>
                        <a:rPr lang="en-US" sz="1100" b="0" i="0" u="none" strike="noStrike" dirty="0" smtClean="0">
                          <a:solidFill>
                            <a:srgbClr val="000000"/>
                          </a:solidFill>
                          <a:latin typeface="Calibri"/>
                        </a:rPr>
                        <a:t>Claim </a:t>
                      </a:r>
                      <a:r>
                        <a:rPr lang="en-US" sz="1100" b="0" i="0" u="none" strike="noStrike" dirty="0">
                          <a:solidFill>
                            <a:srgbClr val="00000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ID1&amp;IC1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2590800" y="742950"/>
          <a:ext cx="381001" cy="1274445"/>
        </p:xfrm>
        <a:graphic>
          <a:graphicData uri="http://schemas.openxmlformats.org/drawingml/2006/table">
            <a:tbl>
              <a:tblPr/>
              <a:tblGrid>
                <a:gridCol w="381001"/>
              </a:tblGrid>
              <a:tr h="381000">
                <a:tc>
                  <a:txBody>
                    <a:bodyPr/>
                    <a:lstStyle/>
                    <a:p>
                      <a:pPr algn="l" rtl="0" fontAlgn="b"/>
                      <a:r>
                        <a:rPr lang="en-US" sz="1100" b="0" i="0" u="none" strike="noStrike" dirty="0">
                          <a:solidFill>
                            <a:srgbClr val="000000"/>
                          </a:solidFill>
                          <a:latin typeface="Calibri"/>
                        </a:rPr>
                        <a:t>Limit After -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190500">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$100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$70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6" name="Table 25"/>
          <p:cNvGraphicFramePr>
            <a:graphicFrameLocks noGrp="1"/>
          </p:cNvGraphicFramePr>
          <p:nvPr/>
        </p:nvGraphicFramePr>
        <p:xfrm>
          <a:off x="2971800" y="738999"/>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$60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$60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4">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 name="Table 27"/>
          <p:cNvGraphicFramePr>
            <a:graphicFrameLocks noGrp="1"/>
          </p:cNvGraphicFramePr>
          <p:nvPr/>
        </p:nvGraphicFramePr>
        <p:xfrm>
          <a:off x="685800" y="3028950"/>
          <a:ext cx="4267201" cy="190500"/>
        </p:xfrm>
        <a:graphic>
          <a:graphicData uri="http://schemas.openxmlformats.org/drawingml/2006/table">
            <a:tbl>
              <a:tblPr/>
              <a:tblGrid>
                <a:gridCol w="565817"/>
                <a:gridCol w="565817"/>
                <a:gridCol w="565817"/>
                <a:gridCol w="565817"/>
                <a:gridCol w="556132"/>
                <a:gridCol w="685800"/>
                <a:gridCol w="762001"/>
              </a:tblGrid>
              <a:tr h="190500">
                <a:tc>
                  <a:txBody>
                    <a:bodyPr/>
                    <a:lstStyle/>
                    <a:p>
                      <a:pPr algn="l" fontAlgn="b"/>
                      <a:r>
                        <a:rPr lang="en-US" sz="1100" b="0" i="0" u="none" strike="noStrike" dirty="0" smtClean="0">
                          <a:solidFill>
                            <a:srgbClr val="000000"/>
                          </a:solidFill>
                          <a:latin typeface="Calibri"/>
                        </a:rPr>
                        <a:t>Claim 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4" name="Table 33"/>
          <p:cNvGraphicFramePr>
            <a:graphicFrameLocks noGrp="1"/>
          </p:cNvGraphicFramePr>
          <p:nvPr/>
        </p:nvGraphicFramePr>
        <p:xfrm>
          <a:off x="3733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$20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44958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$30.6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6" name="Table 35"/>
          <p:cNvGraphicFramePr>
            <a:graphicFrameLocks noGrp="1"/>
          </p:cNvGraphicFramePr>
          <p:nvPr/>
        </p:nvGraphicFramePr>
        <p:xfrm>
          <a:off x="609600" y="3409950"/>
          <a:ext cx="4343398" cy="190500"/>
        </p:xfrm>
        <a:graphic>
          <a:graphicData uri="http://schemas.openxmlformats.org/drawingml/2006/table">
            <a:tbl>
              <a:tblPr/>
              <a:tblGrid>
                <a:gridCol w="575920"/>
                <a:gridCol w="575920"/>
                <a:gridCol w="575920"/>
                <a:gridCol w="575920"/>
                <a:gridCol w="744320"/>
                <a:gridCol w="599494"/>
                <a:gridCol w="695904"/>
              </a:tblGrid>
              <a:tr h="190500">
                <a:tc>
                  <a:txBody>
                    <a:bodyPr/>
                    <a:lstStyle/>
                    <a:p>
                      <a:pPr algn="l" fontAlgn="b"/>
                      <a:r>
                        <a:rPr lang="en-US" sz="1100" b="0" i="0" u="none" strike="noStrike" dirty="0" smtClean="0">
                          <a:solidFill>
                            <a:srgbClr val="000000"/>
                          </a:solidFill>
                          <a:latin typeface="Calibri"/>
                        </a:rPr>
                        <a:t>Claim 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IC1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 name="Table 36"/>
          <p:cNvGraphicFramePr>
            <a:graphicFrameLocks noGrp="1"/>
          </p:cNvGraphicFramePr>
          <p:nvPr/>
        </p:nvGraphicFramePr>
        <p:xfrm>
          <a:off x="609600" y="3638550"/>
          <a:ext cx="4317997" cy="190500"/>
        </p:xfrm>
        <a:graphic>
          <a:graphicData uri="http://schemas.openxmlformats.org/drawingml/2006/table">
            <a:tbl>
              <a:tblPr/>
              <a:tblGrid>
                <a:gridCol w="572552"/>
                <a:gridCol w="572552"/>
                <a:gridCol w="572552"/>
                <a:gridCol w="572552"/>
                <a:gridCol w="656192"/>
                <a:gridCol w="679763"/>
                <a:gridCol w="691834"/>
              </a:tblGrid>
              <a:tr h="190500">
                <a:tc>
                  <a:txBody>
                    <a:bodyPr/>
                    <a:lstStyle/>
                    <a:p>
                      <a:pPr algn="l" fontAlgn="b"/>
                      <a:r>
                        <a:rPr lang="en-US" sz="1100" b="0" i="0" u="none" strike="noStrike" dirty="0" smtClean="0">
                          <a:solidFill>
                            <a:srgbClr val="000000"/>
                          </a:solidFill>
                          <a:latin typeface="Calibri"/>
                        </a:rPr>
                        <a:t>Claim 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IC1 &amp;</a:t>
                      </a:r>
                      <a:r>
                        <a:rPr lang="en-US" sz="1100" b="0" i="0" u="none" strike="noStrike" baseline="0" dirty="0" smtClean="0">
                          <a:solidFill>
                            <a:srgbClr val="000000"/>
                          </a:solidFill>
                          <a:latin typeface="Calibri"/>
                        </a:rPr>
                        <a:t> </a:t>
                      </a:r>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19.4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21.6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609600" y="3867150"/>
          <a:ext cx="4318002" cy="190500"/>
        </p:xfrm>
        <a:graphic>
          <a:graphicData uri="http://schemas.openxmlformats.org/drawingml/2006/table">
            <a:tbl>
              <a:tblPr/>
              <a:tblGrid>
                <a:gridCol w="563218"/>
                <a:gridCol w="563218"/>
                <a:gridCol w="563218"/>
                <a:gridCol w="563218"/>
                <a:gridCol w="563218"/>
                <a:gridCol w="750956"/>
                <a:gridCol w="750956"/>
              </a:tblGrid>
              <a:tr h="190500">
                <a:tc>
                  <a:txBody>
                    <a:bodyPr/>
                    <a:lstStyle/>
                    <a:p>
                      <a:pPr algn="l" fontAlgn="b"/>
                      <a:r>
                        <a:rPr lang="en-US" sz="1100" b="0" i="0" u="none" strike="noStrike" dirty="0" smtClean="0">
                          <a:solidFill>
                            <a:srgbClr val="000000"/>
                          </a:solidFill>
                          <a:latin typeface="Calibri"/>
                        </a:rPr>
                        <a:t>Claim</a:t>
                      </a:r>
                      <a:r>
                        <a:rPr lang="en-US" sz="1100" b="0" i="0" u="none" strike="noStrike" baseline="0" dirty="0" smtClean="0">
                          <a:solidFill>
                            <a:srgbClr val="000000"/>
                          </a:solidFill>
                          <a:latin typeface="Calibri"/>
                        </a:rPr>
                        <a:t> 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CG1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$28.8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$12.2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2" name="Table 41"/>
          <p:cNvGraphicFramePr>
            <a:graphicFrameLocks noGrp="1"/>
          </p:cNvGraphicFramePr>
          <p:nvPr/>
        </p:nvGraphicFramePr>
        <p:xfrm>
          <a:off x="5181600" y="742950"/>
          <a:ext cx="381000" cy="1299351"/>
        </p:xfrm>
        <a:graphic>
          <a:graphicData uri="http://schemas.openxmlformats.org/drawingml/2006/table">
            <a:tbl>
              <a:tblPr/>
              <a:tblGrid>
                <a:gridCol w="381000"/>
              </a:tblGrid>
              <a:tr h="482412">
                <a:tc>
                  <a:txBody>
                    <a:bodyPr/>
                    <a:lstStyle/>
                    <a:p>
                      <a:pPr algn="l" rtl="0" fontAlgn="b"/>
                      <a:r>
                        <a:rPr lang="en-US" sz="1100" b="0" i="0" u="none" strike="noStrike" dirty="0">
                          <a:solidFill>
                            <a:srgbClr val="000000"/>
                          </a:solidFill>
                          <a:latin typeface="Calibri"/>
                        </a:rPr>
                        <a:t>Limit After - </a:t>
                      </a:r>
                      <a:r>
                        <a:rPr lang="en-US" sz="1100" b="0" i="0" u="none" strike="noStrike" dirty="0" smtClean="0">
                          <a:solidFill>
                            <a:srgbClr val="000000"/>
                          </a:solidFill>
                          <a:latin typeface="Calibri"/>
                        </a:rPr>
                        <a:t>#7</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$0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3247">
                <a:tc>
                  <a:txBody>
                    <a:bodyPr/>
                    <a:lstStyle/>
                    <a:p>
                      <a:pPr algn="r" rtl="0" fontAlgn="b"/>
                      <a:r>
                        <a:rPr lang="en-US" sz="1100" b="0" i="0" u="none" strike="noStrike" dirty="0" smtClean="0">
                          <a:solidFill>
                            <a:srgbClr val="000000"/>
                          </a:solidFill>
                          <a:latin typeface="Calibri"/>
                        </a:rPr>
                        <a:t>$2.2 </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3213">
                <a:tc>
                  <a:txBody>
                    <a:bodyPr/>
                    <a:lstStyle/>
                    <a:p>
                      <a:pPr algn="r" rtl="0" fontAlgn="b"/>
                      <a:r>
                        <a:rPr lang="en-US" sz="1100" b="0" i="0" u="none" strike="noStrike" dirty="0" smtClean="0">
                          <a:solidFill>
                            <a:srgbClr val="000000"/>
                          </a:solidFill>
                          <a:latin typeface="Calibri"/>
                        </a:rPr>
                        <a:t>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5410200" y="2038350"/>
          <a:ext cx="838200" cy="512445"/>
        </p:xfrm>
        <a:graphic>
          <a:graphicData uri="http://schemas.openxmlformats.org/drawingml/2006/table">
            <a:tbl>
              <a:tblPr/>
              <a:tblGrid>
                <a:gridCol w="838200"/>
              </a:tblGrid>
              <a:tr h="190500">
                <a:tc>
                  <a:txBody>
                    <a:bodyPr/>
                    <a:lstStyle/>
                    <a:p>
                      <a:pPr algn="l" fontAlgn="b"/>
                      <a:r>
                        <a:rPr lang="en-US" sz="1100" b="0" i="0" u="none" strike="noStrike" dirty="0">
                          <a:solidFill>
                            <a:srgbClr val="000000"/>
                          </a:solidFill>
                          <a:latin typeface="Calibri"/>
                        </a:rPr>
                        <a:t>Deductible $20+ IC1-(25%20)5</a:t>
                      </a:r>
                    </a:p>
                  </a:txBody>
                  <a:tcPr marL="9525" marR="9525" marT="9525" marB="0" anchor="b">
                    <a:lnL>
                      <a:noFill/>
                    </a:lnL>
                    <a:lnR>
                      <a:noFill/>
                    </a:lnR>
                    <a:lnT>
                      <a:noFill/>
                    </a:lnT>
                    <a:lnB>
                      <a:noFill/>
                    </a:lnB>
                  </a:tcPr>
                </a:tc>
              </a:tr>
            </a:tbl>
          </a:graphicData>
        </a:graphic>
      </p:graphicFrame>
      <p:cxnSp>
        <p:nvCxnSpPr>
          <p:cNvPr id="31" name="Straight Arrow Connector 30"/>
          <p:cNvCxnSpPr/>
          <p:nvPr/>
        </p:nvCxnSpPr>
        <p:spPr>
          <a:xfrm flipV="1">
            <a:off x="4114800" y="2495550"/>
            <a:ext cx="1219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5410200" y="2800350"/>
          <a:ext cx="609600" cy="680085"/>
        </p:xfrm>
        <a:graphic>
          <a:graphicData uri="http://schemas.openxmlformats.org/drawingml/2006/table">
            <a:tbl>
              <a:tblPr/>
              <a:tblGrid>
                <a:gridCol w="609600"/>
              </a:tblGrid>
              <a:tr h="190500">
                <a:tc>
                  <a:txBody>
                    <a:bodyPr/>
                    <a:lstStyle/>
                    <a:p>
                      <a:pPr algn="l" fontAlgn="b"/>
                      <a:r>
                        <a:rPr lang="en-US" sz="1100" b="0" i="0" u="none" strike="noStrike" dirty="0">
                          <a:solidFill>
                            <a:srgbClr val="000000"/>
                          </a:solidFill>
                          <a:latin typeface="Calibri"/>
                        </a:rPr>
                        <a:t>IC1-25%20+ CG1- 72%20</a:t>
                      </a:r>
                    </a:p>
                  </a:txBody>
                  <a:tcPr marL="9525" marR="9525" marT="9525" marB="0" anchor="b">
                    <a:lnL>
                      <a:noFill/>
                    </a:lnL>
                    <a:lnR>
                      <a:noFill/>
                    </a:lnR>
                    <a:lnT>
                      <a:noFill/>
                    </a:lnT>
                    <a:lnB>
                      <a:noFill/>
                    </a:lnB>
                  </a:tcPr>
                </a:tc>
              </a:tr>
            </a:tbl>
          </a:graphicData>
        </a:graphic>
      </p:graphicFrame>
      <p:cxnSp>
        <p:nvCxnSpPr>
          <p:cNvPr id="38" name="Straight Arrow Connector 37"/>
          <p:cNvCxnSpPr/>
          <p:nvPr/>
        </p:nvCxnSpPr>
        <p:spPr>
          <a:xfrm flipV="1">
            <a:off x="4191000" y="3105150"/>
            <a:ext cx="11430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9" name="Table 38"/>
          <p:cNvGraphicFramePr>
            <a:graphicFrameLocks noGrp="1"/>
          </p:cNvGraphicFramePr>
          <p:nvPr/>
        </p:nvGraphicFramePr>
        <p:xfrm>
          <a:off x="609600" y="4095750"/>
          <a:ext cx="4318002" cy="190500"/>
        </p:xfrm>
        <a:graphic>
          <a:graphicData uri="http://schemas.openxmlformats.org/drawingml/2006/table">
            <a:tbl>
              <a:tblPr/>
              <a:tblGrid>
                <a:gridCol w="563218"/>
                <a:gridCol w="563218"/>
                <a:gridCol w="563218"/>
                <a:gridCol w="563218"/>
                <a:gridCol w="642728"/>
                <a:gridCol w="671446"/>
                <a:gridCol w="750956"/>
              </a:tblGrid>
              <a:tr h="190500">
                <a:tc>
                  <a:txBody>
                    <a:bodyPr/>
                    <a:lstStyle/>
                    <a:p>
                      <a:pPr algn="l" fontAlgn="b"/>
                      <a:r>
                        <a:rPr lang="en-US" sz="1100" b="0" i="0" u="none" strike="noStrike" dirty="0" smtClean="0">
                          <a:solidFill>
                            <a:srgbClr val="000000"/>
                          </a:solidFill>
                          <a:latin typeface="Calibri"/>
                        </a:rPr>
                        <a:t>Claim</a:t>
                      </a:r>
                      <a:r>
                        <a:rPr lang="en-US" sz="1100" b="0" i="0" u="none" strike="noStrike" baseline="0" dirty="0" smtClean="0">
                          <a:solidFill>
                            <a:srgbClr val="000000"/>
                          </a:solidFill>
                          <a:latin typeface="Calibri"/>
                        </a:rPr>
                        <a:t> 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CG1&amp;CAT</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$8.55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$31.45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 name="Table 40"/>
          <p:cNvGraphicFramePr>
            <a:graphicFrameLocks noGrp="1"/>
          </p:cNvGraphicFramePr>
          <p:nvPr/>
        </p:nvGraphicFramePr>
        <p:xfrm>
          <a:off x="5410200" y="3638550"/>
          <a:ext cx="762000" cy="344805"/>
        </p:xfrm>
        <a:graphic>
          <a:graphicData uri="http://schemas.openxmlformats.org/drawingml/2006/table">
            <a:tbl>
              <a:tblPr/>
              <a:tblGrid>
                <a:gridCol w="762000"/>
              </a:tblGrid>
              <a:tr h="190500">
                <a:tc>
                  <a:txBody>
                    <a:bodyPr/>
                    <a:lstStyle/>
                    <a:p>
                      <a:pPr algn="l" fontAlgn="b"/>
                      <a:r>
                        <a:rPr lang="en-US" sz="1100" b="0" i="0" u="none" strike="noStrike" dirty="0">
                          <a:solidFill>
                            <a:srgbClr val="000000"/>
                          </a:solidFill>
                          <a:latin typeface="Calibri"/>
                        </a:rPr>
                        <a:t>Remaining </a:t>
                      </a:r>
                      <a:r>
                        <a:rPr lang="en-US" sz="1100" b="0" i="0" u="none" strike="noStrike" dirty="0" smtClean="0">
                          <a:solidFill>
                            <a:srgbClr val="000000"/>
                          </a:solidFill>
                          <a:latin typeface="Calibri"/>
                        </a:rPr>
                        <a:t>2.2 </a:t>
                      </a:r>
                      <a:r>
                        <a:rPr lang="en-US" sz="1100" b="0" i="0" u="none" strike="noStrike" dirty="0">
                          <a:solidFill>
                            <a:srgbClr val="000000"/>
                          </a:solidFill>
                          <a:latin typeface="Calibri"/>
                        </a:rPr>
                        <a:t>+ </a:t>
                      </a:r>
                      <a:r>
                        <a:rPr lang="en-US" sz="1100" b="0" i="0" u="none" strike="noStrike" dirty="0" smtClean="0">
                          <a:solidFill>
                            <a:srgbClr val="000000"/>
                          </a:solidFill>
                          <a:latin typeface="Calibri"/>
                        </a:rPr>
                        <a:t>6.35</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cxnSp>
        <p:nvCxnSpPr>
          <p:cNvPr id="43" name="Straight Arrow Connector 42"/>
          <p:cNvCxnSpPr/>
          <p:nvPr/>
        </p:nvCxnSpPr>
        <p:spPr>
          <a:xfrm flipV="1">
            <a:off x="4191000" y="3943350"/>
            <a:ext cx="1219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5" name="Table 44"/>
          <p:cNvGraphicFramePr>
            <a:graphicFrameLocks noGrp="1"/>
          </p:cNvGraphicFramePr>
          <p:nvPr/>
        </p:nvGraphicFramePr>
        <p:xfrm>
          <a:off x="5486400" y="4171950"/>
          <a:ext cx="1143000" cy="742950"/>
        </p:xfrm>
        <a:graphic>
          <a:graphicData uri="http://schemas.openxmlformats.org/drawingml/2006/table">
            <a:tbl>
              <a:tblPr/>
              <a:tblGrid>
                <a:gridCol w="1143000"/>
              </a:tblGrid>
              <a:tr h="742950">
                <a:tc>
                  <a:txBody>
                    <a:bodyPr/>
                    <a:lstStyle/>
                    <a:p>
                      <a:pPr algn="l" fontAlgn="b"/>
                      <a:r>
                        <a:rPr lang="en-US" sz="1100" b="0" i="0" u="none" strike="noStrike" dirty="0" smtClean="0">
                          <a:solidFill>
                            <a:srgbClr val="000000"/>
                          </a:solidFill>
                          <a:latin typeface="Calibri"/>
                        </a:rPr>
                        <a:t>Remaining </a:t>
                      </a:r>
                      <a:r>
                        <a:rPr lang="en-US" sz="1100" b="0" i="0" u="none" strike="noStrike" dirty="0" smtClean="0">
                          <a:solidFill>
                            <a:srgbClr val="000000"/>
                          </a:solidFill>
                          <a:latin typeface="Calibri"/>
                        </a:rPr>
                        <a:t>2.2/72 </a:t>
                      </a:r>
                      <a:r>
                        <a:rPr lang="en-US" sz="1100" b="0" i="0" u="none" strike="noStrike" dirty="0">
                          <a:solidFill>
                            <a:srgbClr val="000000"/>
                          </a:solidFill>
                          <a:latin typeface="Calibri"/>
                        </a:rPr>
                        <a:t>= </a:t>
                      </a:r>
                      <a:r>
                        <a:rPr lang="en-US" sz="1100" b="0" i="0" u="none" strike="noStrike" dirty="0" smtClean="0">
                          <a:solidFill>
                            <a:srgbClr val="000000"/>
                          </a:solidFill>
                          <a:latin typeface="Calibri"/>
                        </a:rPr>
                        <a:t>3.05(CG</a:t>
                      </a:r>
                      <a:r>
                        <a:rPr lang="en-US" sz="1100" b="0" i="0" u="none" strike="noStrike" dirty="0">
                          <a:solidFill>
                            <a:srgbClr val="000000"/>
                          </a:solidFill>
                          <a:latin typeface="Calibri"/>
                        </a:rPr>
                        <a:t>)</a:t>
                      </a:r>
                      <a:br>
                        <a:rPr lang="en-US" sz="1100" b="0" i="0" u="none" strike="noStrike" dirty="0">
                          <a:solidFill>
                            <a:srgbClr val="000000"/>
                          </a:solidFill>
                          <a:latin typeface="Calibri"/>
                        </a:rPr>
                      </a:br>
                      <a:r>
                        <a:rPr lang="en-US" sz="1100" b="0" i="0" u="none" strike="noStrike" dirty="0">
                          <a:solidFill>
                            <a:srgbClr val="000000"/>
                          </a:solidFill>
                          <a:latin typeface="Calibri"/>
                        </a:rPr>
                        <a:t>(</a:t>
                      </a:r>
                      <a:r>
                        <a:rPr lang="en-US" sz="1100" b="0" i="0" u="none" strike="noStrike" dirty="0" smtClean="0">
                          <a:solidFill>
                            <a:srgbClr val="000000"/>
                          </a:solidFill>
                          <a:latin typeface="Calibri"/>
                        </a:rPr>
                        <a:t>CAT)5% of 36.95 </a:t>
                      </a:r>
                      <a:r>
                        <a:rPr lang="en-US" sz="1100" b="0" i="0" u="none" strike="noStrike" dirty="0">
                          <a:solidFill>
                            <a:srgbClr val="000000"/>
                          </a:solidFill>
                          <a:latin typeface="Calibri"/>
                        </a:rPr>
                        <a:t>= </a:t>
                      </a:r>
                      <a:r>
                        <a:rPr lang="en-US" sz="1100" b="0" i="0" u="none" strike="noStrike" dirty="0" smtClean="0">
                          <a:solidFill>
                            <a:srgbClr val="000000"/>
                          </a:solidFill>
                          <a:latin typeface="Calibri"/>
                        </a:rPr>
                        <a:t>1.84</a:t>
                      </a:r>
                      <a:r>
                        <a:rPr lang="en-US" sz="1100" b="0" i="0" u="none" strike="noStrike" baseline="0" dirty="0" smtClean="0">
                          <a:solidFill>
                            <a:srgbClr val="000000"/>
                          </a:solidFill>
                          <a:latin typeface="Calibri"/>
                        </a:rPr>
                        <a:t> or $6.35 </a:t>
                      </a:r>
                      <a:endParaRPr lang="en-US" sz="1100" b="0" i="0" u="none" strike="noStrike" dirty="0">
                        <a:solidFill>
                          <a:srgbClr val="000000"/>
                        </a:solidFill>
                        <a:latin typeface="Calibri"/>
                      </a:endParaRPr>
                    </a:p>
                  </a:txBody>
                  <a:tcPr marL="9525" marR="9525" marT="9525" marB="0" anchor="b">
                    <a:lnL>
                      <a:noFill/>
                    </a:lnL>
                    <a:lnR>
                      <a:noFill/>
                    </a:lnR>
                    <a:lnT>
                      <a:noFill/>
                    </a:lnT>
                    <a:lnB>
                      <a:noFill/>
                    </a:lnB>
                  </a:tcPr>
                </a:tc>
              </a:tr>
            </a:tbl>
          </a:graphicData>
        </a:graphic>
      </p:graphicFrame>
      <p:graphicFrame>
        <p:nvGraphicFramePr>
          <p:cNvPr id="47" name="Table 46"/>
          <p:cNvGraphicFramePr>
            <a:graphicFrameLocks noGrp="1"/>
          </p:cNvGraphicFramePr>
          <p:nvPr/>
        </p:nvGraphicFramePr>
        <p:xfrm>
          <a:off x="609600" y="4400550"/>
          <a:ext cx="4318002" cy="190500"/>
        </p:xfrm>
        <a:graphic>
          <a:graphicData uri="http://schemas.openxmlformats.org/drawingml/2006/table">
            <a:tbl>
              <a:tblPr/>
              <a:tblGrid>
                <a:gridCol w="563218"/>
                <a:gridCol w="563218"/>
                <a:gridCol w="563218"/>
                <a:gridCol w="563218"/>
                <a:gridCol w="563218"/>
                <a:gridCol w="689110"/>
                <a:gridCol w="812802"/>
              </a:tblGrid>
              <a:tr h="190500">
                <a:tc>
                  <a:txBody>
                    <a:bodyPr/>
                    <a:lstStyle/>
                    <a:p>
                      <a:pPr algn="l" fontAlgn="b"/>
                      <a:r>
                        <a:rPr lang="en-US" sz="1100" b="0" i="0" u="none" strike="noStrike" dirty="0" smtClean="0">
                          <a:solidFill>
                            <a:srgbClr val="000000"/>
                          </a:solidFill>
                          <a:latin typeface="Calibri"/>
                        </a:rPr>
                        <a:t>Claim</a:t>
                      </a:r>
                      <a:r>
                        <a:rPr lang="en-US" sz="1100" b="0" i="0" u="none" strike="noStrike" baseline="0" dirty="0" smtClean="0">
                          <a:solidFill>
                            <a:srgbClr val="000000"/>
                          </a:solidFill>
                          <a:latin typeface="Calibri"/>
                        </a:rPr>
                        <a:t> 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solidFill>
                            <a:srgbClr val="000000"/>
                          </a:solidFill>
                          <a:latin typeface="Calibri"/>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50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latin typeface="Calibri"/>
                        </a:rPr>
                        <a:t>CAT</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$6.35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smtClean="0">
                          <a:solidFill>
                            <a:srgbClr val="000000"/>
                          </a:solidFill>
                          <a:latin typeface="Calibri"/>
                        </a:rPr>
                        <a:t>$33.65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linds(horizont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linds(horizontal)">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checkerboard(across)">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8" presetClass="entr" presetSubtype="16" fill="hold"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diamond(in)">
                                      <p:cBhvr>
                                        <p:cTn id="74" dur="20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checkerboard(across)">
                                      <p:cBhvr>
                                        <p:cTn id="79" dur="500"/>
                                        <p:tgtEl>
                                          <p:spTgt spid="22"/>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500" fill="hold"/>
                                        <p:tgtEl>
                                          <p:spTgt spid="24"/>
                                        </p:tgtEl>
                                        <p:attrNameLst>
                                          <p:attrName>ppt_x</p:attrName>
                                        </p:attrNameLst>
                                      </p:cBhvr>
                                      <p:tavLst>
                                        <p:tav tm="0">
                                          <p:val>
                                            <p:strVal val="#ppt_x"/>
                                          </p:val>
                                        </p:tav>
                                        <p:tav tm="100000">
                                          <p:val>
                                            <p:strVal val="#ppt_x"/>
                                          </p:val>
                                        </p:tav>
                                      </p:tavLst>
                                    </p:anim>
                                    <p:anim calcmode="lin" valueType="num">
                                      <p:cBhvr additive="base">
                                        <p:cTn id="8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5" presetClass="entr" presetSubtype="10" fill="hold"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checkerboard(across)">
                                      <p:cBhvr>
                                        <p:cTn id="90"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5" presetClass="entr" presetSubtype="10" fill="hold" nodeType="click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checkerboard(across)">
                                      <p:cBhvr>
                                        <p:cTn id="101" dur="500"/>
                                        <p:tgtEl>
                                          <p:spTgt spid="26"/>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36"/>
                                        </p:tgtEl>
                                        <p:attrNameLst>
                                          <p:attrName>style.visibility</p:attrName>
                                        </p:attrNameLst>
                                      </p:cBhvr>
                                      <p:to>
                                        <p:strVal val="visible"/>
                                      </p:to>
                                    </p:set>
                                    <p:anim calcmode="lin" valueType="num">
                                      <p:cBhvr additive="base">
                                        <p:cTn id="106" dur="500" fill="hold"/>
                                        <p:tgtEl>
                                          <p:spTgt spid="36"/>
                                        </p:tgtEl>
                                        <p:attrNameLst>
                                          <p:attrName>ppt_x</p:attrName>
                                        </p:attrNameLst>
                                      </p:cBhvr>
                                      <p:tavLst>
                                        <p:tav tm="0">
                                          <p:val>
                                            <p:strVal val="#ppt_x"/>
                                          </p:val>
                                        </p:tav>
                                        <p:tav tm="100000">
                                          <p:val>
                                            <p:strVal val="#ppt_x"/>
                                          </p:val>
                                        </p:tav>
                                      </p:tavLst>
                                    </p:anim>
                                    <p:anim calcmode="lin" valueType="num">
                                      <p:cBhvr additive="base">
                                        <p:cTn id="107"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5" presetClass="entr" presetSubtype="10" fill="hold"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checkerboard(across)">
                                      <p:cBhvr>
                                        <p:cTn id="112" dur="500"/>
                                        <p:tgtEl>
                                          <p:spTgt spid="34"/>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37"/>
                                        </p:tgtEl>
                                        <p:attrNameLst>
                                          <p:attrName>style.visibility</p:attrName>
                                        </p:attrNameLst>
                                      </p:cBhvr>
                                      <p:to>
                                        <p:strVal val="visible"/>
                                      </p:to>
                                    </p:set>
                                    <p:anim calcmode="lin" valueType="num">
                                      <p:cBhvr additive="base">
                                        <p:cTn id="117" dur="500" fill="hold"/>
                                        <p:tgtEl>
                                          <p:spTgt spid="37"/>
                                        </p:tgtEl>
                                        <p:attrNameLst>
                                          <p:attrName>ppt_x</p:attrName>
                                        </p:attrNameLst>
                                      </p:cBhvr>
                                      <p:tavLst>
                                        <p:tav tm="0">
                                          <p:val>
                                            <p:strVal val="#ppt_x"/>
                                          </p:val>
                                        </p:tav>
                                        <p:tav tm="100000">
                                          <p:val>
                                            <p:strVal val="#ppt_x"/>
                                          </p:val>
                                        </p:tav>
                                      </p:tavLst>
                                    </p:anim>
                                    <p:anim calcmode="lin" valueType="num">
                                      <p:cBhvr additive="base">
                                        <p:cTn id="11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5" presetClass="entr" presetSubtype="10" fill="hold"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checkerboard(across)">
                                      <p:cBhvr>
                                        <p:cTn id="123" dur="500"/>
                                        <p:tgtEl>
                                          <p:spTgt spid="35"/>
                                        </p:tgtEl>
                                      </p:cBhvr>
                                    </p:animEffect>
                                  </p:childTnLst>
                                </p:cTn>
                              </p:par>
                            </p:childTnLst>
                          </p:cTn>
                        </p:par>
                      </p:childTnLst>
                    </p:cTn>
                  </p:par>
                  <p:par>
                    <p:cTn id="124" fill="hold">
                      <p:stCondLst>
                        <p:cond delay="indefinite"/>
                      </p:stCondLst>
                      <p:childTnLst>
                        <p:par>
                          <p:cTn id="125" fill="hold">
                            <p:stCondLst>
                              <p:cond delay="0"/>
                            </p:stCondLst>
                            <p:childTnLst>
                              <p:par>
                                <p:cTn id="126" presetID="5" presetClass="entr" presetSubtype="10" fill="hold" nodeType="click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checkerboard(across)">
                                      <p:cBhvr>
                                        <p:cTn id="128" dur="500"/>
                                        <p:tgtEl>
                                          <p:spTgt spid="42"/>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0"/>
                                        </p:tgtEl>
                                        <p:attrNameLst>
                                          <p:attrName>style.visibility</p:attrName>
                                        </p:attrNameLst>
                                      </p:cBhvr>
                                      <p:to>
                                        <p:strVal val="visible"/>
                                      </p:to>
                                    </p:set>
                                    <p:anim calcmode="lin" valueType="num">
                                      <p:cBhvr additive="base">
                                        <p:cTn id="133" dur="500" fill="hold"/>
                                        <p:tgtEl>
                                          <p:spTgt spid="40"/>
                                        </p:tgtEl>
                                        <p:attrNameLst>
                                          <p:attrName>ppt_x</p:attrName>
                                        </p:attrNameLst>
                                      </p:cBhvr>
                                      <p:tavLst>
                                        <p:tav tm="0">
                                          <p:val>
                                            <p:strVal val="#ppt_x"/>
                                          </p:val>
                                        </p:tav>
                                        <p:tav tm="100000">
                                          <p:val>
                                            <p:strVal val="#ppt_x"/>
                                          </p:val>
                                        </p:tav>
                                      </p:tavLst>
                                    </p:anim>
                                    <p:anim calcmode="lin" valueType="num">
                                      <p:cBhvr additive="base">
                                        <p:cTn id="13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nodeType="clickEffect">
                                  <p:stCondLst>
                                    <p:cond delay="0"/>
                                  </p:stCondLst>
                                  <p:childTnLst>
                                    <p:set>
                                      <p:cBhvr>
                                        <p:cTn id="138" dur="1" fill="hold">
                                          <p:stCondLst>
                                            <p:cond delay="0"/>
                                          </p:stCondLst>
                                        </p:cTn>
                                        <p:tgtEl>
                                          <p:spTgt spid="31"/>
                                        </p:tgtEl>
                                        <p:attrNameLst>
                                          <p:attrName>style.visibility</p:attrName>
                                        </p:attrNameLst>
                                      </p:cBhvr>
                                      <p:to>
                                        <p:strVal val="visible"/>
                                      </p:to>
                                    </p:set>
                                    <p:animEffect transition="in" filter="blinds(horizontal)">
                                      <p:cBhvr>
                                        <p:cTn id="139" dur="500"/>
                                        <p:tgtEl>
                                          <p:spTgt spid="31"/>
                                        </p:tgtEl>
                                      </p:cBhvr>
                                    </p:animEffect>
                                  </p:childTnLst>
                                </p:cTn>
                              </p:par>
                            </p:childTnLst>
                          </p:cTn>
                        </p:par>
                      </p:childTnLst>
                    </p:cTn>
                  </p:par>
                  <p:par>
                    <p:cTn id="140" fill="hold">
                      <p:stCondLst>
                        <p:cond delay="indefinite"/>
                      </p:stCondLst>
                      <p:childTnLst>
                        <p:par>
                          <p:cTn id="141" fill="hold">
                            <p:stCondLst>
                              <p:cond delay="0"/>
                            </p:stCondLst>
                            <p:childTnLst>
                              <p:par>
                                <p:cTn id="142" presetID="2" presetClass="entr" presetSubtype="4" fill="hold" nodeType="clickEffect">
                                  <p:stCondLst>
                                    <p:cond delay="0"/>
                                  </p:stCondLst>
                                  <p:childTnLst>
                                    <p:set>
                                      <p:cBhvr>
                                        <p:cTn id="143" dur="1" fill="hold">
                                          <p:stCondLst>
                                            <p:cond delay="0"/>
                                          </p:stCondLst>
                                        </p:cTn>
                                        <p:tgtEl>
                                          <p:spTgt spid="29"/>
                                        </p:tgtEl>
                                        <p:attrNameLst>
                                          <p:attrName>style.visibility</p:attrName>
                                        </p:attrNameLst>
                                      </p:cBhvr>
                                      <p:to>
                                        <p:strVal val="visible"/>
                                      </p:to>
                                    </p:set>
                                    <p:anim calcmode="lin" valueType="num">
                                      <p:cBhvr additive="base">
                                        <p:cTn id="144" dur="500" fill="hold"/>
                                        <p:tgtEl>
                                          <p:spTgt spid="29"/>
                                        </p:tgtEl>
                                        <p:attrNameLst>
                                          <p:attrName>ppt_x</p:attrName>
                                        </p:attrNameLst>
                                      </p:cBhvr>
                                      <p:tavLst>
                                        <p:tav tm="0">
                                          <p:val>
                                            <p:strVal val="#ppt_x"/>
                                          </p:val>
                                        </p:tav>
                                        <p:tav tm="100000">
                                          <p:val>
                                            <p:strVal val="#ppt_x"/>
                                          </p:val>
                                        </p:tav>
                                      </p:tavLst>
                                    </p:anim>
                                    <p:anim calcmode="lin" valueType="num">
                                      <p:cBhvr additive="base">
                                        <p:cTn id="14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3" presetClass="entr" presetSubtype="10" fill="hold" nodeType="click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blinds(horizontal)">
                                      <p:cBhvr>
                                        <p:cTn id="150" dur="500"/>
                                        <p:tgtEl>
                                          <p:spTgt spid="38"/>
                                        </p:tgtEl>
                                      </p:cBhvr>
                                    </p:animEffect>
                                  </p:childTnLst>
                                </p:cTn>
                              </p:par>
                            </p:childTnLst>
                          </p:cTn>
                        </p:par>
                      </p:childTnLst>
                    </p:cTn>
                  </p:par>
                  <p:par>
                    <p:cTn id="151" fill="hold">
                      <p:stCondLst>
                        <p:cond delay="indefinite"/>
                      </p:stCondLst>
                      <p:childTnLst>
                        <p:par>
                          <p:cTn id="152" fill="hold">
                            <p:stCondLst>
                              <p:cond delay="0"/>
                            </p:stCondLst>
                            <p:childTnLst>
                              <p:par>
                                <p:cTn id="153" presetID="2" presetClass="entr" presetSubtype="4" fill="hold" nodeType="clickEffect">
                                  <p:stCondLst>
                                    <p:cond delay="0"/>
                                  </p:stCondLst>
                                  <p:childTnLst>
                                    <p:set>
                                      <p:cBhvr>
                                        <p:cTn id="154" dur="1" fill="hold">
                                          <p:stCondLst>
                                            <p:cond delay="0"/>
                                          </p:stCondLst>
                                        </p:cTn>
                                        <p:tgtEl>
                                          <p:spTgt spid="33"/>
                                        </p:tgtEl>
                                        <p:attrNameLst>
                                          <p:attrName>style.visibility</p:attrName>
                                        </p:attrNameLst>
                                      </p:cBhvr>
                                      <p:to>
                                        <p:strVal val="visible"/>
                                      </p:to>
                                    </p:set>
                                    <p:anim calcmode="lin" valueType="num">
                                      <p:cBhvr additive="base">
                                        <p:cTn id="155" dur="500" fill="hold"/>
                                        <p:tgtEl>
                                          <p:spTgt spid="33"/>
                                        </p:tgtEl>
                                        <p:attrNameLst>
                                          <p:attrName>ppt_x</p:attrName>
                                        </p:attrNameLst>
                                      </p:cBhvr>
                                      <p:tavLst>
                                        <p:tav tm="0">
                                          <p:val>
                                            <p:strVal val="#ppt_x"/>
                                          </p:val>
                                        </p:tav>
                                        <p:tav tm="100000">
                                          <p:val>
                                            <p:strVal val="#ppt_x"/>
                                          </p:val>
                                        </p:tav>
                                      </p:tavLst>
                                    </p:anim>
                                    <p:anim calcmode="lin" valueType="num">
                                      <p:cBhvr additive="base">
                                        <p:cTn id="15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nodeType="clickEffect">
                                  <p:stCondLst>
                                    <p:cond delay="0"/>
                                  </p:stCondLst>
                                  <p:childTnLst>
                                    <p:set>
                                      <p:cBhvr>
                                        <p:cTn id="160" dur="1" fill="hold">
                                          <p:stCondLst>
                                            <p:cond delay="0"/>
                                          </p:stCondLst>
                                        </p:cTn>
                                        <p:tgtEl>
                                          <p:spTgt spid="39"/>
                                        </p:tgtEl>
                                        <p:attrNameLst>
                                          <p:attrName>style.visibility</p:attrName>
                                        </p:attrNameLst>
                                      </p:cBhvr>
                                      <p:to>
                                        <p:strVal val="visible"/>
                                      </p:to>
                                    </p:set>
                                    <p:anim calcmode="lin" valueType="num">
                                      <p:cBhvr additive="base">
                                        <p:cTn id="161" dur="500" fill="hold"/>
                                        <p:tgtEl>
                                          <p:spTgt spid="39"/>
                                        </p:tgtEl>
                                        <p:attrNameLst>
                                          <p:attrName>ppt_x</p:attrName>
                                        </p:attrNameLst>
                                      </p:cBhvr>
                                      <p:tavLst>
                                        <p:tav tm="0">
                                          <p:val>
                                            <p:strVal val="#ppt_x"/>
                                          </p:val>
                                        </p:tav>
                                        <p:tav tm="100000">
                                          <p:val>
                                            <p:strVal val="#ppt_x"/>
                                          </p:val>
                                        </p:tav>
                                      </p:tavLst>
                                    </p:anim>
                                    <p:anim calcmode="lin" valueType="num">
                                      <p:cBhvr additive="base">
                                        <p:cTn id="16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43"/>
                                        </p:tgtEl>
                                        <p:attrNameLst>
                                          <p:attrName>style.visibility</p:attrName>
                                        </p:attrNameLst>
                                      </p:cBhvr>
                                      <p:to>
                                        <p:strVal val="visible"/>
                                      </p:to>
                                    </p:set>
                                    <p:animEffect transition="in" filter="blinds(horizontal)">
                                      <p:cBhvr>
                                        <p:cTn id="167" dur="500"/>
                                        <p:tgtEl>
                                          <p:spTgt spid="43"/>
                                        </p:tgtEl>
                                      </p:cBhvr>
                                    </p:animEffect>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nodeType="clickEffect">
                                  <p:stCondLst>
                                    <p:cond delay="0"/>
                                  </p:stCondLst>
                                  <p:childTnLst>
                                    <p:set>
                                      <p:cBhvr>
                                        <p:cTn id="171" dur="1" fill="hold">
                                          <p:stCondLst>
                                            <p:cond delay="0"/>
                                          </p:stCondLst>
                                        </p:cTn>
                                        <p:tgtEl>
                                          <p:spTgt spid="47"/>
                                        </p:tgtEl>
                                        <p:attrNameLst>
                                          <p:attrName>style.visibility</p:attrName>
                                        </p:attrNameLst>
                                      </p:cBhvr>
                                      <p:to>
                                        <p:strVal val="visible"/>
                                      </p:to>
                                    </p:set>
                                    <p:anim calcmode="lin" valueType="num">
                                      <p:cBhvr additive="base">
                                        <p:cTn id="172" dur="500" fill="hold"/>
                                        <p:tgtEl>
                                          <p:spTgt spid="47"/>
                                        </p:tgtEl>
                                        <p:attrNameLst>
                                          <p:attrName>ppt_x</p:attrName>
                                        </p:attrNameLst>
                                      </p:cBhvr>
                                      <p:tavLst>
                                        <p:tav tm="0">
                                          <p:val>
                                            <p:strVal val="#ppt_x"/>
                                          </p:val>
                                        </p:tav>
                                        <p:tav tm="100000">
                                          <p:val>
                                            <p:strVal val="#ppt_x"/>
                                          </p:val>
                                        </p:tav>
                                      </p:tavLst>
                                    </p:anim>
                                    <p:anim calcmode="lin" valueType="num">
                                      <p:cBhvr additive="base">
                                        <p:cTn id="173"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 presetClass="entr" presetSubtype="4" fill="hold" nodeType="clickEffect">
                                  <p:stCondLst>
                                    <p:cond delay="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2" presetClass="entr" presetSubtype="4" fill="hold" nodeType="clickEffect">
                                  <p:stCondLst>
                                    <p:cond delay="0"/>
                                  </p:stCondLst>
                                  <p:childTnLst>
                                    <p:set>
                                      <p:cBhvr>
                                        <p:cTn id="183" dur="1" fill="hold">
                                          <p:stCondLst>
                                            <p:cond delay="0"/>
                                          </p:stCondLst>
                                        </p:cTn>
                                        <p:tgtEl>
                                          <p:spTgt spid="41"/>
                                        </p:tgtEl>
                                        <p:attrNameLst>
                                          <p:attrName>style.visibility</p:attrName>
                                        </p:attrNameLst>
                                      </p:cBhvr>
                                      <p:to>
                                        <p:strVal val="visible"/>
                                      </p:to>
                                    </p:set>
                                    <p:anim calcmode="lin" valueType="num">
                                      <p:cBhvr additive="base">
                                        <p:cTn id="184" dur="500" fill="hold"/>
                                        <p:tgtEl>
                                          <p:spTgt spid="41"/>
                                        </p:tgtEl>
                                        <p:attrNameLst>
                                          <p:attrName>ppt_x</p:attrName>
                                        </p:attrNameLst>
                                      </p:cBhvr>
                                      <p:tavLst>
                                        <p:tav tm="0">
                                          <p:val>
                                            <p:strVal val="#ppt_x"/>
                                          </p:val>
                                        </p:tav>
                                        <p:tav tm="100000">
                                          <p:val>
                                            <p:strVal val="#ppt_x"/>
                                          </p:val>
                                        </p:tav>
                                      </p:tavLst>
                                    </p:anim>
                                    <p:anim calcmode="lin" valueType="num">
                                      <p:cBhvr additive="base">
                                        <p:cTn id="185"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A697448-FA31-4949-9864-F7BD87D6893B}" type="slidenum">
              <a:rPr lang="en-US" smtClean="0"/>
              <a:pPr/>
              <a:t>16</a:t>
            </a:fld>
            <a:endParaRPr lang="en-US" dirty="0"/>
          </a:p>
        </p:txBody>
      </p:sp>
      <p:sp>
        <p:nvSpPr>
          <p:cNvPr id="3" name="Title 2"/>
          <p:cNvSpPr>
            <a:spLocks noGrp="1"/>
          </p:cNvSpPr>
          <p:nvPr>
            <p:ph type="title"/>
          </p:nvPr>
        </p:nvSpPr>
        <p:spPr/>
        <p:txBody>
          <a:bodyPr/>
          <a:lstStyle/>
          <a:p>
            <a:pPr algn="l"/>
            <a:r>
              <a:rPr lang="en-US" sz="4000" dirty="0" smtClean="0"/>
              <a:t>Deductible Redesign - Accumulator</a:t>
            </a:r>
            <a:endParaRPr lang="en-US" sz="4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US" dirty="0" smtClean="0"/>
              <a:t> </a:t>
            </a:r>
            <a:endParaRPr lang="en-US" dirty="0"/>
          </a:p>
        </p:txBody>
      </p:sp>
      <p:sp>
        <p:nvSpPr>
          <p:cNvPr id="3" name="Slide Number Placeholder 2"/>
          <p:cNvSpPr>
            <a:spLocks noGrp="1"/>
          </p:cNvSpPr>
          <p:nvPr>
            <p:ph type="sldNum" sz="quarter" idx="12"/>
          </p:nvPr>
        </p:nvSpPr>
        <p:spPr/>
        <p:txBody>
          <a:bodyPr/>
          <a:lstStyle/>
          <a:p>
            <a:fld id="{FA697448-FA31-4949-9864-F7BD87D6893B}" type="slidenum">
              <a:rPr lang="en-US" smtClean="0"/>
              <a:pPr/>
              <a:t>17</a:t>
            </a:fld>
            <a:endParaRPr lang="en-US" dirty="0"/>
          </a:p>
        </p:txBody>
      </p:sp>
      <p:sp>
        <p:nvSpPr>
          <p:cNvPr id="4" name="Title 3"/>
          <p:cNvSpPr>
            <a:spLocks noGrp="1"/>
          </p:cNvSpPr>
          <p:nvPr>
            <p:ph type="title"/>
          </p:nvPr>
        </p:nvSpPr>
        <p:spPr/>
        <p:txBody>
          <a:bodyPr/>
          <a:lstStyle/>
          <a:p>
            <a:r>
              <a:rPr lang="en-US" sz="3600" dirty="0" smtClean="0"/>
              <a:t>Prescriber Process flow In Rx Nova System</a:t>
            </a:r>
            <a:endParaRPr lang="en-US" sz="3600" dirty="0"/>
          </a:p>
        </p:txBody>
      </p:sp>
      <p:sp>
        <p:nvSpPr>
          <p:cNvPr id="43" name="Rounded Rectangle 42"/>
          <p:cNvSpPr/>
          <p:nvPr/>
        </p:nvSpPr>
        <p:spPr>
          <a:xfrm>
            <a:off x="5943600" y="742950"/>
            <a:ext cx="2133600" cy="533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smtClean="0">
                <a:solidFill>
                  <a:schemeClr val="tx1"/>
                </a:solidFill>
              </a:rPr>
              <a:t>Main Driver program</a:t>
            </a:r>
            <a:endParaRPr lang="en-US" sz="1100" dirty="0">
              <a:solidFill>
                <a:schemeClr val="tx1"/>
              </a:solidFill>
            </a:endParaRPr>
          </a:p>
        </p:txBody>
      </p:sp>
      <p:cxnSp>
        <p:nvCxnSpPr>
          <p:cNvPr id="44" name="Straight Arrow Connector 43"/>
          <p:cNvCxnSpPr>
            <a:stCxn id="53" idx="6"/>
          </p:cNvCxnSpPr>
          <p:nvPr/>
        </p:nvCxnSpPr>
        <p:spPr>
          <a:xfrm>
            <a:off x="5257800" y="1123950"/>
            <a:ext cx="685800" cy="0"/>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5943600" y="1504950"/>
            <a:ext cx="2667000" cy="609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solidFill>
                  <a:schemeClr val="tx1"/>
                </a:solidFill>
              </a:rPr>
              <a:t>Deductible Driver Program</a:t>
            </a:r>
            <a:endParaRPr lang="en-US" sz="1400" dirty="0">
              <a:solidFill>
                <a:schemeClr val="tx1"/>
              </a:solidFill>
            </a:endParaRPr>
          </a:p>
        </p:txBody>
      </p:sp>
      <p:cxnSp>
        <p:nvCxnSpPr>
          <p:cNvPr id="46" name="Straight Arrow Connector 45"/>
          <p:cNvCxnSpPr>
            <a:endCxn id="45" idx="1"/>
          </p:cNvCxnSpPr>
          <p:nvPr/>
        </p:nvCxnSpPr>
        <p:spPr>
          <a:xfrm>
            <a:off x="5257800" y="1809750"/>
            <a:ext cx="685800" cy="0"/>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85800" y="2495550"/>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smtClean="0">
                <a:solidFill>
                  <a:schemeClr val="bg1"/>
                </a:solidFill>
              </a:rPr>
              <a:t>		</a:t>
            </a:r>
            <a:endParaRPr lang="en-US" sz="1400" dirty="0">
              <a:solidFill>
                <a:schemeClr val="bg1"/>
              </a:solidFill>
            </a:endParaRPr>
          </a:p>
        </p:txBody>
      </p:sp>
      <p:sp>
        <p:nvSpPr>
          <p:cNvPr id="48" name="Oval 47"/>
          <p:cNvSpPr/>
          <p:nvPr/>
        </p:nvSpPr>
        <p:spPr>
          <a:xfrm>
            <a:off x="3381700" y="2511726"/>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smtClean="0">
                <a:solidFill>
                  <a:schemeClr val="bg1"/>
                </a:solidFill>
              </a:rPr>
              <a:t>	</a:t>
            </a:r>
          </a:p>
        </p:txBody>
      </p:sp>
      <p:sp>
        <p:nvSpPr>
          <p:cNvPr id="49" name="Oval 48"/>
          <p:cNvSpPr/>
          <p:nvPr/>
        </p:nvSpPr>
        <p:spPr>
          <a:xfrm>
            <a:off x="6019800" y="2495550"/>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dirty="0">
              <a:solidFill>
                <a:schemeClr val="bg1"/>
              </a:solidFill>
            </a:endParaRPr>
          </a:p>
        </p:txBody>
      </p:sp>
      <p:sp>
        <p:nvSpPr>
          <p:cNvPr id="50" name="Oval 49"/>
          <p:cNvSpPr/>
          <p:nvPr/>
        </p:nvSpPr>
        <p:spPr>
          <a:xfrm>
            <a:off x="1752600" y="3638550"/>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dirty="0">
              <a:solidFill>
                <a:schemeClr val="bg1"/>
              </a:solidFill>
            </a:endParaRPr>
          </a:p>
        </p:txBody>
      </p:sp>
      <p:sp>
        <p:nvSpPr>
          <p:cNvPr id="51" name="Oval 50"/>
          <p:cNvSpPr/>
          <p:nvPr/>
        </p:nvSpPr>
        <p:spPr>
          <a:xfrm>
            <a:off x="4876800" y="3562350"/>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dirty="0">
              <a:solidFill>
                <a:schemeClr val="bg1"/>
              </a:solidFill>
            </a:endParaRPr>
          </a:p>
        </p:txBody>
      </p:sp>
      <p:sp>
        <p:nvSpPr>
          <p:cNvPr id="52" name="Oval 51"/>
          <p:cNvSpPr/>
          <p:nvPr/>
        </p:nvSpPr>
        <p:spPr>
          <a:xfrm>
            <a:off x="3276600" y="1581150"/>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smtClean="0">
                <a:solidFill>
                  <a:schemeClr val="bg1"/>
                </a:solidFill>
              </a:rPr>
              <a:t>MISQDD10</a:t>
            </a:r>
            <a:endParaRPr lang="en-US" sz="1400" dirty="0">
              <a:solidFill>
                <a:schemeClr val="bg1"/>
              </a:solidFill>
            </a:endParaRPr>
          </a:p>
        </p:txBody>
      </p:sp>
      <p:sp>
        <p:nvSpPr>
          <p:cNvPr id="53" name="Oval 52"/>
          <p:cNvSpPr/>
          <p:nvPr/>
        </p:nvSpPr>
        <p:spPr>
          <a:xfrm>
            <a:off x="3276600" y="895350"/>
            <a:ext cx="1981200" cy="4572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smtClean="0">
                <a:solidFill>
                  <a:schemeClr val="bg1"/>
                </a:solidFill>
              </a:rPr>
              <a:t>MIPCAD50</a:t>
            </a:r>
            <a:endParaRPr lang="en-US" sz="1400" dirty="0">
              <a:solidFill>
                <a:schemeClr val="bg1"/>
              </a:solidFill>
            </a:endParaRPr>
          </a:p>
        </p:txBody>
      </p:sp>
      <p:sp>
        <p:nvSpPr>
          <p:cNvPr id="54" name="TextBox 53"/>
          <p:cNvSpPr txBox="1"/>
          <p:nvPr/>
        </p:nvSpPr>
        <p:spPr>
          <a:xfrm>
            <a:off x="562300" y="3121326"/>
            <a:ext cx="2286000" cy="276999"/>
          </a:xfrm>
          <a:prstGeom prst="rect">
            <a:avLst/>
          </a:prstGeom>
          <a:noFill/>
        </p:spPr>
        <p:txBody>
          <a:bodyPr wrap="square" rtlCol="0">
            <a:spAutoFit/>
          </a:bodyPr>
          <a:lstStyle/>
          <a:p>
            <a:r>
              <a:rPr lang="en-US" sz="1200" dirty="0" smtClean="0"/>
              <a:t>Dd1</a:t>
            </a:r>
            <a:endParaRPr lang="en-US" sz="1200" dirty="0"/>
          </a:p>
        </p:txBody>
      </p:sp>
      <p:sp>
        <p:nvSpPr>
          <p:cNvPr id="55" name="TextBox 54"/>
          <p:cNvSpPr txBox="1"/>
          <p:nvPr/>
        </p:nvSpPr>
        <p:spPr>
          <a:xfrm>
            <a:off x="6353500" y="3121326"/>
            <a:ext cx="2209800" cy="276999"/>
          </a:xfrm>
          <a:prstGeom prst="rect">
            <a:avLst/>
          </a:prstGeom>
          <a:noFill/>
        </p:spPr>
        <p:txBody>
          <a:bodyPr wrap="square" rtlCol="0">
            <a:spAutoFit/>
          </a:bodyPr>
          <a:lstStyle/>
          <a:p>
            <a:r>
              <a:rPr lang="en-US" sz="1200" dirty="0" smtClean="0"/>
              <a:t>CG1</a:t>
            </a:r>
            <a:endParaRPr lang="en-US" sz="1200" dirty="0"/>
          </a:p>
        </p:txBody>
      </p:sp>
      <p:sp>
        <p:nvSpPr>
          <p:cNvPr id="56" name="TextBox 55"/>
          <p:cNvSpPr txBox="1"/>
          <p:nvPr/>
        </p:nvSpPr>
        <p:spPr>
          <a:xfrm>
            <a:off x="3229300" y="3197526"/>
            <a:ext cx="2362200" cy="276999"/>
          </a:xfrm>
          <a:prstGeom prst="rect">
            <a:avLst/>
          </a:prstGeom>
          <a:noFill/>
        </p:spPr>
        <p:txBody>
          <a:bodyPr wrap="square" rtlCol="0">
            <a:spAutoFit/>
          </a:bodyPr>
          <a:lstStyle/>
          <a:p>
            <a:r>
              <a:rPr lang="en-US" sz="1200" dirty="0" smtClean="0"/>
              <a:t>IC1</a:t>
            </a:r>
            <a:endParaRPr lang="en-US" sz="1200" dirty="0"/>
          </a:p>
        </p:txBody>
      </p:sp>
      <p:sp>
        <p:nvSpPr>
          <p:cNvPr id="57" name="TextBox 56"/>
          <p:cNvSpPr txBox="1"/>
          <p:nvPr/>
        </p:nvSpPr>
        <p:spPr>
          <a:xfrm>
            <a:off x="4953000" y="4248150"/>
            <a:ext cx="2286000" cy="276999"/>
          </a:xfrm>
          <a:prstGeom prst="rect">
            <a:avLst/>
          </a:prstGeom>
          <a:noFill/>
        </p:spPr>
        <p:txBody>
          <a:bodyPr wrap="square" rtlCol="0">
            <a:spAutoFit/>
          </a:bodyPr>
          <a:lstStyle/>
          <a:p>
            <a:r>
              <a:rPr lang="en-US" sz="1200" dirty="0" smtClean="0"/>
              <a:t>DD56</a:t>
            </a:r>
            <a:endParaRPr lang="en-US" sz="1200" dirty="0"/>
          </a:p>
        </p:txBody>
      </p:sp>
      <p:sp>
        <p:nvSpPr>
          <p:cNvPr id="58" name="TextBox 57"/>
          <p:cNvSpPr txBox="1"/>
          <p:nvPr/>
        </p:nvSpPr>
        <p:spPr>
          <a:xfrm>
            <a:off x="1752600" y="4171950"/>
            <a:ext cx="1981200" cy="276999"/>
          </a:xfrm>
          <a:prstGeom prst="rect">
            <a:avLst/>
          </a:prstGeom>
          <a:noFill/>
        </p:spPr>
        <p:txBody>
          <a:bodyPr wrap="square" rtlCol="0">
            <a:spAutoFit/>
          </a:bodyPr>
          <a:lstStyle/>
          <a:p>
            <a:r>
              <a:rPr lang="en-US" sz="1200" dirty="0" smtClean="0"/>
              <a:t>DD40</a:t>
            </a:r>
            <a:endParaRPr lang="en-US" sz="1200" dirty="0"/>
          </a:p>
        </p:txBody>
      </p:sp>
      <p:cxnSp>
        <p:nvCxnSpPr>
          <p:cNvPr id="59" name="Straight Arrow Connector 58"/>
          <p:cNvCxnSpPr>
            <a:stCxn id="53" idx="4"/>
            <a:endCxn id="52" idx="0"/>
          </p:cNvCxnSpPr>
          <p:nvPr/>
        </p:nvCxnSpPr>
        <p:spPr>
          <a:xfrm>
            <a:off x="4267200" y="1352550"/>
            <a:ext cx="0" cy="228600"/>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1447800" y="2343150"/>
            <a:ext cx="5715000" cy="0"/>
          </a:xfrm>
          <a:prstGeom prst="line">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4343400" y="2038350"/>
            <a:ext cx="0" cy="228600"/>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1371600" y="2343150"/>
            <a:ext cx="381000" cy="0"/>
          </a:xfrm>
          <a:prstGeom prst="line">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A697448-FA31-4949-9864-F7BD87D6893B}" type="slidenum">
              <a:rPr lang="en-US" smtClean="0"/>
              <a:pPr/>
              <a:t>18</a:t>
            </a:fld>
            <a:endParaRPr lang="en-US" dirty="0"/>
          </a:p>
        </p:txBody>
      </p:sp>
      <p:sp>
        <p:nvSpPr>
          <p:cNvPr id="4" name="Title 3"/>
          <p:cNvSpPr>
            <a:spLocks noGrp="1"/>
          </p:cNvSpPr>
          <p:nvPr>
            <p:ph type="title"/>
          </p:nvPr>
        </p:nvSpPr>
        <p:spPr/>
        <p:txBody>
          <a:bodyPr/>
          <a:lstStyle/>
          <a:p>
            <a:pPr algn="ctr"/>
            <a:r>
              <a:rPr lang="en-US" dirty="0" smtClean="0"/>
              <a:t>Any Questions????</a:t>
            </a:r>
            <a:endParaRPr lang="en-US" dirty="0"/>
          </a:p>
        </p:txBody>
      </p:sp>
      <p:pic>
        <p:nvPicPr>
          <p:cNvPr id="5" name="Picture 3"/>
          <p:cNvPicPr>
            <a:picLocks noGrp="1" noChangeAspect="1" noChangeArrowheads="1"/>
          </p:cNvPicPr>
          <p:nvPr>
            <p:ph idx="1"/>
          </p:nvPr>
        </p:nvPicPr>
        <p:blipFill>
          <a:blip r:embed="rId2" cstate="print"/>
          <a:srcRect/>
          <a:stretch>
            <a:fillRect/>
          </a:stretch>
        </p:blipFill>
        <p:spPr bwMode="auto">
          <a:xfrm>
            <a:off x="3119571" y="1443214"/>
            <a:ext cx="2142857" cy="28285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A697448-FA31-4949-9864-F7BD87D6893B}" type="slidenum">
              <a:rPr lang="en-US" smtClean="0"/>
              <a:pPr/>
              <a:t>19</a:t>
            </a:fld>
            <a:endParaRPr lang="en-US" dirty="0"/>
          </a:p>
        </p:txBody>
      </p:sp>
      <p:sp>
        <p:nvSpPr>
          <p:cNvPr id="4" name="Title 3"/>
          <p:cNvSpPr>
            <a:spLocks noGrp="1"/>
          </p:cNvSpPr>
          <p:nvPr>
            <p:ph type="title"/>
          </p:nvPr>
        </p:nvSpPr>
        <p:spPr/>
        <p:txBody>
          <a:bodyPr/>
          <a:lstStyle/>
          <a:p>
            <a:r>
              <a:rPr lang="en-US" dirty="0" smtClean="0"/>
              <a:t> </a:t>
            </a:r>
            <a:endParaRPr lang="en-US"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1676400" y="971550"/>
            <a:ext cx="5943600" cy="27335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DST">
      <a:dk1>
        <a:sysClr val="windowText" lastClr="000000"/>
      </a:dk1>
      <a:lt1>
        <a:sysClr val="window" lastClr="FFFFFF"/>
      </a:lt1>
      <a:dk2>
        <a:srgbClr val="999A8F"/>
      </a:dk2>
      <a:lt2>
        <a:srgbClr val="F0AB00"/>
      </a:lt2>
      <a:accent1>
        <a:srgbClr val="980000"/>
      </a:accent1>
      <a:accent2>
        <a:srgbClr val="DD4814"/>
      </a:accent2>
      <a:accent3>
        <a:srgbClr val="69BE28"/>
      </a:accent3>
      <a:accent4>
        <a:srgbClr val="51626F"/>
      </a:accent4>
      <a:accent5>
        <a:srgbClr val="00A9E0"/>
      </a:accent5>
      <a:accent6>
        <a:srgbClr val="007A87"/>
      </a:accent6>
      <a:hlink>
        <a:srgbClr val="490E6F"/>
      </a:hlink>
      <a:folHlink>
        <a:srgbClr val="002C7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0" tIns="0" rIns="0" bIns="0" rtlCol="0" anchor="t">
        <a:noAutofit/>
      </a:bodyPr>
      <a:lstStyle>
        <a:defPPr>
          <a:defRPr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7518</TotalTime>
  <Words>1679</Words>
  <Application>Microsoft Office PowerPoint</Application>
  <PresentationFormat>On-screen Show (16:9)</PresentationFormat>
  <Paragraphs>665</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Deductible</vt:lpstr>
      <vt:lpstr>DISCLAIMER</vt:lpstr>
      <vt:lpstr>TOPICS</vt:lpstr>
      <vt:lpstr>Recap of Deductible Session - I</vt:lpstr>
      <vt:lpstr>Commercial Deductible Plan</vt:lpstr>
      <vt:lpstr>Commercial deductible - Plans</vt:lpstr>
      <vt:lpstr>Commercial Example</vt:lpstr>
      <vt:lpstr>DEDUCTIBLE 1 SCREEN</vt:lpstr>
      <vt:lpstr>DEDUCTIBLE 2 SCREEN</vt:lpstr>
      <vt:lpstr>DEDUCTIBLE 2 SCREEN</vt:lpstr>
      <vt:lpstr>Split Claims - Commercial</vt:lpstr>
      <vt:lpstr>PART-D Deductible Plan</vt:lpstr>
      <vt:lpstr>PART-D Deductible Plan </vt:lpstr>
      <vt:lpstr>Part-D Deduct Example</vt:lpstr>
      <vt:lpstr>Part-D Split Claim</vt:lpstr>
      <vt:lpstr>Deductible Redesign - Accumulator</vt:lpstr>
      <vt:lpstr>Prescriber Process flow In Rx Nova System</vt:lpstr>
      <vt:lpstr>Any Questions????</vt:lpstr>
      <vt:lpstr> </vt:lpstr>
    </vt:vector>
  </TitlesOfParts>
  <Company>DST Systems,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Palmer, Mark A.</dc:creator>
  <cp:lastModifiedBy>Jagadeesh</cp:lastModifiedBy>
  <cp:revision>435</cp:revision>
  <cp:lastPrinted>2012-08-23T21:55:49Z</cp:lastPrinted>
  <dcterms:created xsi:type="dcterms:W3CDTF">2012-07-02T14:56:16Z</dcterms:created>
  <dcterms:modified xsi:type="dcterms:W3CDTF">2014-03-11T13:35:51Z</dcterms:modified>
</cp:coreProperties>
</file>